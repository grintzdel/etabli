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présenter. Établi est la plateforme d'un réseau d'ateliers partagés (fablabs, makerspaces) : on y gère qui est habilité sur quelle machine, on y réserve des créneaux, et la présence est prouvée en scannant un QR code collé sur la machine. Un seul produit, présenté sous trois angles : le web Next.js, l'app mobile React Native, la dockerisation de l'app Next.js.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déroulé suit la structure conseillée par la consigne. Les durées sont indicatives et tiennent dans l'heure maximum. Les deux live codings portent en priorité sur Next.js et React Native ; Docker est expliqué et questionné, sans live coding obligatoire.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problème de départ. Un atelier partagé, aujourd'hui, c'est un groupe de messagerie, un tableur et un cahier posé près de la machine. Les trois se contredisent : on ne sait pas qui a le droit d'utiliser la découpe laser, deux membres réservent le même créneau, et rien ne prouve qu'une réservation a été honorée.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réponse d'Établi tient en trois règles. On ne peut réserver une machine que si un fabmanager nous y a habilité. Deux créneaux ne se chevauchent jamais sur une machine — c'est garanti jusqu'en base. Et la présence n'est pas déclarative : elle se prouve en scannant le QR code collé sur la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profils. Le visiteur parcourt tout sans compte : l'annuaire, les fiches, et même la semaine de créneaux d'une machine — seul le geste de réserver demande de se connecter. Le membre rejoint un atelier, demande ses habilitations, réserve et pointe. Le fabmanager tient un atelier : il accorde les habilitations, gère le parc et imprime les QR, pointe à la place d'un membre en secours, marque les absences. L'administrateur tient le réseau.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consigne demande de dire quelle compétence correspond à quel module. Le web Next.js porte la note Next.js, l'app Expo porte la note React Native, et le Dockerfile racine — celui de l'app Next.js — porte la note Docker. En dessous, un socle commun : une API NestJS unique, appelée par les deux clients, et trois packages partagés. Le compose dockerise aussi l'API et la base : c'est un bonus, la note Docker commune porte sur l'image Next.js.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Préparation : pnpm db:demo:docker juste avant de passer, puis ouvrir en fabmanager.forge@etabli.test la page QR de pointage de la Station de soudure Weller (/manage/machines → QR de pointage), la garder à l'écran, se déconnecter. La soudure a des créneaux d'un quart d'heure : le pointage est ouvert dès la réservation. Hors 8 h – 21 h 45, le prochain créneau est le lendemain. Étape 2 : le paramètre ?creneau= traverse /connexion. Étape 5 : tenter le même créneau avec membre@etabli.test, refusé. Étape 6 se fait sur le téléphone, on y reviendra dans la partie mobile ; ensuite /manage/bookings affiche la ligne pointée par QR et /manage/stats la compte.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checklist Next.js de la consigne, point par point, avec la route où le montrer. Insister sur deux choses : le cookie de session est httpOnly et posé par le serveur Next, jamais lisible en JavaScript ; et le thème vit en base, donc le serveur rend l'attribut — pas de flash au chargement, pas de localStorage. /bienvenue : sans onboarding, rien n'est réservable ; nouveau@etabli.test y est redirigé.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Suite de la checklist. Back-office : /manage/certifications, /manage/machines, /manage/bookings et /manage/stats pour le fabmanager ; /admin/ateliers, /admin/utilisateurs et /admin/stats pour l'administrateur. Les états d'interface : refus d'action affichés en français via useActionState (annuler un créneau déjà commencé répond 409 et le membre lit pourquoi). Les deux points suivants — server/client et cache — ont chacun leur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choix server/client se lit dans la structure. Quatre route groups, chacun sa coquille et son mode de rendu. (app) est dynamique parce que le thème vit en base et est porté par le chrome. Deux pages d'(app) restent en PPR : /machines/[id] et /reservations/[id] — la fiche est attendue dans le corps de la page, pour qu'une machine retirée rende un vrai 404 et pas un 200 avec un corps 404 ; seule la semaine, qui lit le cookie, est derrière un Suspense. Les 17 fichiers client : les formulaires, le calendrier, et les error boundaries que React impose côté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cacheComponents: true dans next.config.ts. Les lectures publiques de l'annuaire et des fiches sont mises en cache sous le tag ateliers. Quand une écriture les rend fausses — l'admin publie un atelier, le fabmanager ajoute une machine — la Server Action appelle updateTag('ateliers'). On invalide par l'événement, pas par un délai. La fiche machine publique est elle aussi sous ce tag, invalidée par manage.actions.ts. Le client HTTP a deux instances par adapter : une anonyme et cachable, une authentifiée en no-store — lire un cookie dans un 'use cache' casserait la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 mobile n'est pas le web en petit : elle porte le parcours membre et existe pour les deux capacités que le navigateur n'a pas ici — la caméra et la position. Expo Go suffit, sans development build : expo-camera, expo-location, expo-secure-store et react-native-maps (Apple Maps sur iOS, sans clé) y tournent. L'URL de l'API est déduite de Constants.expoConfig.hostUri — une IP écrite dans .env périmait à chaque changement de wifi. Seuls bookings/[id], habilitations et onboarding sont derrière Stack.Protected. Un 401 en cours de route efface le jeton et repasse en anonyme sans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flux attendu par la consigne, étape par étape. Le jeton est généré par le serveur à la création de la machine (randomUUID, colonne unique sur tout le réseau) ; personne ne le saisit, le PATCH de la machine le refuse. Le fabmanager l'imprime depuis /manage/machines/:id/qr. La fenêtre de pointage court de 15 min avant à 30 min après le début du créneau : le prédicat isCheckInOpen est partagé par la command et la projection, l'app lit canCheckIn au lieu de redériver la fenêtre. Le port de scan a deux implémentations — expo-camera et saisie manuelle — et l'écran ignore laquelle il tient. Démo : d'abord le QR de la Trotec (refus), puis celui de la soudure. Le refus vient du code d'erreur du corps (CHECK_IN_TOKEN_MISMATCH), pas du statut HTTP.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onglet du mobile. Position accordée : la requête porte lat, lng et radiusKm ; l'API trie par distance, les coordonnées des ateliers sont indexées. Pour la démo du refus : Réglages → Expo Go → Position → Jamais, puis rouvrir l'annuaire. distanceKm vaut null, la liste n'est plus triée, l'écran le dit et propose Réessayer. Le schéma de l'API refuse un lat sans radiusKm, d'où la règle du trio dans directoryQuery (src/modules/atelier/core/lib/directory-query.ts). La carte est react-native-maps et non expo-maps : il tourne dans Expo Go sans clé. Le filtre ville est une égalité, pas une recherche — l'écran l'écrit sous le champ.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checklist mobile de la consigne. Sur le NFC : le module check-in a remplacé un module nfc — react-native-nfc-manager et l'entitlement iOS sont partis. Le NFC ne s'exerçait jamais hors d'un development build et retombait en pratique sur la saisie manuelle ; le QR tourne dans Expo Go sans compte développeur Apple. Les 401 : useApiQuery efface le jeton et repasse en anonyme, une session expirée n'est pas une panne. SessionProvider sait se rafraîchir après une adhésion.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Dockerfile racine est celui de l'app Next.js, sur node:24-alpine. deps : on copie d'abord pnpm-lock.yaml, pnpm-workspace.yaml et tous les package.json du workspace — un frozen install valide chaque importer du lockfile — puis pnpm install --filter @etabli/web..., avec un cache mount sur le store pnpm. Tant que les manifests ne bougent pas, ce layer sort du cache. builder : build des packages (tsdown) puis next build en output: 'standalone'. runner : ne reçoit que le standalone, .next/static et public/, tourne sous l'utilisateur node, et les CLI npm/corepack/yarn de l'image de base sont supprimés parce qu'ils portaient les CVE. Il existe aussi un stage dev, utilisé par compose.override.yaml pour next dev avec le dépôt monté.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Prérequis : Docker seul, ni Node ni pnpm ni base. docker compose up --build charge aussi compose.override.yaml : le dépôt est monté, next dev et nest start --watch tournent sur le stage dev, aucune reconstruction pour voir une modification. Pour les images de production, on ne lit que compose.yaml. L'API applique migrations et seed à son démarrage : les comptes de démo sont utilisables dès que web est healthy, sur http://localhost:3000. Aucune variable n'est requise, le compose porte des valeurs de démonstration ; JWT_SECRET peut être surchargé par l'environnement. NEXT_PUBLIC_SITE_URL est cuite au build dans robots.txt et sitemap.xml prérendus. Seule, l'image web ne sert que les coquilles : elle dépend de l'API, d'où le compose comme commande de référence.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 critiques, H = hautes, M = moyennes, B = basses. Chaque chiffre vient d'un scan réellement exécuté. L'analyse a séparé trois origines : next@16.3.5 portait GHSA-vcvr-r3jv-pc5j (critique, CVSS 9.5, corrigée en 16.3.6) ; la base Debian apportait les critiques perl et les hautes util-linux / gcc-12 ; le reste (brace-expansion, tar, undici…) vivait dans le CLI npm embarqué par l'image de base, jamais exécuté par un conteneur dont le CMD est node. Trois corrections acceptées et vérifiées une à une — la mise à jour de next par les tests du web et le typecheck, les CVE npm en regardant dans le conteneur avant de supprimer. Distroless refusé : une fois les CLI retirés le scan est déjà à zéro, et sans shell l'enchaînement migrations → seed → serveur du compose casse. L'image API a suivi le même chemin : 2 C · 20 H · 18 M · 33 B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d'appui pour les questions listées par la consigne. Sur COPY : le Dockerfile ne fait pas COPY package*.json mais copie explicitement pnpm-lock.yaml, pnpm-workspace.yaml, package.json, .npmrc et le package.json de chaque app et package — même logique de cache, adaptée au monorepo. Sur l'IA : ce qu'elle a proposé et ce qui a été vérifié est sur la slide Docker Scout. Hôte / conteneur / téléphone : dans le compose, les services se joignent par leur nom de service ; le téléphone, lui, est hors de Docker et joint l'API publiée sur le port 3001 de la machine hôte.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seule API pour les deux clients. Le web ne contient aucune logique métier : il parle à l'API par des adapters HTTP derrière des ports (core/ports, core/adapters), ses composants sont purs, les pages de features/ orchestrent, et un test de graphe d'imports interdit React et Next dans core/, les composants dans features/, et tout cycle. Le cookie est posé par Next sur son propre domaine : c'est le serveur Next qui lit le jeton et le passe en Bearer, donc l'API peut vivre ailleurs. contract et api-client n'ont aucune dépendance. Un renommage d'un code d'erreur côté API casse la compilation des deux clients au lieu de les laisser afficher « service indisponible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apps/api est un NestJS 12 en clean architecture port et adapter, sans Effect. Le domaine ne connaît que son interface de repository ; l'injection Nest branche l'implémentation Drizzle sur un token. Une règle métier ne vit jamais dans un contrôleur. Les DTO de requête passent par un ZodValidationPipe (@ZodBody, @ZodQuery, @UuidParam) ; Swagger est alimenté par z.toJSONSchema(). Le test des réponses est response-contract.e2e.spec.ts. Deux garde-fous dans api-error-code.spec.ts : aucun code: écrit en dur hors du contract, et aucune entrée du contract que plus rien n'émet. Tests de l'API sur trois étages : unitaires sur stubs et horloge figée, intégration des repositories sur PGlite, bout en bout HTTP via supertest.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partie que je peux dérouler intégralement : le parcours de réservation, de GET /machines/:id/availability au créneau en base. Les créneaux sont calculés en heure locale de l'atelier (Europe/Paris, 8 h – 22 h), transition d'heure d'été comprise. POST /bookings ne porte que machineId et startAt : la fin vient du slotDurationMinutes de la machine, jamais du client. Le use-case applique les règles métier — habilitation sur la machine, machine en service, créneau dans le futur, pas de chevauchement… La règle du chevauchement est aussi tenue en base par une contrainte d'exclusion gist, posée dans la migration 0001 écrite à la main (btree_gist). Si deux requêtes passent la vérification en même temps, PostgreSQL refuse la seconde avec 23P01, que le repository traduit en BookingOverlapError. Seules les réservations CONFIRMED ou CHECKED_IN bloquent : une annulation libère le créneau.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admin non protégé est un mauvais signal explicite de la consigne. Ici, masquer un bouton n'est jamais la barrière : la barrière est dans l'API. Le cloisonnement est balayé route par route par apps/api/src/tenancy.e2e.spec.ts — 404 sur une ressource d'un autre atelier, collection vide sur une liste, 403 sur /admin/*. Une réservation qui n'appartient pas à l'appelant répond 404 aussi. Un administrateur ne peut ni se retirer son rôle ni se suspendre : c'est le seul geste qu'aucun autre administrateur n'est garanti d'être là pour défaire. Côté mobile, le jeton est dans expo-secure-store.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relire et ajuster : ces exemples doivent être les vôtres, la soutenance porte sur le recul critique.] Le workflow Docker a été : scan réel, analyse IA, vérification humaine, correction, rebuild, rescan — jamais un rapport IA sans scan. Autre décision assumée, prise contre la règle de départ : le TDD strict (E2E rouges d'abord) a été levé après le premier jalon, le coût de maintenir une centaine d'E2E rouges pendant la conception ne se payait pas ; les E2E tournent à la demande. Ce que j'ai vérifié moi-même : chaque correction Docker (tests du web et typecheck après la mise à jour de next, contenu du conteneur avant de supprimer npm), les refus de cloisonnement par le test tenancy.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QR photographié : un membre pourrait pointer sans être devant la machine s'il en détient une photo. La fenêtre — 15 min avant, 30 min après le début — et l'obligation d'une réservation confirmée sur cette machine bornent l'abus, et POST /manage/machines/:id/check-in-token retire un jeton qui a fuité. Un jeton tournant demanderait un écran allumé près de chaque machine, ce que le produit ne suppose pas. Pas de révocation : changer de mot de passe réémet le jeton de l'auteur, ceux des autres appareils restent valides jusqu'à expiration. Le déploiement Vercel (bonus) : les URLs restent à reporter en tête du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tests sont colocalisés. L'API en porte environ 280, sur trois étages, sans Docker : chaque suite monte sa propre base PGlite en mémoire. Les E2E Playwright tournent à la demande (pnpm db:test:up puis pnpm test:e2e), hors de pnpm verify par décision ; leur globalSetup vide la base avant de la semer, et le reset refuse toute URL non locale avant d'ouvrir la connexion — il ne peut pas partir sur Neon. CI GitHub Actions sur le dépôt. Un README par application et par package. [Vérifier les chiffres juste avant la soutenance avec pnpm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Pendant le live coding : docs officielles, IDE, terminal, DevTools, logs, recherche dans le repo — pas de ChatGPT, Claude Code, Copilot Chat ni génération de blocs. Méthode : reformuler la demande, trouver la zone, modifier proprement, tester, expliquer. Repères : les refus de formulaire sont écrits en français côté action, pas remontés de l'API. requireSession(next) redirige ; hasSession() pour brancher sans rediriger. Le double scan est déjà refusé côté serveur (409 BookingNotCheckInableError). Quand une route gagne une erreur typée, l'adapter qui l'appelle doit gagner son code dans la table BY_CODE. Hermes s'arrête à l'ES2022 : pas de toSorted sur le mobile.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question finale de la consigne : si je clone votre repo, est-ce que je peux comprendre, lancer et tester votre produit ? Oui : Docker seul suffit, le compose lance la base, l'API (migrations et seed au démarrage) et le web ; les comptes de démo ont tous le mot de passe etabli-2026, et le README décrit le parcours de démonstration en dix minutes. Pour le mobile : pnpm install, pnpm dev, Expo Go sur le même wifi.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B0C0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80020"/>
          </a:xfrm>
          <a:prstGeom prst="rect">
            <a:avLst/>
          </a:prstGeom>
          <a:noFill/>
          <a:ln/>
        </p:spPr>
        <p:txBody>
          <a:bodyPr wrap="square" lIns="0" tIns="0" rIns="0" bIns="0" rtlCol="0" anchor="t"/>
          <a:lstStyle>
            <a:lvl1pPr algn="l" indent="0" marL="0">
              <a:lnSpc>
                <a:spcPct val="115000"/>
              </a:lnSpc>
              <a:buNone/>
              <a:defRPr lang="en-US" sz="3600" dirty="0">
                <a:solidFill>
                  <a:srgbClr val="F4F6F8"/>
                </a:solidFill>
                <a:latin typeface="Barlow Condensed" pitchFamily="34" charset="0"/>
                <a:ea typeface="Barlow Condensed" pitchFamily="34" charset="-122"/>
                <a:cs typeface="Barlow Condense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12541"/>
            <a:ext cx="10566400" cy="4132659"/>
          </a:xfrm>
          <a:prstGeom prst="rect">
            <a:avLst/>
          </a:prstGeom>
          <a:noFill/>
          <a:ln/>
        </p:spPr>
        <p:txBody>
          <a:bodyPr wrap="square" lIns="0" tIns="0" rIns="0" bIns="0" rtlCol="0" anchor="t"/>
          <a:lstStyle>
            <a:lvl1pPr algn="l" indent="0" marL="0">
              <a:lnSpc>
                <a:spcPct val="140000"/>
              </a:lnSpc>
              <a:buNone/>
              <a:defRPr lang="en-US" sz="1600" dirty="0">
                <a:solidFill>
                  <a:srgbClr val="F4F6F8"/>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B0C0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80020"/>
          </a:xfrm>
          <a:prstGeom prst="rect">
            <a:avLst/>
          </a:prstGeom>
          <a:noFill/>
          <a:ln/>
        </p:spPr>
        <p:txBody>
          <a:bodyPr wrap="square" lIns="0" tIns="0" rIns="0" bIns="0" rtlCol="0" anchor="t"/>
          <a:lstStyle>
            <a:lvl1pPr algn="l" indent="0" marL="0">
              <a:lnSpc>
                <a:spcPct val="115000"/>
              </a:lnSpc>
              <a:buNone/>
              <a:defRPr lang="en-US" sz="3600" dirty="0">
                <a:solidFill>
                  <a:srgbClr val="F4F6F8"/>
                </a:solidFill>
                <a:latin typeface="Barlow Condensed" pitchFamily="34" charset="0"/>
                <a:ea typeface="Barlow Condensed" pitchFamily="34" charset="-122"/>
                <a:cs typeface="Barlow Condense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12541"/>
            <a:ext cx="10566400" cy="4132659"/>
          </a:xfrm>
          <a:prstGeom prst="rect">
            <a:avLst/>
          </a:prstGeom>
          <a:noFill/>
          <a:ln/>
        </p:spPr>
        <p:txBody>
          <a:bodyPr wrap="square" lIns="0" tIns="0" rIns="0" bIns="0" rtlCol="0" anchor="t"/>
          <a:lstStyle>
            <a:lvl1pPr algn="l" indent="0" marL="0">
              <a:lnSpc>
                <a:spcPct val="140000"/>
              </a:lnSpc>
              <a:buNone/>
              <a:defRPr lang="en-US" sz="1600" dirty="0">
                <a:solidFill>
                  <a:srgbClr val="F4F6F8"/>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C0E"/>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F6A00"/>
          </a:solidFill>
          <a:ln/>
        </p:spPr>
      </p:sp>
      <p:sp>
        <p:nvSpPr>
          <p:cNvPr id="3" name="Text 1"/>
          <p:cNvSpPr/>
          <p:nvPr/>
        </p:nvSpPr>
        <p:spPr>
          <a:xfrm>
            <a:off x="812800" y="812800"/>
            <a:ext cx="1098828" cy="416520"/>
          </a:xfrm>
          <a:prstGeom prst="rect">
            <a:avLst/>
          </a:prstGeom>
          <a:noFill/>
          <a:ln/>
        </p:spPr>
        <p:txBody>
          <a:bodyPr wrap="square" lIns="0" tIns="0" rIns="0" bIns="0" rtlCol="0" anchor="t">
            <a:normAutofit/>
          </a:bodyPr>
          <a:lstStyle/>
          <a:p>
            <a:pPr algn="l" indent="0" marL="0">
              <a:lnSpc>
                <a:spcPts val="3080"/>
              </a:lnSpc>
              <a:buNone/>
            </a:pPr>
            <a:r>
              <a:rPr lang="en-US" sz="2200" b="1" spc="300" kern="0" dirty="0">
                <a:solidFill>
                  <a:srgbClr val="F4F6F8"/>
                </a:solidFill>
                <a:latin typeface="Barlow Condensed" pitchFamily="34" charset="0"/>
                <a:ea typeface="Barlow Condensed" pitchFamily="34" charset="-122"/>
                <a:cs typeface="Barlow Condensed" pitchFamily="34" charset="-120"/>
              </a:rPr>
              <a:t>ÉTABLI</a:t>
            </a:r>
            <a:endParaRPr lang="en-US" sz="2200" dirty="0"/>
          </a:p>
        </p:txBody>
      </p:sp>
      <p:sp>
        <p:nvSpPr>
          <p:cNvPr id="4" name="Text 2"/>
          <p:cNvSpPr/>
          <p:nvPr/>
        </p:nvSpPr>
        <p:spPr>
          <a:xfrm>
            <a:off x="7450386" y="825500"/>
            <a:ext cx="3928814" cy="365720"/>
          </a:xfrm>
          <a:prstGeom prst="rect">
            <a:avLst/>
          </a:prstGeom>
          <a:solidFill>
            <a:srgbClr val="FF6A00"/>
          </a:solidFill>
          <a:ln/>
        </p:spPr>
        <p:txBody>
          <a:bodyPr wrap="none" lIns="0" tIns="0" rIns="0" bIns="0" rtlCol="0" anchor="ctr">
            <a:normAutofit/>
          </a:bodyPr>
          <a:lstStyle/>
          <a:p>
            <a:pPr algn="ctr" indent="0" marL="0">
              <a:lnSpc>
                <a:spcPts val="1680"/>
              </a:lnSpc>
              <a:buNone/>
            </a:pPr>
            <a:r>
              <a:rPr lang="en-US" sz="1200" spc="200" kern="0" dirty="0">
                <a:solidFill>
                  <a:srgbClr val="0B0C0E"/>
                </a:solidFill>
                <a:latin typeface="Inter" pitchFamily="34" charset="0"/>
                <a:ea typeface="Inter" pitchFamily="34" charset="-122"/>
                <a:cs typeface="Inter" pitchFamily="34" charset="-120"/>
              </a:rPr>
              <a:t>M2 EEMI · SOUTENANCE FINALE 2026</a:t>
            </a:r>
            <a:endParaRPr lang="en-US" sz="1200" dirty="0"/>
          </a:p>
        </p:txBody>
      </p:sp>
      <p:sp>
        <p:nvSpPr>
          <p:cNvPr id="5" name="Text 3"/>
          <p:cNvSpPr/>
          <p:nvPr>
            <p:ph type="title"/>
          </p:nvPr>
        </p:nvSpPr>
        <p:spPr>
          <a:xfrm>
            <a:off x="812800" y="2192685"/>
            <a:ext cx="10883392" cy="1397000"/>
          </a:xfrm>
          <a:prstGeom prst="rect">
            <a:avLst/>
          </a:prstGeom>
          <a:noFill/>
          <a:ln/>
        </p:spPr>
        <p:txBody>
          <a:bodyPr wrap="square" lIns="0" tIns="0" rIns="0" bIns="0" rtlCol="0" anchor="t">
            <a:normAutofit/>
          </a:bodyPr>
          <a:lstStyle/>
          <a:p>
            <a:pPr algn="l" indent="0" marL="0">
              <a:lnSpc>
                <a:spcPts val="10800"/>
              </a:lnSpc>
              <a:buNone/>
            </a:pPr>
            <a:r>
              <a:rPr lang="en-US" sz="12000" b="1" i="0" dirty="0">
                <a:solidFill>
                  <a:srgbClr val="F4F6F8"/>
                </a:solidFill>
                <a:latin typeface="Barlow Condensed" pitchFamily="34" charset="0"/>
                <a:ea typeface="Barlow Condensed" pitchFamily="34" charset="-122"/>
                <a:cs typeface="Barlow Condensed" pitchFamily="34" charset="-120"/>
              </a:rPr>
              <a:t>ÉTABLI</a:t>
            </a:r>
            <a:endParaRPr lang="en-US" sz="12000" dirty="0"/>
          </a:p>
        </p:txBody>
      </p:sp>
      <p:sp>
        <p:nvSpPr>
          <p:cNvPr id="6" name="Text 4"/>
          <p:cNvSpPr/>
          <p:nvPr/>
        </p:nvSpPr>
        <p:spPr>
          <a:xfrm>
            <a:off x="812800" y="3767485"/>
            <a:ext cx="850265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3C8CF"/>
                </a:solidFill>
                <a:latin typeface="Inter" pitchFamily="34" charset="0"/>
                <a:ea typeface="Inter" pitchFamily="34" charset="-122"/>
                <a:cs typeface="Inter" pitchFamily="34" charset="-120"/>
              </a:rPr>
              <a:t>Le réseau d'ateliers partagés : habilitations machine, réservation de créneaux, pointage par QR code.</a:t>
            </a:r>
            <a:endParaRPr lang="en-US" sz="2200" dirty="0"/>
          </a:p>
        </p:txBody>
      </p:sp>
      <p:sp>
        <p:nvSpPr>
          <p:cNvPr id="7" name="Shape 5"/>
          <p:cNvSpPr/>
          <p:nvPr/>
        </p:nvSpPr>
        <p:spPr>
          <a:xfrm>
            <a:off x="812800" y="5485805"/>
            <a:ext cx="10566400" cy="0"/>
          </a:xfrm>
          <a:prstGeom prst="line">
            <a:avLst/>
          </a:prstGeom>
          <a:noFill/>
          <a:ln w="6350">
            <a:solidFill>
              <a:srgbClr val="2A2E35"/>
            </a:solidFill>
            <a:prstDash val="solid"/>
          </a:ln>
        </p:spPr>
      </p:sp>
      <p:sp>
        <p:nvSpPr>
          <p:cNvPr id="8" name="Text 6"/>
          <p:cNvSpPr/>
          <p:nvPr/>
        </p:nvSpPr>
        <p:spPr>
          <a:xfrm>
            <a:off x="815975" y="5695355"/>
            <a:ext cx="1383060" cy="346670"/>
          </a:xfrm>
          <a:prstGeom prst="rect">
            <a:avLst/>
          </a:prstGeom>
          <a:noFill/>
          <a:ln w="6350">
            <a:solidFill>
              <a:srgbClr val="5C636C"/>
            </a:solidFill>
            <a:prstDash val="solid"/>
          </a:ln>
        </p:spPr>
        <p:txBody>
          <a:bodyPr wrap="none" lIns="0" tIns="0" rIns="0" bIns="0" rtlCol="0" anchor="ctr">
            <a:normAutofit/>
          </a:bodyPr>
          <a:lstStyle/>
          <a:p>
            <a:pPr algn="ctr" indent="0" marL="0">
              <a:lnSpc>
                <a:spcPts val="1680"/>
              </a:lnSpc>
              <a:buNone/>
            </a:pPr>
            <a:r>
              <a:rPr lang="en-US" sz="1200" spc="150" kern="0" dirty="0">
                <a:solidFill>
                  <a:srgbClr val="F4F6F8"/>
                </a:solidFill>
                <a:latin typeface="Inter" pitchFamily="34" charset="0"/>
                <a:ea typeface="Inter" pitchFamily="34" charset="-122"/>
                <a:cs typeface="Inter" pitchFamily="34" charset="-120"/>
              </a:rPr>
              <a:t>NEXT.JS /20</a:t>
            </a:r>
            <a:endParaRPr lang="en-US" sz="1200" dirty="0"/>
          </a:p>
        </p:txBody>
      </p:sp>
      <p:sp>
        <p:nvSpPr>
          <p:cNvPr id="9" name="Text 7"/>
          <p:cNvSpPr/>
          <p:nvPr/>
        </p:nvSpPr>
        <p:spPr>
          <a:xfrm>
            <a:off x="2306985" y="5695355"/>
            <a:ext cx="1937296" cy="346670"/>
          </a:xfrm>
          <a:prstGeom prst="rect">
            <a:avLst/>
          </a:prstGeom>
          <a:noFill/>
          <a:ln w="6350">
            <a:solidFill>
              <a:srgbClr val="5C636C"/>
            </a:solidFill>
            <a:prstDash val="solid"/>
          </a:ln>
        </p:spPr>
        <p:txBody>
          <a:bodyPr wrap="none" lIns="0" tIns="0" rIns="0" bIns="0" rtlCol="0" anchor="ctr">
            <a:normAutofit/>
          </a:bodyPr>
          <a:lstStyle/>
          <a:p>
            <a:pPr algn="ctr" indent="0" marL="0">
              <a:lnSpc>
                <a:spcPts val="1680"/>
              </a:lnSpc>
              <a:buNone/>
            </a:pPr>
            <a:r>
              <a:rPr lang="en-US" sz="1200" spc="150" kern="0" dirty="0">
                <a:solidFill>
                  <a:srgbClr val="F4F6F8"/>
                </a:solidFill>
                <a:latin typeface="Inter" pitchFamily="34" charset="0"/>
                <a:ea typeface="Inter" pitchFamily="34" charset="-122"/>
                <a:cs typeface="Inter" pitchFamily="34" charset="-120"/>
              </a:rPr>
              <a:t>REACT NATIVE /20</a:t>
            </a:r>
            <a:endParaRPr lang="en-US" sz="1200" dirty="0"/>
          </a:p>
        </p:txBody>
      </p:sp>
      <p:sp>
        <p:nvSpPr>
          <p:cNvPr id="10" name="Text 8"/>
          <p:cNvSpPr/>
          <p:nvPr/>
        </p:nvSpPr>
        <p:spPr>
          <a:xfrm>
            <a:off x="4352230" y="5695355"/>
            <a:ext cx="1367631" cy="346670"/>
          </a:xfrm>
          <a:prstGeom prst="rect">
            <a:avLst/>
          </a:prstGeom>
          <a:noFill/>
          <a:ln w="6350">
            <a:solidFill>
              <a:srgbClr val="5C636C"/>
            </a:solidFill>
            <a:prstDash val="solid"/>
          </a:ln>
        </p:spPr>
        <p:txBody>
          <a:bodyPr wrap="none" lIns="0" tIns="0" rIns="0" bIns="0" rtlCol="0" anchor="ctr">
            <a:normAutofit/>
          </a:bodyPr>
          <a:lstStyle/>
          <a:p>
            <a:pPr algn="ctr" indent="0" marL="0">
              <a:lnSpc>
                <a:spcPts val="1680"/>
              </a:lnSpc>
              <a:buNone/>
            </a:pPr>
            <a:r>
              <a:rPr lang="en-US" sz="1200" spc="150" kern="0" dirty="0">
                <a:solidFill>
                  <a:srgbClr val="F4F6F8"/>
                </a:solidFill>
                <a:latin typeface="Inter" pitchFamily="34" charset="0"/>
                <a:ea typeface="Inter" pitchFamily="34" charset="-122"/>
                <a:cs typeface="Inter" pitchFamily="34" charset="-120"/>
              </a:rPr>
              <a:t>DOCKER /20</a:t>
            </a:r>
            <a:endParaRPr lang="en-US" sz="1200" dirty="0"/>
          </a:p>
        </p:txBody>
      </p:sp>
      <p:sp>
        <p:nvSpPr>
          <p:cNvPr id="11" name="Text 9"/>
          <p:cNvSpPr/>
          <p:nvPr/>
        </p:nvSpPr>
        <p:spPr>
          <a:xfrm>
            <a:off x="9748639" y="5726460"/>
            <a:ext cx="1630561"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9AA1AB"/>
                </a:solidFill>
                <a:latin typeface="Inter" pitchFamily="34" charset="0"/>
                <a:ea typeface="Inter" pitchFamily="34" charset="-122"/>
                <a:cs typeface="Inter" pitchFamily="34" charset="-120"/>
              </a:rPr>
              <a:t>Mathis OUDIN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323"/>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DÉROULÉ</a:t>
            </a:r>
            <a:endParaRPr lang="en-US" sz="1200" dirty="0"/>
          </a:p>
        </p:txBody>
      </p:sp>
      <p:sp>
        <p:nvSpPr>
          <p:cNvPr id="3" name="Text 1"/>
          <p:cNvSpPr/>
          <p:nvPr>
            <p:ph type="title"/>
          </p:nvPr>
        </p:nvSpPr>
        <p:spPr>
          <a:xfrm>
            <a:off x="812800" y="1127323"/>
            <a:ext cx="10883392" cy="504577"/>
          </a:xfrm>
          <a:prstGeom prst="rect">
            <a:avLst/>
          </a:prstGeom>
          <a:noFill/>
          <a:ln/>
        </p:spPr>
        <p:txBody>
          <a:bodyPr wrap="square" lIns="0" tIns="0" rIns="0" bIns="0" rtlCol="0" anchor="t">
            <a:normAutofit/>
          </a:bodyPr>
          <a:lstStyle/>
          <a:p>
            <a:pPr algn="l" indent="0" marL="0">
              <a:lnSpc>
                <a:spcPts val="3768"/>
              </a:lnSpc>
              <a:buNone/>
            </a:pPr>
            <a:r>
              <a:rPr lang="en-US" sz="3589" b="1" i="0" dirty="0">
                <a:solidFill>
                  <a:srgbClr val="F4F6F8"/>
                </a:solidFill>
                <a:latin typeface="Barlow Condensed" pitchFamily="34" charset="0"/>
                <a:ea typeface="Barlow Condensed" pitchFamily="34" charset="-122"/>
                <a:cs typeface="Barlow Condensed" pitchFamily="34" charset="-120"/>
              </a:rPr>
              <a:t>UNE HEURE, NEUF TEMPS</a:t>
            </a:r>
            <a:endParaRPr lang="en-US" sz="3589" dirty="0"/>
          </a:p>
        </p:txBody>
      </p:sp>
      <p:sp>
        <p:nvSpPr>
          <p:cNvPr id="4" name="Shape 2"/>
          <p:cNvSpPr/>
          <p:nvPr/>
        </p:nvSpPr>
        <p:spPr>
          <a:xfrm>
            <a:off x="812800" y="1962100"/>
            <a:ext cx="3420517" cy="1191667"/>
          </a:xfrm>
          <a:prstGeom prst="rect">
            <a:avLst/>
          </a:prstGeom>
          <a:solidFill>
            <a:srgbClr val="131518"/>
          </a:solidFill>
          <a:ln/>
        </p:spPr>
      </p:sp>
      <p:sp>
        <p:nvSpPr>
          <p:cNvPr id="5" name="Shape 3"/>
          <p:cNvSpPr/>
          <p:nvPr/>
        </p:nvSpPr>
        <p:spPr>
          <a:xfrm>
            <a:off x="812800" y="1974800"/>
            <a:ext cx="3420517" cy="0"/>
          </a:xfrm>
          <a:prstGeom prst="line">
            <a:avLst/>
          </a:prstGeom>
          <a:noFill/>
          <a:ln w="25400">
            <a:solidFill>
              <a:srgbClr val="FF6A00"/>
            </a:solidFill>
            <a:prstDash val="solid"/>
          </a:ln>
        </p:spPr>
      </p:sp>
      <p:sp>
        <p:nvSpPr>
          <p:cNvPr id="6" name="Text 4"/>
          <p:cNvSpPr/>
          <p:nvPr/>
        </p:nvSpPr>
        <p:spPr>
          <a:xfrm>
            <a:off x="1016000" y="2139900"/>
            <a:ext cx="3104540" cy="23812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A00"/>
                </a:solidFill>
                <a:latin typeface="Inter" pitchFamily="34" charset="0"/>
                <a:ea typeface="Inter" pitchFamily="34" charset="-122"/>
                <a:cs typeface="Inter" pitchFamily="34" charset="-120"/>
              </a:rPr>
              <a:t>01 · 4 min</a:t>
            </a:r>
            <a:endParaRPr lang="en-US" sz="1200" dirty="0"/>
          </a:p>
        </p:txBody>
      </p:sp>
      <p:sp>
        <p:nvSpPr>
          <p:cNvPr id="7" name="Text 5"/>
          <p:cNvSpPr/>
          <p:nvPr/>
        </p:nvSpPr>
        <p:spPr>
          <a:xfrm>
            <a:off x="1016000" y="2403425"/>
            <a:ext cx="3104540" cy="35976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6F8"/>
                </a:solidFill>
                <a:latin typeface="Barlow Condensed" pitchFamily="34" charset="0"/>
                <a:ea typeface="Barlow Condensed" pitchFamily="34" charset="-122"/>
                <a:cs typeface="Barlow Condensed" pitchFamily="34" charset="-120"/>
              </a:rPr>
              <a:t>CONCEPT PRODUIT</a:t>
            </a:r>
            <a:endParaRPr lang="en-US" sz="2200" dirty="0"/>
          </a:p>
        </p:txBody>
      </p:sp>
      <p:sp>
        <p:nvSpPr>
          <p:cNvPr id="8" name="Text 6"/>
          <p:cNvSpPr/>
          <p:nvPr/>
        </p:nvSpPr>
        <p:spPr>
          <a:xfrm>
            <a:off x="1016000" y="2788593"/>
            <a:ext cx="3104540" cy="2381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Commun aux trois notes</a:t>
            </a:r>
            <a:endParaRPr lang="en-US" sz="1200" dirty="0"/>
          </a:p>
        </p:txBody>
      </p:sp>
      <p:sp>
        <p:nvSpPr>
          <p:cNvPr id="9" name="Shape 7"/>
          <p:cNvSpPr/>
          <p:nvPr/>
        </p:nvSpPr>
        <p:spPr>
          <a:xfrm>
            <a:off x="4385717" y="1962100"/>
            <a:ext cx="3420517" cy="1191667"/>
          </a:xfrm>
          <a:prstGeom prst="rect">
            <a:avLst/>
          </a:prstGeom>
          <a:solidFill>
            <a:srgbClr val="131518"/>
          </a:solidFill>
          <a:ln/>
        </p:spPr>
      </p:sp>
      <p:sp>
        <p:nvSpPr>
          <p:cNvPr id="10" name="Shape 8"/>
          <p:cNvSpPr/>
          <p:nvPr/>
        </p:nvSpPr>
        <p:spPr>
          <a:xfrm>
            <a:off x="4385717" y="1974800"/>
            <a:ext cx="3420517" cy="0"/>
          </a:xfrm>
          <a:prstGeom prst="line">
            <a:avLst/>
          </a:prstGeom>
          <a:noFill/>
          <a:ln w="25400">
            <a:solidFill>
              <a:srgbClr val="FF6A00"/>
            </a:solidFill>
            <a:prstDash val="solid"/>
          </a:ln>
        </p:spPr>
      </p:sp>
      <p:sp>
        <p:nvSpPr>
          <p:cNvPr id="11" name="Text 9"/>
          <p:cNvSpPr/>
          <p:nvPr/>
        </p:nvSpPr>
        <p:spPr>
          <a:xfrm>
            <a:off x="4588917" y="2139900"/>
            <a:ext cx="3104540" cy="23812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A00"/>
                </a:solidFill>
                <a:latin typeface="Inter" pitchFamily="34" charset="0"/>
                <a:ea typeface="Inter" pitchFamily="34" charset="-122"/>
                <a:cs typeface="Inter" pitchFamily="34" charset="-120"/>
              </a:rPr>
              <a:t>02 · 10 min</a:t>
            </a:r>
            <a:endParaRPr lang="en-US" sz="1200" dirty="0"/>
          </a:p>
        </p:txBody>
      </p:sp>
      <p:sp>
        <p:nvSpPr>
          <p:cNvPr id="12" name="Text 10"/>
          <p:cNvSpPr/>
          <p:nvPr/>
        </p:nvSpPr>
        <p:spPr>
          <a:xfrm>
            <a:off x="4588917" y="2403425"/>
            <a:ext cx="3104540" cy="35976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6F8"/>
                </a:solidFill>
                <a:latin typeface="Barlow Condensed" pitchFamily="34" charset="0"/>
                <a:ea typeface="Barlow Condensed" pitchFamily="34" charset="-122"/>
                <a:cs typeface="Barlow Condensed" pitchFamily="34" charset="-120"/>
              </a:rPr>
              <a:t>DÉMO NEXT.JS</a:t>
            </a:r>
            <a:endParaRPr lang="en-US" sz="2200" dirty="0"/>
          </a:p>
        </p:txBody>
      </p:sp>
      <p:sp>
        <p:nvSpPr>
          <p:cNvPr id="13" name="Text 11"/>
          <p:cNvSpPr/>
          <p:nvPr/>
        </p:nvSpPr>
        <p:spPr>
          <a:xfrm>
            <a:off x="4588917" y="2788593"/>
            <a:ext cx="3104540" cy="2381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Note Next.js</a:t>
            </a:r>
            <a:endParaRPr lang="en-US" sz="1200" dirty="0"/>
          </a:p>
        </p:txBody>
      </p:sp>
      <p:sp>
        <p:nvSpPr>
          <p:cNvPr id="14" name="Shape 12"/>
          <p:cNvSpPr/>
          <p:nvPr/>
        </p:nvSpPr>
        <p:spPr>
          <a:xfrm>
            <a:off x="7958634" y="1962100"/>
            <a:ext cx="3420566" cy="1191667"/>
          </a:xfrm>
          <a:prstGeom prst="rect">
            <a:avLst/>
          </a:prstGeom>
          <a:solidFill>
            <a:srgbClr val="131518"/>
          </a:solidFill>
          <a:ln/>
        </p:spPr>
      </p:sp>
      <p:sp>
        <p:nvSpPr>
          <p:cNvPr id="15" name="Shape 13"/>
          <p:cNvSpPr/>
          <p:nvPr/>
        </p:nvSpPr>
        <p:spPr>
          <a:xfrm>
            <a:off x="7958634" y="1974800"/>
            <a:ext cx="3420566" cy="0"/>
          </a:xfrm>
          <a:prstGeom prst="line">
            <a:avLst/>
          </a:prstGeom>
          <a:noFill/>
          <a:ln w="25400">
            <a:solidFill>
              <a:srgbClr val="FF6A00"/>
            </a:solidFill>
            <a:prstDash val="solid"/>
          </a:ln>
        </p:spPr>
      </p:sp>
      <p:sp>
        <p:nvSpPr>
          <p:cNvPr id="16" name="Text 14"/>
          <p:cNvSpPr/>
          <p:nvPr/>
        </p:nvSpPr>
        <p:spPr>
          <a:xfrm>
            <a:off x="8161834" y="2139900"/>
            <a:ext cx="3104591" cy="23812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A00"/>
                </a:solidFill>
                <a:latin typeface="Inter" pitchFamily="34" charset="0"/>
                <a:ea typeface="Inter" pitchFamily="34" charset="-122"/>
                <a:cs typeface="Inter" pitchFamily="34" charset="-120"/>
              </a:rPr>
              <a:t>03 · 8 min</a:t>
            </a:r>
            <a:endParaRPr lang="en-US" sz="1200" dirty="0"/>
          </a:p>
        </p:txBody>
      </p:sp>
      <p:sp>
        <p:nvSpPr>
          <p:cNvPr id="17" name="Text 15"/>
          <p:cNvSpPr/>
          <p:nvPr/>
        </p:nvSpPr>
        <p:spPr>
          <a:xfrm>
            <a:off x="8161834" y="2403425"/>
            <a:ext cx="3104591" cy="35976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6F8"/>
                </a:solidFill>
                <a:latin typeface="Barlow Condensed" pitchFamily="34" charset="0"/>
                <a:ea typeface="Barlow Condensed" pitchFamily="34" charset="-122"/>
                <a:cs typeface="Barlow Condensed" pitchFamily="34" charset="-120"/>
              </a:rPr>
              <a:t>DÉMO REACT NATIVE</a:t>
            </a:r>
            <a:endParaRPr lang="en-US" sz="2200" dirty="0"/>
          </a:p>
        </p:txBody>
      </p:sp>
      <p:sp>
        <p:nvSpPr>
          <p:cNvPr id="18" name="Text 16"/>
          <p:cNvSpPr/>
          <p:nvPr/>
        </p:nvSpPr>
        <p:spPr>
          <a:xfrm>
            <a:off x="8161834" y="2788593"/>
            <a:ext cx="3104591" cy="2381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Note React Native · téléphone réel</a:t>
            </a:r>
            <a:endParaRPr lang="en-US" sz="1200" dirty="0"/>
          </a:p>
        </p:txBody>
      </p:sp>
      <p:sp>
        <p:nvSpPr>
          <p:cNvPr id="19" name="Shape 17"/>
          <p:cNvSpPr/>
          <p:nvPr/>
        </p:nvSpPr>
        <p:spPr>
          <a:xfrm>
            <a:off x="812800" y="3306167"/>
            <a:ext cx="3420517" cy="1191716"/>
          </a:xfrm>
          <a:prstGeom prst="rect">
            <a:avLst/>
          </a:prstGeom>
          <a:solidFill>
            <a:srgbClr val="131518"/>
          </a:solidFill>
          <a:ln/>
        </p:spPr>
      </p:sp>
      <p:sp>
        <p:nvSpPr>
          <p:cNvPr id="20" name="Shape 18"/>
          <p:cNvSpPr/>
          <p:nvPr/>
        </p:nvSpPr>
        <p:spPr>
          <a:xfrm>
            <a:off x="812800" y="3318867"/>
            <a:ext cx="3420517" cy="0"/>
          </a:xfrm>
          <a:prstGeom prst="line">
            <a:avLst/>
          </a:prstGeom>
          <a:noFill/>
          <a:ln w="25400">
            <a:solidFill>
              <a:srgbClr val="FF6A00"/>
            </a:solidFill>
            <a:prstDash val="solid"/>
          </a:ln>
        </p:spPr>
      </p:sp>
      <p:sp>
        <p:nvSpPr>
          <p:cNvPr id="21" name="Text 19"/>
          <p:cNvSpPr/>
          <p:nvPr/>
        </p:nvSpPr>
        <p:spPr>
          <a:xfrm>
            <a:off x="1016000" y="3483967"/>
            <a:ext cx="3104540" cy="2381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A00"/>
                </a:solidFill>
                <a:latin typeface="Inter" pitchFamily="34" charset="0"/>
                <a:ea typeface="Inter" pitchFamily="34" charset="-122"/>
                <a:cs typeface="Inter" pitchFamily="34" charset="-120"/>
              </a:rPr>
              <a:t>04 · 8 min</a:t>
            </a:r>
            <a:endParaRPr lang="en-US" sz="1200" dirty="0"/>
          </a:p>
        </p:txBody>
      </p:sp>
      <p:sp>
        <p:nvSpPr>
          <p:cNvPr id="22" name="Text 20"/>
          <p:cNvSpPr/>
          <p:nvPr/>
        </p:nvSpPr>
        <p:spPr>
          <a:xfrm>
            <a:off x="1016000" y="3747542"/>
            <a:ext cx="3104540" cy="35976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6F8"/>
                </a:solidFill>
                <a:latin typeface="Barlow Condensed" pitchFamily="34" charset="0"/>
                <a:ea typeface="Barlow Condensed" pitchFamily="34" charset="-122"/>
                <a:cs typeface="Barlow Condensed" pitchFamily="34" charset="-120"/>
              </a:rPr>
              <a:t>DOCKERISATION</a:t>
            </a:r>
            <a:endParaRPr lang="en-US" sz="2200" dirty="0"/>
          </a:p>
        </p:txBody>
      </p:sp>
      <p:sp>
        <p:nvSpPr>
          <p:cNvPr id="23" name="Text 21"/>
          <p:cNvSpPr/>
          <p:nvPr/>
        </p:nvSpPr>
        <p:spPr>
          <a:xfrm>
            <a:off x="1016000" y="4132709"/>
            <a:ext cx="3104540" cy="2381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Note Docker</a:t>
            </a:r>
            <a:endParaRPr lang="en-US" sz="1200" dirty="0"/>
          </a:p>
        </p:txBody>
      </p:sp>
      <p:sp>
        <p:nvSpPr>
          <p:cNvPr id="24" name="Shape 22"/>
          <p:cNvSpPr/>
          <p:nvPr/>
        </p:nvSpPr>
        <p:spPr>
          <a:xfrm>
            <a:off x="4385717" y="3306167"/>
            <a:ext cx="3420517" cy="1191716"/>
          </a:xfrm>
          <a:prstGeom prst="rect">
            <a:avLst/>
          </a:prstGeom>
          <a:solidFill>
            <a:srgbClr val="131518"/>
          </a:solidFill>
          <a:ln/>
        </p:spPr>
      </p:sp>
      <p:sp>
        <p:nvSpPr>
          <p:cNvPr id="25" name="Shape 23"/>
          <p:cNvSpPr/>
          <p:nvPr/>
        </p:nvSpPr>
        <p:spPr>
          <a:xfrm>
            <a:off x="4385717" y="3318867"/>
            <a:ext cx="3420517" cy="0"/>
          </a:xfrm>
          <a:prstGeom prst="line">
            <a:avLst/>
          </a:prstGeom>
          <a:noFill/>
          <a:ln w="25400">
            <a:solidFill>
              <a:srgbClr val="FF6A00"/>
            </a:solidFill>
            <a:prstDash val="solid"/>
          </a:ln>
        </p:spPr>
      </p:sp>
      <p:sp>
        <p:nvSpPr>
          <p:cNvPr id="26" name="Text 24"/>
          <p:cNvSpPr/>
          <p:nvPr/>
        </p:nvSpPr>
        <p:spPr>
          <a:xfrm>
            <a:off x="4588917" y="3483967"/>
            <a:ext cx="3104540" cy="2381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A00"/>
                </a:solidFill>
                <a:latin typeface="Inter" pitchFamily="34" charset="0"/>
                <a:ea typeface="Inter" pitchFamily="34" charset="-122"/>
                <a:cs typeface="Inter" pitchFamily="34" charset="-120"/>
              </a:rPr>
              <a:t>05 · 7 min</a:t>
            </a:r>
            <a:endParaRPr lang="en-US" sz="1200" dirty="0"/>
          </a:p>
        </p:txBody>
      </p:sp>
      <p:sp>
        <p:nvSpPr>
          <p:cNvPr id="27" name="Text 25"/>
          <p:cNvSpPr/>
          <p:nvPr/>
        </p:nvSpPr>
        <p:spPr>
          <a:xfrm>
            <a:off x="4588917" y="3747542"/>
            <a:ext cx="3104540" cy="35976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6F8"/>
                </a:solidFill>
                <a:latin typeface="Barlow Condensed" pitchFamily="34" charset="0"/>
                <a:ea typeface="Barlow Condensed" pitchFamily="34" charset="-122"/>
                <a:cs typeface="Barlow Condensed" pitchFamily="34" charset="-120"/>
              </a:rPr>
              <a:t>ARCHITECTURE</a:t>
            </a:r>
            <a:endParaRPr lang="en-US" sz="2200" dirty="0"/>
          </a:p>
        </p:txBody>
      </p:sp>
      <p:sp>
        <p:nvSpPr>
          <p:cNvPr id="28" name="Text 26"/>
          <p:cNvSpPr/>
          <p:nvPr/>
        </p:nvSpPr>
        <p:spPr>
          <a:xfrm>
            <a:off x="4588917" y="4132709"/>
            <a:ext cx="3104540" cy="2381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Choix techniques</a:t>
            </a:r>
            <a:endParaRPr lang="en-US" sz="1200" dirty="0"/>
          </a:p>
        </p:txBody>
      </p:sp>
      <p:sp>
        <p:nvSpPr>
          <p:cNvPr id="29" name="Shape 27"/>
          <p:cNvSpPr/>
          <p:nvPr/>
        </p:nvSpPr>
        <p:spPr>
          <a:xfrm>
            <a:off x="7958634" y="3306167"/>
            <a:ext cx="3420566" cy="1191716"/>
          </a:xfrm>
          <a:prstGeom prst="rect">
            <a:avLst/>
          </a:prstGeom>
          <a:solidFill>
            <a:srgbClr val="131518"/>
          </a:solidFill>
          <a:ln/>
        </p:spPr>
      </p:sp>
      <p:sp>
        <p:nvSpPr>
          <p:cNvPr id="30" name="Shape 28"/>
          <p:cNvSpPr/>
          <p:nvPr/>
        </p:nvSpPr>
        <p:spPr>
          <a:xfrm>
            <a:off x="7958634" y="3318867"/>
            <a:ext cx="3420566" cy="0"/>
          </a:xfrm>
          <a:prstGeom prst="line">
            <a:avLst/>
          </a:prstGeom>
          <a:noFill/>
          <a:ln w="25400">
            <a:solidFill>
              <a:srgbClr val="FF6A00"/>
            </a:solidFill>
            <a:prstDash val="solid"/>
          </a:ln>
        </p:spPr>
      </p:sp>
      <p:sp>
        <p:nvSpPr>
          <p:cNvPr id="31" name="Text 29"/>
          <p:cNvSpPr/>
          <p:nvPr/>
        </p:nvSpPr>
        <p:spPr>
          <a:xfrm>
            <a:off x="8161834" y="3483967"/>
            <a:ext cx="3104591" cy="2381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A00"/>
                </a:solidFill>
                <a:latin typeface="Inter" pitchFamily="34" charset="0"/>
                <a:ea typeface="Inter" pitchFamily="34" charset="-122"/>
                <a:cs typeface="Inter" pitchFamily="34" charset="-120"/>
              </a:rPr>
              <a:t>06 · 5 min</a:t>
            </a:r>
            <a:endParaRPr lang="en-US" sz="1200" dirty="0"/>
          </a:p>
        </p:txBody>
      </p:sp>
      <p:sp>
        <p:nvSpPr>
          <p:cNvPr id="32" name="Text 30"/>
          <p:cNvSpPr/>
          <p:nvPr/>
        </p:nvSpPr>
        <p:spPr>
          <a:xfrm>
            <a:off x="8161834" y="3747542"/>
            <a:ext cx="3104591" cy="35976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6F8"/>
                </a:solidFill>
                <a:latin typeface="Barlow Condensed" pitchFamily="34" charset="0"/>
                <a:ea typeface="Barlow Condensed" pitchFamily="34" charset="-122"/>
                <a:cs typeface="Barlow Condensed" pitchFamily="34" charset="-120"/>
              </a:rPr>
              <a:t>IA, SÉCURITÉ, LIMITES</a:t>
            </a:r>
            <a:endParaRPr lang="en-US" sz="2200" dirty="0"/>
          </a:p>
        </p:txBody>
      </p:sp>
      <p:sp>
        <p:nvSpPr>
          <p:cNvPr id="33" name="Text 31"/>
          <p:cNvSpPr/>
          <p:nvPr/>
        </p:nvSpPr>
        <p:spPr>
          <a:xfrm>
            <a:off x="8161834" y="4132709"/>
            <a:ext cx="3104591" cy="2381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Recul critique</a:t>
            </a:r>
            <a:endParaRPr lang="en-US" sz="1200" dirty="0"/>
          </a:p>
        </p:txBody>
      </p:sp>
      <p:sp>
        <p:nvSpPr>
          <p:cNvPr id="34" name="Shape 32"/>
          <p:cNvSpPr/>
          <p:nvPr/>
        </p:nvSpPr>
        <p:spPr>
          <a:xfrm>
            <a:off x="812800" y="4650284"/>
            <a:ext cx="3420517" cy="1191716"/>
          </a:xfrm>
          <a:prstGeom prst="rect">
            <a:avLst/>
          </a:prstGeom>
          <a:solidFill>
            <a:srgbClr val="131518"/>
          </a:solidFill>
          <a:ln/>
        </p:spPr>
      </p:sp>
      <p:sp>
        <p:nvSpPr>
          <p:cNvPr id="35" name="Shape 33"/>
          <p:cNvSpPr/>
          <p:nvPr/>
        </p:nvSpPr>
        <p:spPr>
          <a:xfrm>
            <a:off x="812800" y="4662984"/>
            <a:ext cx="3420517" cy="0"/>
          </a:xfrm>
          <a:prstGeom prst="line">
            <a:avLst/>
          </a:prstGeom>
          <a:noFill/>
          <a:ln w="25400">
            <a:solidFill>
              <a:srgbClr val="5C636C"/>
            </a:solidFill>
            <a:prstDash val="solid"/>
          </a:ln>
        </p:spPr>
      </p:sp>
      <p:sp>
        <p:nvSpPr>
          <p:cNvPr id="36" name="Text 34"/>
          <p:cNvSpPr/>
          <p:nvPr/>
        </p:nvSpPr>
        <p:spPr>
          <a:xfrm>
            <a:off x="1016000" y="4828084"/>
            <a:ext cx="3104540" cy="2381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07 · 8 min</a:t>
            </a:r>
            <a:endParaRPr lang="en-US" sz="1200" dirty="0"/>
          </a:p>
        </p:txBody>
      </p:sp>
      <p:sp>
        <p:nvSpPr>
          <p:cNvPr id="37" name="Text 35"/>
          <p:cNvSpPr/>
          <p:nvPr/>
        </p:nvSpPr>
        <p:spPr>
          <a:xfrm>
            <a:off x="1016000" y="5091658"/>
            <a:ext cx="3104540" cy="35976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6F8"/>
                </a:solidFill>
                <a:latin typeface="Barlow Condensed" pitchFamily="34" charset="0"/>
                <a:ea typeface="Barlow Condensed" pitchFamily="34" charset="-122"/>
                <a:cs typeface="Barlow Condensed" pitchFamily="34" charset="-120"/>
              </a:rPr>
              <a:t>LIVE CODING NEXT.JS</a:t>
            </a:r>
            <a:endParaRPr lang="en-US" sz="2200" dirty="0"/>
          </a:p>
        </p:txBody>
      </p:sp>
      <p:sp>
        <p:nvSpPr>
          <p:cNvPr id="38" name="Text 36"/>
          <p:cNvSpPr/>
          <p:nvPr/>
        </p:nvSpPr>
        <p:spPr>
          <a:xfrm>
            <a:off x="1016000" y="5476825"/>
            <a:ext cx="3104540" cy="2381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Sans agent IA</a:t>
            </a:r>
            <a:endParaRPr lang="en-US" sz="1200" dirty="0"/>
          </a:p>
        </p:txBody>
      </p:sp>
      <p:sp>
        <p:nvSpPr>
          <p:cNvPr id="39" name="Shape 37"/>
          <p:cNvSpPr/>
          <p:nvPr/>
        </p:nvSpPr>
        <p:spPr>
          <a:xfrm>
            <a:off x="4385717" y="4650284"/>
            <a:ext cx="3420517" cy="1191716"/>
          </a:xfrm>
          <a:prstGeom prst="rect">
            <a:avLst/>
          </a:prstGeom>
          <a:solidFill>
            <a:srgbClr val="131518"/>
          </a:solidFill>
          <a:ln/>
        </p:spPr>
      </p:sp>
      <p:sp>
        <p:nvSpPr>
          <p:cNvPr id="40" name="Shape 38"/>
          <p:cNvSpPr/>
          <p:nvPr/>
        </p:nvSpPr>
        <p:spPr>
          <a:xfrm>
            <a:off x="4385717" y="4662984"/>
            <a:ext cx="3420517" cy="0"/>
          </a:xfrm>
          <a:prstGeom prst="line">
            <a:avLst/>
          </a:prstGeom>
          <a:noFill/>
          <a:ln w="25400">
            <a:solidFill>
              <a:srgbClr val="5C636C"/>
            </a:solidFill>
            <a:prstDash val="solid"/>
          </a:ln>
        </p:spPr>
      </p:sp>
      <p:sp>
        <p:nvSpPr>
          <p:cNvPr id="41" name="Text 39"/>
          <p:cNvSpPr/>
          <p:nvPr/>
        </p:nvSpPr>
        <p:spPr>
          <a:xfrm>
            <a:off x="4588917" y="4828084"/>
            <a:ext cx="3104540" cy="2381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08 · 7 min</a:t>
            </a:r>
            <a:endParaRPr lang="en-US" sz="1200" dirty="0"/>
          </a:p>
        </p:txBody>
      </p:sp>
      <p:sp>
        <p:nvSpPr>
          <p:cNvPr id="42" name="Text 40"/>
          <p:cNvSpPr/>
          <p:nvPr/>
        </p:nvSpPr>
        <p:spPr>
          <a:xfrm>
            <a:off x="4588917" y="5091658"/>
            <a:ext cx="3104540" cy="35976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6F8"/>
                </a:solidFill>
                <a:latin typeface="Barlow Condensed" pitchFamily="34" charset="0"/>
                <a:ea typeface="Barlow Condensed" pitchFamily="34" charset="-122"/>
                <a:cs typeface="Barlow Condensed" pitchFamily="34" charset="-120"/>
              </a:rPr>
              <a:t>LIVE CODING MOBILE</a:t>
            </a:r>
            <a:endParaRPr lang="en-US" sz="2200" dirty="0"/>
          </a:p>
        </p:txBody>
      </p:sp>
      <p:sp>
        <p:nvSpPr>
          <p:cNvPr id="43" name="Text 41"/>
          <p:cNvSpPr/>
          <p:nvPr/>
        </p:nvSpPr>
        <p:spPr>
          <a:xfrm>
            <a:off x="4588917" y="5476825"/>
            <a:ext cx="3104540" cy="2381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Sans agent IA</a:t>
            </a:r>
            <a:endParaRPr lang="en-US" sz="1200" dirty="0"/>
          </a:p>
        </p:txBody>
      </p:sp>
      <p:sp>
        <p:nvSpPr>
          <p:cNvPr id="44" name="Shape 42"/>
          <p:cNvSpPr/>
          <p:nvPr/>
        </p:nvSpPr>
        <p:spPr>
          <a:xfrm>
            <a:off x="7958634" y="4650284"/>
            <a:ext cx="3420566" cy="1191716"/>
          </a:xfrm>
          <a:prstGeom prst="rect">
            <a:avLst/>
          </a:prstGeom>
          <a:solidFill>
            <a:srgbClr val="131518"/>
          </a:solidFill>
          <a:ln/>
        </p:spPr>
      </p:sp>
      <p:sp>
        <p:nvSpPr>
          <p:cNvPr id="45" name="Shape 43"/>
          <p:cNvSpPr/>
          <p:nvPr/>
        </p:nvSpPr>
        <p:spPr>
          <a:xfrm>
            <a:off x="7958634" y="4662984"/>
            <a:ext cx="3420566" cy="0"/>
          </a:xfrm>
          <a:prstGeom prst="line">
            <a:avLst/>
          </a:prstGeom>
          <a:noFill/>
          <a:ln w="25400">
            <a:solidFill>
              <a:srgbClr val="5C636C"/>
            </a:solidFill>
            <a:prstDash val="solid"/>
          </a:ln>
        </p:spPr>
      </p:sp>
      <p:sp>
        <p:nvSpPr>
          <p:cNvPr id="46" name="Text 44"/>
          <p:cNvSpPr/>
          <p:nvPr/>
        </p:nvSpPr>
        <p:spPr>
          <a:xfrm>
            <a:off x="8161834" y="4828084"/>
            <a:ext cx="3104591" cy="2381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09 · 3 min</a:t>
            </a:r>
            <a:endParaRPr lang="en-US" sz="1200" dirty="0"/>
          </a:p>
        </p:txBody>
      </p:sp>
      <p:sp>
        <p:nvSpPr>
          <p:cNvPr id="47" name="Text 45"/>
          <p:cNvSpPr/>
          <p:nvPr/>
        </p:nvSpPr>
        <p:spPr>
          <a:xfrm>
            <a:off x="8161834" y="5091658"/>
            <a:ext cx="3104591" cy="35976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6F8"/>
                </a:solidFill>
                <a:latin typeface="Barlow Condensed" pitchFamily="34" charset="0"/>
                <a:ea typeface="Barlow Condensed" pitchFamily="34" charset="-122"/>
                <a:cs typeface="Barlow Condensed" pitchFamily="34" charset="-120"/>
              </a:rPr>
              <a:t>QUESTIONS DOCKER</a:t>
            </a:r>
            <a:endParaRPr lang="en-US" sz="2200" dirty="0"/>
          </a:p>
        </p:txBody>
      </p:sp>
      <p:sp>
        <p:nvSpPr>
          <p:cNvPr id="48" name="Text 46"/>
          <p:cNvSpPr/>
          <p:nvPr/>
        </p:nvSpPr>
        <p:spPr>
          <a:xfrm>
            <a:off x="8161834" y="5476825"/>
            <a:ext cx="3104591" cy="2381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Si nécessaire</a:t>
            </a:r>
            <a:endParaRPr lang="en-US" sz="1200" dirty="0"/>
          </a:p>
        </p:txBody>
      </p:sp>
      <p:sp>
        <p:nvSpPr>
          <p:cNvPr id="49" name="Text 47"/>
          <p:cNvSpPr/>
          <p:nvPr/>
        </p:nvSpPr>
        <p:spPr>
          <a:xfrm>
            <a:off x="812800" y="6238280"/>
            <a:ext cx="3313033"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SOUTENANCE FINALE</a:t>
            </a:r>
            <a:endParaRPr lang="en-US" sz="1200" dirty="0"/>
          </a:p>
        </p:txBody>
      </p:sp>
      <p:sp>
        <p:nvSpPr>
          <p:cNvPr id="50" name="Text 48"/>
          <p:cNvSpPr/>
          <p:nvPr/>
        </p:nvSpPr>
        <p:spPr>
          <a:xfrm>
            <a:off x="11139289" y="6238280"/>
            <a:ext cx="23991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01 · CONCEPT PRODUIT</a:t>
            </a:r>
            <a:endParaRPr lang="en-US" sz="1200" dirty="0"/>
          </a:p>
        </p:txBody>
      </p:sp>
      <p:sp>
        <p:nvSpPr>
          <p:cNvPr id="3" name="Text 1"/>
          <p:cNvSpPr/>
          <p:nvPr>
            <p:ph type="title"/>
          </p:nvPr>
        </p:nvSpPr>
        <p:spPr>
          <a:xfrm>
            <a:off x="812800" y="1127720"/>
            <a:ext cx="10883392" cy="985441"/>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UN ATELIER PARTAGÉ SE GÈRE AVEC TROIS OUTILS</a:t>
            </a:r>
            <a:endParaRPr lang="en-US" sz="3600" dirty="0"/>
          </a:p>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QUI SE CONTREDISENT</a:t>
            </a:r>
            <a:endParaRPr lang="en-US" sz="3600" dirty="0"/>
          </a:p>
        </p:txBody>
      </p:sp>
      <p:sp>
        <p:nvSpPr>
          <p:cNvPr id="4" name="Shape 2"/>
          <p:cNvSpPr/>
          <p:nvPr/>
        </p:nvSpPr>
        <p:spPr>
          <a:xfrm>
            <a:off x="815975" y="3190974"/>
            <a:ext cx="3380284" cy="2647851"/>
          </a:xfrm>
          <a:prstGeom prst="rect">
            <a:avLst/>
          </a:prstGeom>
          <a:solidFill>
            <a:srgbClr val="131518"/>
          </a:solidFill>
          <a:ln w="6350">
            <a:solidFill>
              <a:srgbClr val="2A2E35"/>
            </a:solidFill>
            <a:prstDash val="solid"/>
          </a:ln>
        </p:spPr>
      </p:sp>
      <p:sp>
        <p:nvSpPr>
          <p:cNvPr id="5" name="Text 3"/>
          <p:cNvSpPr/>
          <p:nvPr/>
        </p:nvSpPr>
        <p:spPr>
          <a:xfrm>
            <a:off x="1073150" y="3448149"/>
            <a:ext cx="2951912"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F6A00"/>
                </a:solidFill>
                <a:latin typeface="Barlow Condensed" pitchFamily="34" charset="0"/>
                <a:ea typeface="Barlow Condensed" pitchFamily="34" charset="-122"/>
                <a:cs typeface="Barlow Condensed" pitchFamily="34" charset="-120"/>
              </a:rPr>
              <a:t>01</a:t>
            </a:r>
            <a:endParaRPr lang="en-US" sz="3600" dirty="0"/>
          </a:p>
        </p:txBody>
      </p:sp>
      <p:sp>
        <p:nvSpPr>
          <p:cNvPr id="6" name="Text 4"/>
          <p:cNvSpPr/>
          <p:nvPr/>
        </p:nvSpPr>
        <p:spPr>
          <a:xfrm>
            <a:off x="1073150" y="4215209"/>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6F8"/>
                </a:solidFill>
                <a:latin typeface="Barlow Condensed" pitchFamily="34" charset="0"/>
                <a:ea typeface="Barlow Condensed" pitchFamily="34" charset="-122"/>
                <a:cs typeface="Barlow Condensed" pitchFamily="34" charset="-120"/>
              </a:rPr>
              <a:t>LE GROUPE DE MESSAGERIE</a:t>
            </a:r>
            <a:endParaRPr lang="en-US" sz="2200" dirty="0"/>
          </a:p>
        </p:txBody>
      </p:sp>
      <p:sp>
        <p:nvSpPr>
          <p:cNvPr id="7" name="Text 5"/>
          <p:cNvSpPr/>
          <p:nvPr/>
        </p:nvSpPr>
        <p:spPr>
          <a:xfrm>
            <a:off x="1073150" y="4677470"/>
            <a:ext cx="295191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3C8CF"/>
                </a:solidFill>
                <a:latin typeface="Inter" pitchFamily="34" charset="0"/>
                <a:ea typeface="Inter" pitchFamily="34" charset="-122"/>
                <a:cs typeface="Inter" pitchFamily="34" charset="-120"/>
              </a:rPr>
              <a:t>Personne ne sait qui est habilité sur quoi.</a:t>
            </a:r>
            <a:endParaRPr lang="en-US" sz="1600" dirty="0"/>
          </a:p>
        </p:txBody>
      </p:sp>
      <p:sp>
        <p:nvSpPr>
          <p:cNvPr id="8" name="Shape 6"/>
          <p:cNvSpPr/>
          <p:nvPr/>
        </p:nvSpPr>
        <p:spPr>
          <a:xfrm>
            <a:off x="4405809" y="3190974"/>
            <a:ext cx="3380333" cy="2647851"/>
          </a:xfrm>
          <a:prstGeom prst="rect">
            <a:avLst/>
          </a:prstGeom>
          <a:solidFill>
            <a:srgbClr val="131518"/>
          </a:solidFill>
          <a:ln w="6350">
            <a:solidFill>
              <a:srgbClr val="2A2E35"/>
            </a:solidFill>
            <a:prstDash val="solid"/>
          </a:ln>
        </p:spPr>
      </p:sp>
      <p:sp>
        <p:nvSpPr>
          <p:cNvPr id="9" name="Text 7"/>
          <p:cNvSpPr/>
          <p:nvPr/>
        </p:nvSpPr>
        <p:spPr>
          <a:xfrm>
            <a:off x="4662984" y="3448149"/>
            <a:ext cx="2951963"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F6A00"/>
                </a:solidFill>
                <a:latin typeface="Barlow Condensed" pitchFamily="34" charset="0"/>
                <a:ea typeface="Barlow Condensed" pitchFamily="34" charset="-122"/>
                <a:cs typeface="Barlow Condensed" pitchFamily="34" charset="-120"/>
              </a:rPr>
              <a:t>02</a:t>
            </a:r>
            <a:endParaRPr lang="en-US" sz="3600" dirty="0"/>
          </a:p>
        </p:txBody>
      </p:sp>
      <p:sp>
        <p:nvSpPr>
          <p:cNvPr id="10" name="Text 8"/>
          <p:cNvSpPr/>
          <p:nvPr/>
        </p:nvSpPr>
        <p:spPr>
          <a:xfrm>
            <a:off x="4662984" y="4215209"/>
            <a:ext cx="295196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6F8"/>
                </a:solidFill>
                <a:latin typeface="Barlow Condensed" pitchFamily="34" charset="0"/>
                <a:ea typeface="Barlow Condensed" pitchFamily="34" charset="-122"/>
                <a:cs typeface="Barlow Condensed" pitchFamily="34" charset="-120"/>
              </a:rPr>
              <a:t>LE TABLEUR</a:t>
            </a:r>
            <a:endParaRPr lang="en-US" sz="2200" dirty="0"/>
          </a:p>
        </p:txBody>
      </p:sp>
      <p:sp>
        <p:nvSpPr>
          <p:cNvPr id="11" name="Text 9"/>
          <p:cNvSpPr/>
          <p:nvPr/>
        </p:nvSpPr>
        <p:spPr>
          <a:xfrm>
            <a:off x="4662984" y="4677470"/>
            <a:ext cx="2951963"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3C8CF"/>
                </a:solidFill>
                <a:latin typeface="Inter" pitchFamily="34" charset="0"/>
                <a:ea typeface="Inter" pitchFamily="34" charset="-122"/>
                <a:cs typeface="Inter" pitchFamily="34" charset="-120"/>
              </a:rPr>
              <a:t>Deux personnes réservent le même créneau.</a:t>
            </a:r>
            <a:endParaRPr lang="en-US" sz="1600" dirty="0"/>
          </a:p>
        </p:txBody>
      </p:sp>
      <p:sp>
        <p:nvSpPr>
          <p:cNvPr id="12" name="Shape 10"/>
          <p:cNvSpPr/>
          <p:nvPr/>
        </p:nvSpPr>
        <p:spPr>
          <a:xfrm>
            <a:off x="7995692" y="3190974"/>
            <a:ext cx="3380333" cy="2647851"/>
          </a:xfrm>
          <a:prstGeom prst="rect">
            <a:avLst/>
          </a:prstGeom>
          <a:solidFill>
            <a:srgbClr val="131518"/>
          </a:solidFill>
          <a:ln w="6350">
            <a:solidFill>
              <a:srgbClr val="2A2E35"/>
            </a:solidFill>
            <a:prstDash val="solid"/>
          </a:ln>
        </p:spPr>
      </p:sp>
      <p:sp>
        <p:nvSpPr>
          <p:cNvPr id="13" name="Text 11"/>
          <p:cNvSpPr/>
          <p:nvPr/>
        </p:nvSpPr>
        <p:spPr>
          <a:xfrm>
            <a:off x="8252867" y="3448149"/>
            <a:ext cx="2951963"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F6A00"/>
                </a:solidFill>
                <a:latin typeface="Barlow Condensed" pitchFamily="34" charset="0"/>
                <a:ea typeface="Barlow Condensed" pitchFamily="34" charset="-122"/>
                <a:cs typeface="Barlow Condensed" pitchFamily="34" charset="-120"/>
              </a:rPr>
              <a:t>03</a:t>
            </a:r>
            <a:endParaRPr lang="en-US" sz="3600" dirty="0"/>
          </a:p>
        </p:txBody>
      </p:sp>
      <p:sp>
        <p:nvSpPr>
          <p:cNvPr id="14" name="Text 12"/>
          <p:cNvSpPr/>
          <p:nvPr/>
        </p:nvSpPr>
        <p:spPr>
          <a:xfrm>
            <a:off x="8252867" y="4215209"/>
            <a:ext cx="2951963" cy="6959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6F8"/>
                </a:solidFill>
                <a:latin typeface="Barlow Condensed" pitchFamily="34" charset="0"/>
                <a:ea typeface="Barlow Condensed" pitchFamily="34" charset="-122"/>
                <a:cs typeface="Barlow Condensed" pitchFamily="34" charset="-120"/>
              </a:rPr>
              <a:t>LE CAHIER PRÈS DE LA MACHINE</a:t>
            </a:r>
            <a:endParaRPr lang="en-US" sz="2200" dirty="0"/>
          </a:p>
        </p:txBody>
      </p:sp>
      <p:sp>
        <p:nvSpPr>
          <p:cNvPr id="15" name="Text 13"/>
          <p:cNvSpPr/>
          <p:nvPr/>
        </p:nvSpPr>
        <p:spPr>
          <a:xfrm>
            <a:off x="8252867" y="5012730"/>
            <a:ext cx="2951963"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3C8CF"/>
                </a:solidFill>
                <a:latin typeface="Inter" pitchFamily="34" charset="0"/>
                <a:ea typeface="Inter" pitchFamily="34" charset="-122"/>
                <a:cs typeface="Inter" pitchFamily="34" charset="-120"/>
              </a:rPr>
              <a:t>Rien ne prouve qu'une réservation a été honorée.</a:t>
            </a:r>
            <a:endParaRPr lang="en-US" sz="1600" dirty="0"/>
          </a:p>
        </p:txBody>
      </p:sp>
      <p:sp>
        <p:nvSpPr>
          <p:cNvPr id="16" name="Text 14"/>
          <p:cNvSpPr/>
          <p:nvPr/>
        </p:nvSpPr>
        <p:spPr>
          <a:xfrm>
            <a:off x="812800" y="6238280"/>
            <a:ext cx="306556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CONCEPT PRODUIT</a:t>
            </a:r>
            <a:endParaRPr lang="en-US" sz="1200" dirty="0"/>
          </a:p>
        </p:txBody>
      </p:sp>
      <p:sp>
        <p:nvSpPr>
          <p:cNvPr id="17" name="Text 15"/>
          <p:cNvSpPr/>
          <p:nvPr/>
        </p:nvSpPr>
        <p:spPr>
          <a:xfrm>
            <a:off x="11138098" y="6238280"/>
            <a:ext cx="24110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130557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LA PROMESSE</a:t>
            </a:r>
            <a:endParaRPr lang="en-US" sz="1200" dirty="0"/>
          </a:p>
        </p:txBody>
      </p:sp>
      <p:sp>
        <p:nvSpPr>
          <p:cNvPr id="3" name="Text 1"/>
          <p:cNvSpPr/>
          <p:nvPr>
            <p:ph type="title"/>
          </p:nvPr>
        </p:nvSpPr>
        <p:spPr>
          <a:xfrm>
            <a:off x="812800" y="1874490"/>
            <a:ext cx="10883392" cy="990600"/>
          </a:xfrm>
          <a:prstGeom prst="rect">
            <a:avLst/>
          </a:prstGeom>
          <a:noFill/>
          <a:ln/>
        </p:spPr>
        <p:txBody>
          <a:bodyPr wrap="square" lIns="0" tIns="0" rIns="0" bIns="0" rtlCol="0" anchor="t">
            <a:normAutofit/>
          </a:bodyPr>
          <a:lstStyle/>
          <a:p>
            <a:pPr algn="l" indent="0" marL="0">
              <a:lnSpc>
                <a:spcPts val="7600"/>
              </a:lnSpc>
              <a:buNone/>
            </a:pPr>
            <a:r>
              <a:rPr lang="en-US" sz="8000" b="1" i="0" dirty="0">
                <a:solidFill>
                  <a:srgbClr val="FF6A00"/>
                </a:solidFill>
                <a:latin typeface="Barlow Condensed" pitchFamily="34" charset="0"/>
                <a:ea typeface="Barlow Condensed" pitchFamily="34" charset="-122"/>
                <a:cs typeface="Barlow Condensed" pitchFamily="34" charset="-120"/>
              </a:rPr>
              <a:t>UNE SEULE SOURCE</a:t>
            </a:r>
            <a:endParaRPr lang="en-US" sz="8000" dirty="0"/>
          </a:p>
        </p:txBody>
      </p:sp>
      <p:sp>
        <p:nvSpPr>
          <p:cNvPr id="4" name="Shape 2"/>
          <p:cNvSpPr/>
          <p:nvPr/>
        </p:nvSpPr>
        <p:spPr>
          <a:xfrm>
            <a:off x="812800" y="3201640"/>
            <a:ext cx="10566400" cy="0"/>
          </a:xfrm>
          <a:prstGeom prst="line">
            <a:avLst/>
          </a:prstGeom>
          <a:noFill/>
          <a:ln w="12700">
            <a:solidFill>
              <a:srgbClr val="FF6A00"/>
            </a:solidFill>
            <a:prstDash val="solid"/>
          </a:ln>
        </p:spPr>
      </p:sp>
      <p:sp>
        <p:nvSpPr>
          <p:cNvPr id="5" name="Shape 3"/>
          <p:cNvSpPr/>
          <p:nvPr/>
        </p:nvSpPr>
        <p:spPr>
          <a:xfrm>
            <a:off x="812800" y="3915370"/>
            <a:ext cx="10566400" cy="0"/>
          </a:xfrm>
          <a:prstGeom prst="line">
            <a:avLst/>
          </a:prstGeom>
          <a:noFill/>
          <a:ln w="12700">
            <a:solidFill>
              <a:srgbClr val="FF6A00"/>
            </a:solidFill>
            <a:prstDash val="solid"/>
          </a:ln>
        </p:spPr>
      </p:sp>
      <p:sp>
        <p:nvSpPr>
          <p:cNvPr id="6" name="Text 4"/>
          <p:cNvSpPr/>
          <p:nvPr/>
        </p:nvSpPr>
        <p:spPr>
          <a:xfrm>
            <a:off x="812800" y="3309590"/>
            <a:ext cx="10883392"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4F6F8"/>
                </a:solidFill>
                <a:latin typeface="Barlow Condensed" pitchFamily="34" charset="0"/>
                <a:ea typeface="Barlow Condensed" pitchFamily="34" charset="-122"/>
                <a:cs typeface="Barlow Condensed" pitchFamily="34" charset="-120"/>
              </a:rPr>
              <a:t>L'HABILITATION CONDITIONNE LA RÉSERVATION.</a:t>
            </a:r>
            <a:endParaRPr lang="en-US" sz="2800" dirty="0"/>
          </a:p>
        </p:txBody>
      </p:sp>
      <p:sp>
        <p:nvSpPr>
          <p:cNvPr id="7" name="Shape 5"/>
          <p:cNvSpPr/>
          <p:nvPr/>
        </p:nvSpPr>
        <p:spPr>
          <a:xfrm>
            <a:off x="812800" y="4629100"/>
            <a:ext cx="10566400" cy="0"/>
          </a:xfrm>
          <a:prstGeom prst="line">
            <a:avLst/>
          </a:prstGeom>
          <a:noFill/>
          <a:ln w="12700">
            <a:solidFill>
              <a:srgbClr val="FF6A00"/>
            </a:solidFill>
            <a:prstDash val="solid"/>
          </a:ln>
        </p:spPr>
      </p:sp>
      <p:sp>
        <p:nvSpPr>
          <p:cNvPr id="8" name="Text 6"/>
          <p:cNvSpPr/>
          <p:nvPr/>
        </p:nvSpPr>
        <p:spPr>
          <a:xfrm>
            <a:off x="812800" y="4023320"/>
            <a:ext cx="10883392"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4F6F8"/>
                </a:solidFill>
                <a:latin typeface="Barlow Condensed" pitchFamily="34" charset="0"/>
                <a:ea typeface="Barlow Condensed" pitchFamily="34" charset="-122"/>
                <a:cs typeface="Barlow Condensed" pitchFamily="34" charset="-120"/>
              </a:rPr>
              <a:t>LE CRÉNEAU EST EXCLUSIF.</a:t>
            </a:r>
            <a:endParaRPr lang="en-US" sz="2800" dirty="0"/>
          </a:p>
        </p:txBody>
      </p:sp>
      <p:sp>
        <p:nvSpPr>
          <p:cNvPr id="9" name="Shape 7"/>
          <p:cNvSpPr/>
          <p:nvPr/>
        </p:nvSpPr>
        <p:spPr>
          <a:xfrm>
            <a:off x="812800" y="5342830"/>
            <a:ext cx="10566400" cy="0"/>
          </a:xfrm>
          <a:prstGeom prst="line">
            <a:avLst/>
          </a:prstGeom>
          <a:noFill/>
          <a:ln w="12700">
            <a:solidFill>
              <a:srgbClr val="FF6A00"/>
            </a:solidFill>
            <a:prstDash val="solid"/>
          </a:ln>
        </p:spPr>
      </p:sp>
      <p:sp>
        <p:nvSpPr>
          <p:cNvPr id="10" name="Text 8"/>
          <p:cNvSpPr/>
          <p:nvPr/>
        </p:nvSpPr>
        <p:spPr>
          <a:xfrm>
            <a:off x="812800" y="4737050"/>
            <a:ext cx="10883392"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4F6F8"/>
                </a:solidFill>
                <a:latin typeface="Barlow Condensed" pitchFamily="34" charset="0"/>
                <a:ea typeface="Barlow Condensed" pitchFamily="34" charset="-122"/>
                <a:cs typeface="Barlow Condensed" pitchFamily="34" charset="-120"/>
              </a:rPr>
              <a:t>LA PRÉSENCE EST PROUVÉE PAR QR CODE.</a:t>
            </a:r>
            <a:endParaRPr lang="en-US" sz="2800" dirty="0"/>
          </a:p>
        </p:txBody>
      </p:sp>
      <p:sp>
        <p:nvSpPr>
          <p:cNvPr id="11" name="Text 9"/>
          <p:cNvSpPr/>
          <p:nvPr/>
        </p:nvSpPr>
        <p:spPr>
          <a:xfrm>
            <a:off x="812800" y="6238280"/>
            <a:ext cx="306556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CONCEPT PRODUIT</a:t>
            </a:r>
            <a:endParaRPr lang="en-US" sz="1200" dirty="0"/>
          </a:p>
        </p:txBody>
      </p:sp>
      <p:sp>
        <p:nvSpPr>
          <p:cNvPr id="12" name="Text 10"/>
          <p:cNvSpPr/>
          <p:nvPr/>
        </p:nvSpPr>
        <p:spPr>
          <a:xfrm>
            <a:off x="11133782" y="6238280"/>
            <a:ext cx="24541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01 · CONCEPT PRODUIT</a:t>
            </a:r>
            <a:endParaRPr lang="en-US" sz="1200" dirty="0"/>
          </a:p>
        </p:txBody>
      </p:sp>
      <p:sp>
        <p:nvSpPr>
          <p:cNvPr id="3" name="Text 1"/>
          <p:cNvSpPr/>
          <p:nvPr>
            <p:ph type="title"/>
          </p:nvPr>
        </p:nvSpPr>
        <p:spPr>
          <a:xfrm>
            <a:off x="812800" y="11277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QUATRE PROFILS, UN MÊME PRODUIT</a:t>
            </a:r>
            <a:endParaRPr lang="en-US" sz="3600" dirty="0"/>
          </a:p>
        </p:txBody>
      </p:sp>
      <p:sp>
        <p:nvSpPr>
          <p:cNvPr id="4" name="Shape 2"/>
          <p:cNvSpPr/>
          <p:nvPr/>
        </p:nvSpPr>
        <p:spPr>
          <a:xfrm>
            <a:off x="815975" y="1966516"/>
            <a:ext cx="2520950" cy="3872309"/>
          </a:xfrm>
          <a:prstGeom prst="rect">
            <a:avLst/>
          </a:prstGeom>
          <a:solidFill>
            <a:srgbClr val="131518"/>
          </a:solidFill>
          <a:ln w="6350">
            <a:solidFill>
              <a:srgbClr val="2A2E35"/>
            </a:solidFill>
            <a:prstDash val="solid"/>
          </a:ln>
        </p:spPr>
      </p:sp>
      <p:pic>
        <p:nvPicPr>
          <p:cNvPr id="5" name="Image 0" descr="Globe">    </p:cNvPr>
          <p:cNvPicPr>
            <a:picLocks noChangeAspect="1"/>
          </p:cNvPicPr>
          <p:nvPr/>
        </p:nvPicPr>
        <p:blipFill>
          <a:blip r:embed="rId1"/>
          <a:srcRect l="0" r="0" t="0" b="0"/>
          <a:stretch/>
        </p:blipFill>
        <p:spPr>
          <a:xfrm>
            <a:off x="1047750" y="2198291"/>
            <a:ext cx="355600" cy="355600"/>
          </a:xfrm>
          <a:prstGeom prst="rect">
            <a:avLst/>
          </a:prstGeom>
        </p:spPr>
      </p:pic>
      <p:sp>
        <p:nvSpPr>
          <p:cNvPr id="6" name="Text 3"/>
          <p:cNvSpPr/>
          <p:nvPr/>
        </p:nvSpPr>
        <p:spPr>
          <a:xfrm>
            <a:off x="1047750" y="2680891"/>
            <a:ext cx="211912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6F8"/>
                </a:solidFill>
                <a:latin typeface="Barlow Condensed" pitchFamily="34" charset="0"/>
                <a:ea typeface="Barlow Condensed" pitchFamily="34" charset="-122"/>
                <a:cs typeface="Barlow Condensed" pitchFamily="34" charset="-120"/>
              </a:rPr>
              <a:t>VISITEUR</a:t>
            </a:r>
            <a:endParaRPr lang="en-US" sz="2200" dirty="0"/>
          </a:p>
        </p:txBody>
      </p:sp>
      <p:sp>
        <p:nvSpPr>
          <p:cNvPr id="7" name="Text 4"/>
          <p:cNvSpPr/>
          <p:nvPr/>
        </p:nvSpPr>
        <p:spPr>
          <a:xfrm>
            <a:off x="1047750" y="3143151"/>
            <a:ext cx="21191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Sans compte</a:t>
            </a:r>
            <a:endParaRPr lang="en-US" sz="1200" dirty="0"/>
          </a:p>
        </p:txBody>
      </p:sp>
      <p:sp>
        <p:nvSpPr>
          <p:cNvPr id="8" name="Text 5"/>
          <p:cNvSpPr/>
          <p:nvPr/>
        </p:nvSpPr>
        <p:spPr>
          <a:xfrm>
            <a:off x="1152906" y="3483471"/>
            <a:ext cx="2006346" cy="909241"/>
          </a:xfrm>
          <a:prstGeom prst="rect">
            <a:avLst/>
          </a:prstGeom>
          <a:noFill/>
          <a:ln/>
        </p:spPr>
        <p:txBody>
          <a:bodyPr wrap="square" lIns="0" tIns="0" rIns="0" bIns="0" rtlCol="0" anchor="t">
            <a:normAutofit/>
          </a:bodyPr>
          <a:lstStyle/>
          <a:p>
            <a:pPr algn="l" marL="148844" indent="-148844">
              <a:lnSpc>
                <a:spcPts val="1740"/>
              </a:lnSpc>
              <a:buSzPct val="100000"/>
              <a:buChar char="•"/>
            </a:pPr>
            <a:r>
              <a:rPr lang="en-US" sz="1200" dirty="0">
                <a:solidFill>
                  <a:srgbClr val="C3C8CF"/>
                </a:solidFill>
                <a:latin typeface="Inter" pitchFamily="34" charset="0"/>
                <a:ea typeface="Inter" pitchFamily="34" charset="-122"/>
                <a:cs typeface="Inter" pitchFamily="34" charset="-120"/>
              </a:rPr>
              <a:t>Annuaire et carte</a:t>
            </a:r>
            <a:endParaRPr lang="en-US" sz="1200" dirty="0"/>
          </a:p>
          <a:p>
            <a:pPr algn="l" marL="148844" indent="-148844">
              <a:lnSpc>
                <a:spcPts val="1740"/>
              </a:lnSpc>
              <a:buSzPct val="100000"/>
              <a:buChar char="•"/>
            </a:pPr>
            <a:r>
              <a:rPr lang="en-US" sz="1200" dirty="0">
                <a:solidFill>
                  <a:srgbClr val="C3C8CF"/>
                </a:solidFill>
                <a:latin typeface="Inter" pitchFamily="34" charset="0"/>
                <a:ea typeface="Inter" pitchFamily="34" charset="-122"/>
                <a:cs typeface="Inter" pitchFamily="34" charset="-120"/>
              </a:rPr>
              <a:t>Fiche d'atelier</a:t>
            </a:r>
            <a:endParaRPr lang="en-US" sz="1200" dirty="0"/>
          </a:p>
          <a:p>
            <a:pPr algn="l" marL="148844" indent="-148844">
              <a:lnSpc>
                <a:spcPts val="1740"/>
              </a:lnSpc>
              <a:buSzPct val="100000"/>
              <a:buChar char="•"/>
            </a:pPr>
            <a:r>
              <a:rPr lang="en-US" sz="1200" dirty="0">
                <a:solidFill>
                  <a:srgbClr val="C3C8CF"/>
                </a:solidFill>
                <a:latin typeface="Inter" pitchFamily="34" charset="0"/>
                <a:ea typeface="Inter" pitchFamily="34" charset="-122"/>
                <a:cs typeface="Inter" pitchFamily="34" charset="-120"/>
              </a:rPr>
              <a:t>Fiche machine et sa semaine</a:t>
            </a:r>
            <a:endParaRPr lang="en-US" sz="1200" dirty="0"/>
          </a:p>
        </p:txBody>
      </p:sp>
      <p:sp>
        <p:nvSpPr>
          <p:cNvPr id="9" name="Shape 6"/>
          <p:cNvSpPr/>
          <p:nvPr/>
        </p:nvSpPr>
        <p:spPr>
          <a:xfrm>
            <a:off x="3495675" y="1966516"/>
            <a:ext cx="2520950" cy="3872309"/>
          </a:xfrm>
          <a:prstGeom prst="rect">
            <a:avLst/>
          </a:prstGeom>
          <a:solidFill>
            <a:srgbClr val="131518"/>
          </a:solidFill>
          <a:ln w="6350">
            <a:solidFill>
              <a:srgbClr val="2A2E35"/>
            </a:solidFill>
            <a:prstDash val="solid"/>
          </a:ln>
        </p:spPr>
      </p:sp>
      <p:pic>
        <p:nvPicPr>
          <p:cNvPr id="10" name="Image 1" descr="Users">    </p:cNvPr>
          <p:cNvPicPr>
            <a:picLocks noChangeAspect="1"/>
          </p:cNvPicPr>
          <p:nvPr/>
        </p:nvPicPr>
        <p:blipFill>
          <a:blip r:embed="rId2"/>
          <a:srcRect l="0" r="0" t="0" b="0"/>
          <a:stretch/>
        </p:blipFill>
        <p:spPr>
          <a:xfrm>
            <a:off x="3727450" y="2198291"/>
            <a:ext cx="355600" cy="355600"/>
          </a:xfrm>
          <a:prstGeom prst="rect">
            <a:avLst/>
          </a:prstGeom>
        </p:spPr>
      </p:pic>
      <p:sp>
        <p:nvSpPr>
          <p:cNvPr id="11" name="Text 7"/>
          <p:cNvSpPr/>
          <p:nvPr/>
        </p:nvSpPr>
        <p:spPr>
          <a:xfrm>
            <a:off x="3727450" y="2680891"/>
            <a:ext cx="211912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6F8"/>
                </a:solidFill>
                <a:latin typeface="Barlow Condensed" pitchFamily="34" charset="0"/>
                <a:ea typeface="Barlow Condensed" pitchFamily="34" charset="-122"/>
                <a:cs typeface="Barlow Condensed" pitchFamily="34" charset="-120"/>
              </a:rPr>
              <a:t>MEMBRE</a:t>
            </a:r>
            <a:endParaRPr lang="en-US" sz="2200" dirty="0"/>
          </a:p>
        </p:txBody>
      </p:sp>
      <p:sp>
        <p:nvSpPr>
          <p:cNvPr id="12" name="Text 8"/>
          <p:cNvSpPr/>
          <p:nvPr/>
        </p:nvSpPr>
        <p:spPr>
          <a:xfrm>
            <a:off x="3727450" y="3143151"/>
            <a:ext cx="21191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Web et mobile</a:t>
            </a:r>
            <a:endParaRPr lang="en-US" sz="1200" dirty="0"/>
          </a:p>
        </p:txBody>
      </p:sp>
      <p:sp>
        <p:nvSpPr>
          <p:cNvPr id="13" name="Text 9"/>
          <p:cNvSpPr/>
          <p:nvPr/>
        </p:nvSpPr>
        <p:spPr>
          <a:xfrm>
            <a:off x="3832606" y="3483471"/>
            <a:ext cx="2006346" cy="909241"/>
          </a:xfrm>
          <a:prstGeom prst="rect">
            <a:avLst/>
          </a:prstGeom>
          <a:noFill/>
          <a:ln/>
        </p:spPr>
        <p:txBody>
          <a:bodyPr wrap="square" lIns="0" tIns="0" rIns="0" bIns="0" rtlCol="0" anchor="t">
            <a:normAutofit/>
          </a:bodyPr>
          <a:lstStyle/>
          <a:p>
            <a:pPr algn="l" marL="148844" indent="-148844">
              <a:lnSpc>
                <a:spcPts val="1740"/>
              </a:lnSpc>
              <a:buSzPct val="100000"/>
              <a:buChar char="•"/>
            </a:pPr>
            <a:r>
              <a:rPr lang="en-US" sz="1200" dirty="0">
                <a:solidFill>
                  <a:srgbClr val="C3C8CF"/>
                </a:solidFill>
                <a:latin typeface="Inter" pitchFamily="34" charset="0"/>
                <a:ea typeface="Inter" pitchFamily="34" charset="-122"/>
                <a:cs typeface="Inter" pitchFamily="34" charset="-120"/>
              </a:rPr>
              <a:t>Onboarding</a:t>
            </a:r>
            <a:endParaRPr lang="en-US" sz="1200" dirty="0"/>
          </a:p>
          <a:p>
            <a:pPr algn="l" marL="148844" indent="-148844">
              <a:lnSpc>
                <a:spcPts val="1740"/>
              </a:lnSpc>
              <a:buSzPct val="100000"/>
              <a:buChar char="•"/>
            </a:pPr>
            <a:r>
              <a:rPr lang="en-US" sz="1200" dirty="0">
                <a:solidFill>
                  <a:srgbClr val="C3C8CF"/>
                </a:solidFill>
                <a:latin typeface="Inter" pitchFamily="34" charset="0"/>
                <a:ea typeface="Inter" pitchFamily="34" charset="-122"/>
                <a:cs typeface="Inter" pitchFamily="34" charset="-120"/>
              </a:rPr>
              <a:t>Demande d'habilitation</a:t>
            </a:r>
            <a:endParaRPr lang="en-US" sz="1200" dirty="0"/>
          </a:p>
          <a:p>
            <a:pPr algn="l" marL="148844" indent="-148844">
              <a:lnSpc>
                <a:spcPts val="1740"/>
              </a:lnSpc>
              <a:buSzPct val="100000"/>
              <a:buChar char="•"/>
            </a:pPr>
            <a:r>
              <a:rPr lang="en-US" sz="1200" dirty="0">
                <a:solidFill>
                  <a:srgbClr val="C3C8CF"/>
                </a:solidFill>
                <a:latin typeface="Inter" pitchFamily="34" charset="0"/>
                <a:ea typeface="Inter" pitchFamily="34" charset="-122"/>
                <a:cs typeface="Inter" pitchFamily="34" charset="-120"/>
              </a:rPr>
              <a:t>Réservation, annulation</a:t>
            </a:r>
            <a:endParaRPr lang="en-US" sz="1200" dirty="0"/>
          </a:p>
          <a:p>
            <a:pPr algn="l" marL="148844" indent="-148844">
              <a:lnSpc>
                <a:spcPts val="1740"/>
              </a:lnSpc>
              <a:buSzPct val="100000"/>
              <a:buChar char="•"/>
            </a:pPr>
            <a:r>
              <a:rPr lang="en-US" sz="1200" dirty="0">
                <a:solidFill>
                  <a:srgbClr val="C3C8CF"/>
                </a:solidFill>
                <a:latin typeface="Inter" pitchFamily="34" charset="0"/>
                <a:ea typeface="Inter" pitchFamily="34" charset="-122"/>
                <a:cs typeface="Inter" pitchFamily="34" charset="-120"/>
              </a:rPr>
              <a:t>Pointage par QR code</a:t>
            </a:r>
            <a:endParaRPr lang="en-US" sz="1200" dirty="0"/>
          </a:p>
        </p:txBody>
      </p:sp>
      <p:sp>
        <p:nvSpPr>
          <p:cNvPr id="14" name="Shape 10"/>
          <p:cNvSpPr/>
          <p:nvPr/>
        </p:nvSpPr>
        <p:spPr>
          <a:xfrm>
            <a:off x="6175375" y="1966516"/>
            <a:ext cx="2520950" cy="3872309"/>
          </a:xfrm>
          <a:prstGeom prst="rect">
            <a:avLst/>
          </a:prstGeom>
          <a:solidFill>
            <a:srgbClr val="131518"/>
          </a:solidFill>
          <a:ln w="6350">
            <a:solidFill>
              <a:srgbClr val="2A2E35"/>
            </a:solidFill>
            <a:prstDash val="solid"/>
          </a:ln>
        </p:spPr>
      </p:sp>
      <p:pic>
        <p:nvPicPr>
          <p:cNvPr id="15" name="Image 2" descr="Wrench">    </p:cNvPr>
          <p:cNvPicPr>
            <a:picLocks noChangeAspect="1"/>
          </p:cNvPicPr>
          <p:nvPr/>
        </p:nvPicPr>
        <p:blipFill>
          <a:blip r:embed="rId3"/>
          <a:srcRect l="0" r="0" t="0" b="0"/>
          <a:stretch/>
        </p:blipFill>
        <p:spPr>
          <a:xfrm>
            <a:off x="6407150" y="2198291"/>
            <a:ext cx="355600" cy="355600"/>
          </a:xfrm>
          <a:prstGeom prst="rect">
            <a:avLst/>
          </a:prstGeom>
        </p:spPr>
      </p:pic>
      <p:sp>
        <p:nvSpPr>
          <p:cNvPr id="16" name="Text 11"/>
          <p:cNvSpPr/>
          <p:nvPr/>
        </p:nvSpPr>
        <p:spPr>
          <a:xfrm>
            <a:off x="6407150" y="2680891"/>
            <a:ext cx="211912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6F8"/>
                </a:solidFill>
                <a:latin typeface="Barlow Condensed" pitchFamily="34" charset="0"/>
                <a:ea typeface="Barlow Condensed" pitchFamily="34" charset="-122"/>
                <a:cs typeface="Barlow Condensed" pitchFamily="34" charset="-120"/>
              </a:rPr>
              <a:t>FABMANAGER</a:t>
            </a:r>
            <a:endParaRPr lang="en-US" sz="2200" dirty="0"/>
          </a:p>
        </p:txBody>
      </p:sp>
      <p:sp>
        <p:nvSpPr>
          <p:cNvPr id="17" name="Text 12"/>
          <p:cNvSpPr/>
          <p:nvPr/>
        </p:nvSpPr>
        <p:spPr>
          <a:xfrm>
            <a:off x="6407150" y="3143151"/>
            <a:ext cx="21191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Par atelier</a:t>
            </a:r>
            <a:endParaRPr lang="en-US" sz="1200" dirty="0"/>
          </a:p>
        </p:txBody>
      </p:sp>
      <p:sp>
        <p:nvSpPr>
          <p:cNvPr id="18" name="Text 13"/>
          <p:cNvSpPr/>
          <p:nvPr/>
        </p:nvSpPr>
        <p:spPr>
          <a:xfrm>
            <a:off x="6512306" y="3483471"/>
            <a:ext cx="2006346" cy="1130201"/>
          </a:xfrm>
          <a:prstGeom prst="rect">
            <a:avLst/>
          </a:prstGeom>
          <a:noFill/>
          <a:ln/>
        </p:spPr>
        <p:txBody>
          <a:bodyPr wrap="square" lIns="0" tIns="0" rIns="0" bIns="0" rtlCol="0" anchor="t">
            <a:normAutofit/>
          </a:bodyPr>
          <a:lstStyle/>
          <a:p>
            <a:pPr algn="l" marL="148844" indent="-148844">
              <a:lnSpc>
                <a:spcPts val="1740"/>
              </a:lnSpc>
              <a:buSzPct val="100000"/>
              <a:buChar char="•"/>
            </a:pPr>
            <a:r>
              <a:rPr lang="en-US" sz="1200" dirty="0">
                <a:solidFill>
                  <a:srgbClr val="C3C8CF"/>
                </a:solidFill>
                <a:latin typeface="Inter" pitchFamily="34" charset="0"/>
                <a:ea typeface="Inter" pitchFamily="34" charset="-122"/>
                <a:cs typeface="Inter" pitchFamily="34" charset="-120"/>
              </a:rPr>
              <a:t>Accorder, révoquer</a:t>
            </a:r>
            <a:endParaRPr lang="en-US" sz="1200" dirty="0"/>
          </a:p>
          <a:p>
            <a:pPr algn="l" marL="148844" indent="-148844">
              <a:lnSpc>
                <a:spcPts val="1740"/>
              </a:lnSpc>
              <a:buSzPct val="100000"/>
              <a:buChar char="•"/>
            </a:pPr>
            <a:r>
              <a:rPr lang="en-US" sz="1200" dirty="0">
                <a:solidFill>
                  <a:srgbClr val="C3C8CF"/>
                </a:solidFill>
                <a:latin typeface="Inter" pitchFamily="34" charset="0"/>
                <a:ea typeface="Inter" pitchFamily="34" charset="-122"/>
                <a:cs typeface="Inter" pitchFamily="34" charset="-120"/>
              </a:rPr>
              <a:t>Parc et QR de pointage</a:t>
            </a:r>
            <a:endParaRPr lang="en-US" sz="1200" dirty="0"/>
          </a:p>
          <a:p>
            <a:pPr algn="l" marL="148844" indent="-148844">
              <a:lnSpc>
                <a:spcPts val="1740"/>
              </a:lnSpc>
              <a:buSzPct val="100000"/>
              <a:buChar char="•"/>
            </a:pPr>
            <a:r>
              <a:rPr lang="en-US" sz="1200" dirty="0">
                <a:solidFill>
                  <a:srgbClr val="C3C8CF"/>
                </a:solidFill>
                <a:latin typeface="Inter" pitchFamily="34" charset="0"/>
                <a:ea typeface="Inter" pitchFamily="34" charset="-122"/>
                <a:cs typeface="Inter" pitchFamily="34" charset="-120"/>
              </a:rPr>
              <a:t>Pointage de secours, no-show</a:t>
            </a:r>
            <a:endParaRPr lang="en-US" sz="1200" dirty="0"/>
          </a:p>
          <a:p>
            <a:pPr algn="l" marL="148844" indent="-148844">
              <a:lnSpc>
                <a:spcPts val="1740"/>
              </a:lnSpc>
              <a:buSzPct val="100000"/>
              <a:buChar char="•"/>
            </a:pPr>
            <a:r>
              <a:rPr lang="en-US" sz="1200" dirty="0">
                <a:solidFill>
                  <a:srgbClr val="C3C8CF"/>
                </a:solidFill>
                <a:latin typeface="Inter" pitchFamily="34" charset="0"/>
                <a:ea typeface="Inter" pitchFamily="34" charset="-122"/>
                <a:cs typeface="Inter" pitchFamily="34" charset="-120"/>
              </a:rPr>
              <a:t>Statistiques</a:t>
            </a:r>
            <a:endParaRPr lang="en-US" sz="1200" dirty="0"/>
          </a:p>
        </p:txBody>
      </p:sp>
      <p:sp>
        <p:nvSpPr>
          <p:cNvPr id="19" name="Shape 14"/>
          <p:cNvSpPr/>
          <p:nvPr/>
        </p:nvSpPr>
        <p:spPr>
          <a:xfrm>
            <a:off x="8855075" y="1966516"/>
            <a:ext cx="2520950" cy="3872309"/>
          </a:xfrm>
          <a:prstGeom prst="rect">
            <a:avLst/>
          </a:prstGeom>
          <a:solidFill>
            <a:srgbClr val="131518"/>
          </a:solidFill>
          <a:ln w="6350">
            <a:solidFill>
              <a:srgbClr val="2A2E35"/>
            </a:solidFill>
            <a:prstDash val="solid"/>
          </a:ln>
        </p:spPr>
      </p:sp>
      <p:pic>
        <p:nvPicPr>
          <p:cNvPr id="20" name="Image 3" descr="Settings">    </p:cNvPr>
          <p:cNvPicPr>
            <a:picLocks noChangeAspect="1"/>
          </p:cNvPicPr>
          <p:nvPr/>
        </p:nvPicPr>
        <p:blipFill>
          <a:blip r:embed="rId4"/>
          <a:srcRect l="0" r="0" t="0" b="0"/>
          <a:stretch/>
        </p:blipFill>
        <p:spPr>
          <a:xfrm>
            <a:off x="9086850" y="2198291"/>
            <a:ext cx="355600" cy="355600"/>
          </a:xfrm>
          <a:prstGeom prst="rect">
            <a:avLst/>
          </a:prstGeom>
        </p:spPr>
      </p:pic>
      <p:sp>
        <p:nvSpPr>
          <p:cNvPr id="21" name="Text 15"/>
          <p:cNvSpPr/>
          <p:nvPr/>
        </p:nvSpPr>
        <p:spPr>
          <a:xfrm>
            <a:off x="9086850" y="2680891"/>
            <a:ext cx="211912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6F8"/>
                </a:solidFill>
                <a:latin typeface="Barlow Condensed" pitchFamily="34" charset="0"/>
                <a:ea typeface="Barlow Condensed" pitchFamily="34" charset="-122"/>
                <a:cs typeface="Barlow Condensed" pitchFamily="34" charset="-120"/>
              </a:rPr>
              <a:t>ADMINISTRATEUR</a:t>
            </a:r>
            <a:endParaRPr lang="en-US" sz="2200" dirty="0"/>
          </a:p>
        </p:txBody>
      </p:sp>
      <p:sp>
        <p:nvSpPr>
          <p:cNvPr id="22" name="Text 16"/>
          <p:cNvSpPr/>
          <p:nvPr/>
        </p:nvSpPr>
        <p:spPr>
          <a:xfrm>
            <a:off x="9086850" y="3143151"/>
            <a:ext cx="21191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Plateforme</a:t>
            </a:r>
            <a:endParaRPr lang="en-US" sz="1200" dirty="0"/>
          </a:p>
        </p:txBody>
      </p:sp>
      <p:sp>
        <p:nvSpPr>
          <p:cNvPr id="23" name="Text 17"/>
          <p:cNvSpPr/>
          <p:nvPr/>
        </p:nvSpPr>
        <p:spPr>
          <a:xfrm>
            <a:off x="9192006" y="3483471"/>
            <a:ext cx="2006346" cy="909241"/>
          </a:xfrm>
          <a:prstGeom prst="rect">
            <a:avLst/>
          </a:prstGeom>
          <a:noFill/>
          <a:ln/>
        </p:spPr>
        <p:txBody>
          <a:bodyPr wrap="square" lIns="0" tIns="0" rIns="0" bIns="0" rtlCol="0" anchor="t">
            <a:normAutofit/>
          </a:bodyPr>
          <a:lstStyle/>
          <a:p>
            <a:pPr algn="l" marL="148844" indent="-148844">
              <a:lnSpc>
                <a:spcPts val="1740"/>
              </a:lnSpc>
              <a:buSzPct val="100000"/>
              <a:buChar char="•"/>
            </a:pPr>
            <a:r>
              <a:rPr lang="en-US" sz="1200" dirty="0">
                <a:solidFill>
                  <a:srgbClr val="C3C8CF"/>
                </a:solidFill>
                <a:latin typeface="Inter" pitchFamily="34" charset="0"/>
                <a:ea typeface="Inter" pitchFamily="34" charset="-122"/>
                <a:cs typeface="Inter" pitchFamily="34" charset="-120"/>
              </a:rPr>
              <a:t>Ouvrir, publier un atelier</a:t>
            </a:r>
            <a:endParaRPr lang="en-US" sz="1200" dirty="0"/>
          </a:p>
          <a:p>
            <a:pPr algn="l" marL="148844" indent="-148844">
              <a:lnSpc>
                <a:spcPts val="1740"/>
              </a:lnSpc>
              <a:buSzPct val="100000"/>
              <a:buChar char="•"/>
            </a:pPr>
            <a:r>
              <a:rPr lang="en-US" sz="1200" dirty="0">
                <a:solidFill>
                  <a:srgbClr val="C3C8CF"/>
                </a:solidFill>
                <a:latin typeface="Inter" pitchFamily="34" charset="0"/>
                <a:ea typeface="Inter" pitchFamily="34" charset="-122"/>
                <a:cs typeface="Inter" pitchFamily="34" charset="-120"/>
              </a:rPr>
              <a:t>Comptes, rôles, suspension</a:t>
            </a:r>
            <a:endParaRPr lang="en-US" sz="1200" dirty="0"/>
          </a:p>
          <a:p>
            <a:pPr algn="l" marL="148844" indent="-148844">
              <a:lnSpc>
                <a:spcPts val="1740"/>
              </a:lnSpc>
              <a:buSzPct val="100000"/>
              <a:buChar char="•"/>
            </a:pPr>
            <a:r>
              <a:rPr lang="en-US" sz="1200" dirty="0">
                <a:solidFill>
                  <a:srgbClr val="C3C8CF"/>
                </a:solidFill>
                <a:latin typeface="Inter" pitchFamily="34" charset="0"/>
                <a:ea typeface="Inter" pitchFamily="34" charset="-122"/>
                <a:cs typeface="Inter" pitchFamily="34" charset="-120"/>
              </a:rPr>
              <a:t>Tableau réseau</a:t>
            </a:r>
            <a:endParaRPr lang="en-US" sz="1200" dirty="0"/>
          </a:p>
        </p:txBody>
      </p:sp>
      <p:sp>
        <p:nvSpPr>
          <p:cNvPr id="24" name="Text 18"/>
          <p:cNvSpPr/>
          <p:nvPr/>
        </p:nvSpPr>
        <p:spPr>
          <a:xfrm>
            <a:off x="812800" y="6238280"/>
            <a:ext cx="306556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CONCEPT PRODUIT</a:t>
            </a:r>
            <a:endParaRPr lang="en-US" sz="1200" dirty="0"/>
          </a:p>
        </p:txBody>
      </p:sp>
      <p:sp>
        <p:nvSpPr>
          <p:cNvPr id="25" name="Text 19"/>
          <p:cNvSpPr/>
          <p:nvPr/>
        </p:nvSpPr>
        <p:spPr>
          <a:xfrm>
            <a:off x="11141819" y="6238280"/>
            <a:ext cx="23738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01 · CONCEPT PRODUIT</a:t>
            </a:r>
            <a:endParaRPr lang="en-US" sz="1200" dirty="0"/>
          </a:p>
        </p:txBody>
      </p:sp>
      <p:sp>
        <p:nvSpPr>
          <p:cNvPr id="3" name="Text 1"/>
          <p:cNvSpPr/>
          <p:nvPr>
            <p:ph type="title"/>
          </p:nvPr>
        </p:nvSpPr>
        <p:spPr>
          <a:xfrm>
            <a:off x="812800" y="11277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UN PRODUIT, TROIS NOTES</a:t>
            </a:r>
            <a:endParaRPr lang="en-US" sz="3600" dirty="0"/>
          </a:p>
        </p:txBody>
      </p:sp>
      <p:sp>
        <p:nvSpPr>
          <p:cNvPr id="4" name="Shape 2"/>
          <p:cNvSpPr/>
          <p:nvPr/>
        </p:nvSpPr>
        <p:spPr>
          <a:xfrm>
            <a:off x="815975" y="1915716"/>
            <a:ext cx="3414167" cy="1735981"/>
          </a:xfrm>
          <a:prstGeom prst="rect">
            <a:avLst/>
          </a:prstGeom>
          <a:noFill/>
          <a:ln w="6350">
            <a:solidFill>
              <a:srgbClr val="5C636C"/>
            </a:solidFill>
            <a:prstDash val="solid"/>
          </a:ln>
        </p:spPr>
      </p:sp>
      <p:sp>
        <p:nvSpPr>
          <p:cNvPr id="5" name="Text 3"/>
          <p:cNvSpPr/>
          <p:nvPr/>
        </p:nvSpPr>
        <p:spPr>
          <a:xfrm>
            <a:off x="1022350" y="2122091"/>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6A00"/>
                </a:solidFill>
                <a:latin typeface="Inter" pitchFamily="34" charset="0"/>
                <a:ea typeface="Inter" pitchFamily="34" charset="-122"/>
                <a:cs typeface="Inter" pitchFamily="34" charset="-120"/>
              </a:rPr>
              <a:t>NOTE NEXT.JS /20</a:t>
            </a:r>
            <a:endParaRPr lang="en-US" sz="1200" dirty="0"/>
          </a:p>
        </p:txBody>
      </p:sp>
      <p:sp>
        <p:nvSpPr>
          <p:cNvPr id="6" name="Text 4"/>
          <p:cNvSpPr/>
          <p:nvPr/>
        </p:nvSpPr>
        <p:spPr>
          <a:xfrm>
            <a:off x="1022350" y="243701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6F8"/>
                </a:solidFill>
                <a:latin typeface="JetBrains Mono" pitchFamily="49" charset="0"/>
                <a:ea typeface="JetBrains Mono" pitchFamily="49" charset="-122"/>
                <a:cs typeface="JetBrains Mono" pitchFamily="49" charset="-120"/>
              </a:rPr>
              <a:t>apps/web</a:t>
            </a:r>
            <a:endParaRPr lang="en-US" sz="1600" dirty="0"/>
          </a:p>
        </p:txBody>
      </p:sp>
      <p:sp>
        <p:nvSpPr>
          <p:cNvPr id="7" name="Text 5"/>
          <p:cNvSpPr/>
          <p:nvPr/>
        </p:nvSpPr>
        <p:spPr>
          <a:xfrm>
            <a:off x="1022350" y="2782441"/>
            <a:ext cx="3091459"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3C8CF"/>
                </a:solidFill>
                <a:latin typeface="Inter" pitchFamily="34" charset="0"/>
                <a:ea typeface="Inter" pitchFamily="34" charset="-122"/>
                <a:cs typeface="Inter" pitchFamily="34" charset="-120"/>
              </a:rPr>
              <a:t>Next.js 16, App Router, Server Components et Server Actions. Public, membre, fabmanager, admin.</a:t>
            </a:r>
            <a:endParaRPr lang="en-US" sz="1200" dirty="0"/>
          </a:p>
        </p:txBody>
      </p:sp>
      <p:sp>
        <p:nvSpPr>
          <p:cNvPr id="8" name="Shape 6"/>
          <p:cNvSpPr/>
          <p:nvPr/>
        </p:nvSpPr>
        <p:spPr>
          <a:xfrm>
            <a:off x="4388892" y="1915716"/>
            <a:ext cx="3414216" cy="1735981"/>
          </a:xfrm>
          <a:prstGeom prst="rect">
            <a:avLst/>
          </a:prstGeom>
          <a:noFill/>
          <a:ln w="6350">
            <a:solidFill>
              <a:srgbClr val="5C636C"/>
            </a:solidFill>
            <a:prstDash val="solid"/>
          </a:ln>
        </p:spPr>
      </p:sp>
      <p:sp>
        <p:nvSpPr>
          <p:cNvPr id="9" name="Text 7"/>
          <p:cNvSpPr/>
          <p:nvPr/>
        </p:nvSpPr>
        <p:spPr>
          <a:xfrm>
            <a:off x="4595267" y="2122091"/>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6A00"/>
                </a:solidFill>
                <a:latin typeface="Inter" pitchFamily="34" charset="0"/>
                <a:ea typeface="Inter" pitchFamily="34" charset="-122"/>
                <a:cs typeface="Inter" pitchFamily="34" charset="-120"/>
              </a:rPr>
              <a:t>NOTE REACT NATIVE /20</a:t>
            </a:r>
            <a:endParaRPr lang="en-US" sz="1200" dirty="0"/>
          </a:p>
        </p:txBody>
      </p:sp>
      <p:sp>
        <p:nvSpPr>
          <p:cNvPr id="10" name="Text 8"/>
          <p:cNvSpPr/>
          <p:nvPr/>
        </p:nvSpPr>
        <p:spPr>
          <a:xfrm>
            <a:off x="4595267" y="2437011"/>
            <a:ext cx="30915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6F8"/>
                </a:solidFill>
                <a:latin typeface="JetBrains Mono" pitchFamily="49" charset="0"/>
                <a:ea typeface="JetBrains Mono" pitchFamily="49" charset="-122"/>
                <a:cs typeface="JetBrains Mono" pitchFamily="49" charset="-120"/>
              </a:rPr>
              <a:t>apps/mobile</a:t>
            </a:r>
            <a:endParaRPr lang="en-US" sz="1600" dirty="0"/>
          </a:p>
        </p:txBody>
      </p:sp>
      <p:sp>
        <p:nvSpPr>
          <p:cNvPr id="11" name="Text 9"/>
          <p:cNvSpPr/>
          <p:nvPr/>
        </p:nvSpPr>
        <p:spPr>
          <a:xfrm>
            <a:off x="4595267" y="2782441"/>
            <a:ext cx="3091510"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3C8CF"/>
                </a:solidFill>
                <a:latin typeface="Inter" pitchFamily="34" charset="0"/>
                <a:ea typeface="Inter" pitchFamily="34" charset="-122"/>
                <a:cs typeface="Inter" pitchFamily="34" charset="-120"/>
              </a:rPr>
              <a:t>Expo et Expo Router. Le parcours membre, le scan QR à la caméra, la position.</a:t>
            </a:r>
            <a:endParaRPr lang="en-US" sz="1200" dirty="0"/>
          </a:p>
        </p:txBody>
      </p:sp>
      <p:sp>
        <p:nvSpPr>
          <p:cNvPr id="12" name="Shape 10"/>
          <p:cNvSpPr/>
          <p:nvPr/>
        </p:nvSpPr>
        <p:spPr>
          <a:xfrm>
            <a:off x="7961858" y="1915716"/>
            <a:ext cx="3414167" cy="1735981"/>
          </a:xfrm>
          <a:prstGeom prst="rect">
            <a:avLst/>
          </a:prstGeom>
          <a:noFill/>
          <a:ln w="6350">
            <a:solidFill>
              <a:srgbClr val="5C636C"/>
            </a:solidFill>
            <a:prstDash val="solid"/>
          </a:ln>
        </p:spPr>
      </p:sp>
      <p:sp>
        <p:nvSpPr>
          <p:cNvPr id="13" name="Text 11"/>
          <p:cNvSpPr/>
          <p:nvPr/>
        </p:nvSpPr>
        <p:spPr>
          <a:xfrm>
            <a:off x="8168233" y="2122091"/>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6A00"/>
                </a:solidFill>
                <a:latin typeface="Inter" pitchFamily="34" charset="0"/>
                <a:ea typeface="Inter" pitchFamily="34" charset="-122"/>
                <a:cs typeface="Inter" pitchFamily="34" charset="-120"/>
              </a:rPr>
              <a:t>NOTE DOCKER /20</a:t>
            </a:r>
            <a:endParaRPr lang="en-US" sz="1200" dirty="0"/>
          </a:p>
        </p:txBody>
      </p:sp>
      <p:sp>
        <p:nvSpPr>
          <p:cNvPr id="14" name="Text 12"/>
          <p:cNvSpPr/>
          <p:nvPr/>
        </p:nvSpPr>
        <p:spPr>
          <a:xfrm>
            <a:off x="8168233" y="243701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6F8"/>
                </a:solidFill>
                <a:latin typeface="JetBrains Mono" pitchFamily="49" charset="0"/>
                <a:ea typeface="JetBrains Mono" pitchFamily="49" charset="-122"/>
                <a:cs typeface="JetBrains Mono" pitchFamily="49" charset="-120"/>
              </a:rPr>
              <a:t>Dockerfile</a:t>
            </a:r>
            <a:endParaRPr lang="en-US" sz="1600" dirty="0"/>
          </a:p>
        </p:txBody>
      </p:sp>
      <p:sp>
        <p:nvSpPr>
          <p:cNvPr id="15" name="Text 13"/>
          <p:cNvSpPr/>
          <p:nvPr/>
        </p:nvSpPr>
        <p:spPr>
          <a:xfrm>
            <a:off x="8168233" y="2782441"/>
            <a:ext cx="3091459"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3C8CF"/>
                </a:solidFill>
                <a:latin typeface="Inter" pitchFamily="34" charset="0"/>
                <a:ea typeface="Inter" pitchFamily="34" charset="-122"/>
                <a:cs typeface="Inter" pitchFamily="34" charset="-120"/>
              </a:rPr>
              <a:t>L'image de production de l'app Next.js, plus un compose qui lance tout le produit.</a:t>
            </a:r>
            <a:endParaRPr lang="en-US" sz="1200" dirty="0"/>
          </a:p>
        </p:txBody>
      </p:sp>
      <p:sp>
        <p:nvSpPr>
          <p:cNvPr id="16" name="Shape 14"/>
          <p:cNvSpPr/>
          <p:nvPr/>
        </p:nvSpPr>
        <p:spPr>
          <a:xfrm>
            <a:off x="812800" y="3959671"/>
            <a:ext cx="10566400" cy="883841"/>
          </a:xfrm>
          <a:prstGeom prst="rect">
            <a:avLst/>
          </a:prstGeom>
          <a:solidFill>
            <a:srgbClr val="131518"/>
          </a:solidFill>
          <a:ln/>
        </p:spPr>
      </p:sp>
      <p:sp>
        <p:nvSpPr>
          <p:cNvPr id="17" name="Text 15"/>
          <p:cNvSpPr/>
          <p:nvPr/>
        </p:nvSpPr>
        <p:spPr>
          <a:xfrm>
            <a:off x="1016000" y="4294932"/>
            <a:ext cx="1563092" cy="238720"/>
          </a:xfrm>
          <a:prstGeom prst="rect">
            <a:avLst/>
          </a:prstGeom>
          <a:noFill/>
          <a:ln/>
        </p:spPr>
        <p:txBody>
          <a:bodyPr wrap="none" lIns="0" tIns="0" rIns="0" bIns="0" rtlCol="0" anchor="t">
            <a:normAutofit/>
          </a:bodyPr>
          <a:lstStyle/>
          <a:p>
            <a:pPr algn="l" indent="0" marL="0">
              <a:lnSpc>
                <a:spcPts val="1680"/>
              </a:lnSpc>
              <a:buNone/>
            </a:pPr>
            <a:r>
              <a:rPr lang="en-US" sz="1200" b="1" spc="150" kern="0" dirty="0">
                <a:solidFill>
                  <a:srgbClr val="9AA1AB"/>
                </a:solidFill>
                <a:latin typeface="Inter" pitchFamily="34" charset="0"/>
                <a:ea typeface="Inter" pitchFamily="34" charset="-122"/>
                <a:cs typeface="Inter" pitchFamily="34" charset="-120"/>
              </a:rPr>
              <a:t>SOCLE COMMUN</a:t>
            </a:r>
            <a:endParaRPr lang="en-US" sz="1200" dirty="0"/>
          </a:p>
        </p:txBody>
      </p:sp>
      <p:sp>
        <p:nvSpPr>
          <p:cNvPr id="18" name="Text 16"/>
          <p:cNvSpPr/>
          <p:nvPr/>
        </p:nvSpPr>
        <p:spPr>
          <a:xfrm>
            <a:off x="2782292" y="4162871"/>
            <a:ext cx="86455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A00"/>
                </a:solidFill>
                <a:latin typeface="Inter" pitchFamily="34" charset="0"/>
                <a:ea typeface="Inter" pitchFamily="34" charset="-122"/>
                <a:cs typeface="Inter" pitchFamily="34" charset="-120"/>
              </a:rPr>
              <a:t>apps/api</a:t>
            </a:r>
            <a:r>
              <a:rPr lang="en-US" sz="1200" dirty="0">
                <a:solidFill>
                  <a:srgbClr val="F4F6F8"/>
                </a:solidFill>
                <a:latin typeface="Inter" pitchFamily="34" charset="0"/>
                <a:ea typeface="Inter" pitchFamily="34" charset="-122"/>
                <a:cs typeface="Inter" pitchFamily="34" charset="-120"/>
              </a:rPr>
              <a:t> — NestJS, Drizzle, Zod, PostgreSQL : la même API pour le web et le mobile</a:t>
            </a:r>
            <a:endParaRPr lang="en-US" sz="1200" dirty="0"/>
          </a:p>
        </p:txBody>
      </p:sp>
      <p:sp>
        <p:nvSpPr>
          <p:cNvPr id="19" name="Text 17"/>
          <p:cNvSpPr/>
          <p:nvPr/>
        </p:nvSpPr>
        <p:spPr>
          <a:xfrm>
            <a:off x="2782292" y="4426992"/>
            <a:ext cx="86455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A00"/>
                </a:solidFill>
                <a:latin typeface="Inter" pitchFamily="34" charset="0"/>
                <a:ea typeface="Inter" pitchFamily="34" charset="-122"/>
                <a:cs typeface="Inter" pitchFamily="34" charset="-120"/>
              </a:rPr>
              <a:t>packages/</a:t>
            </a:r>
            <a:r>
              <a:rPr lang="en-US" sz="1200" dirty="0">
                <a:solidFill>
                  <a:srgbClr val="F4F6F8"/>
                </a:solidFill>
                <a:latin typeface="Inter" pitchFamily="34" charset="0"/>
                <a:ea typeface="Inter" pitchFamily="34" charset="-122"/>
                <a:cs typeface="Inter" pitchFamily="34" charset="-120"/>
              </a:rPr>
              <a:t> — contract, api-client, ui : types, client HTTP et design system partagés</a:t>
            </a:r>
            <a:endParaRPr lang="en-US" sz="1200" dirty="0"/>
          </a:p>
        </p:txBody>
      </p:sp>
      <p:sp>
        <p:nvSpPr>
          <p:cNvPr id="20" name="Text 18"/>
          <p:cNvSpPr/>
          <p:nvPr/>
        </p:nvSpPr>
        <p:spPr>
          <a:xfrm>
            <a:off x="812800" y="6238280"/>
            <a:ext cx="306556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CONCEPT PRODUIT</a:t>
            </a:r>
            <a:endParaRPr lang="en-US" sz="1200" dirty="0"/>
          </a:p>
        </p:txBody>
      </p:sp>
      <p:sp>
        <p:nvSpPr>
          <p:cNvPr id="21" name="Text 19"/>
          <p:cNvSpPr/>
          <p:nvPr/>
        </p:nvSpPr>
        <p:spPr>
          <a:xfrm>
            <a:off x="11137751" y="6238280"/>
            <a:ext cx="24144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02 · DÉMO NEXT.JS</a:t>
            </a:r>
            <a:endParaRPr lang="en-US" sz="1200" dirty="0"/>
          </a:p>
        </p:txBody>
      </p:sp>
      <p:sp>
        <p:nvSpPr>
          <p:cNvPr id="3" name="Text 1"/>
          <p:cNvSpPr/>
          <p:nvPr>
            <p:ph type="title"/>
          </p:nvPr>
        </p:nvSpPr>
        <p:spPr>
          <a:xfrm>
            <a:off x="812800" y="11277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DE L'ANNUAIRE À LA PRÉSENCE PROUVÉE</a:t>
            </a:r>
            <a:endParaRPr lang="en-US" sz="3600" dirty="0"/>
          </a:p>
        </p:txBody>
      </p:sp>
      <p:sp>
        <p:nvSpPr>
          <p:cNvPr id="4" name="Shape 2"/>
          <p:cNvSpPr/>
          <p:nvPr/>
        </p:nvSpPr>
        <p:spPr>
          <a:xfrm>
            <a:off x="812800" y="1861741"/>
            <a:ext cx="3437434" cy="1173361"/>
          </a:xfrm>
          <a:prstGeom prst="rect">
            <a:avLst/>
          </a:prstGeom>
          <a:solidFill>
            <a:srgbClr val="131518"/>
          </a:solidFill>
          <a:ln/>
        </p:spPr>
      </p:sp>
      <p:sp>
        <p:nvSpPr>
          <p:cNvPr id="5" name="Text 3"/>
          <p:cNvSpPr/>
          <p:nvPr/>
        </p:nvSpPr>
        <p:spPr>
          <a:xfrm>
            <a:off x="990600" y="2014141"/>
            <a:ext cx="3174289"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6A00"/>
                </a:solidFill>
                <a:latin typeface="Barlow Condensed" pitchFamily="34" charset="0"/>
                <a:ea typeface="Barlow Condensed" pitchFamily="34" charset="-122"/>
                <a:cs typeface="Barlow Condensed" pitchFamily="34" charset="-120"/>
              </a:rPr>
              <a:t>1 · Découvrir</a:t>
            </a:r>
            <a:endParaRPr lang="en-US" sz="2200" dirty="0"/>
          </a:p>
        </p:txBody>
      </p:sp>
      <p:sp>
        <p:nvSpPr>
          <p:cNvPr id="6" name="Text 4"/>
          <p:cNvSpPr/>
          <p:nvPr/>
        </p:nvSpPr>
        <p:spPr>
          <a:xfrm>
            <a:off x="990600" y="2456061"/>
            <a:ext cx="317428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Sans compte : l'annuaire, La Forge, la soudure Weller, choisir un créneau.</a:t>
            </a:r>
            <a:endParaRPr lang="en-US" sz="1200" dirty="0"/>
          </a:p>
        </p:txBody>
      </p:sp>
      <p:sp>
        <p:nvSpPr>
          <p:cNvPr id="7" name="Shape 5"/>
          <p:cNvSpPr/>
          <p:nvPr/>
        </p:nvSpPr>
        <p:spPr>
          <a:xfrm>
            <a:off x="4377234" y="1861741"/>
            <a:ext cx="3437483" cy="1173361"/>
          </a:xfrm>
          <a:prstGeom prst="rect">
            <a:avLst/>
          </a:prstGeom>
          <a:solidFill>
            <a:srgbClr val="131518"/>
          </a:solidFill>
          <a:ln/>
        </p:spPr>
      </p:sp>
      <p:sp>
        <p:nvSpPr>
          <p:cNvPr id="8" name="Text 6"/>
          <p:cNvSpPr/>
          <p:nvPr/>
        </p:nvSpPr>
        <p:spPr>
          <a:xfrm>
            <a:off x="4555034" y="2014141"/>
            <a:ext cx="317434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6A00"/>
                </a:solidFill>
                <a:latin typeface="Barlow Condensed" pitchFamily="34" charset="0"/>
                <a:ea typeface="Barlow Condensed" pitchFamily="34" charset="-122"/>
                <a:cs typeface="Barlow Condensed" pitchFamily="34" charset="-120"/>
              </a:rPr>
              <a:t>2 · Se connecter</a:t>
            </a:r>
            <a:endParaRPr lang="en-US" sz="2200" dirty="0"/>
          </a:p>
        </p:txBody>
      </p:sp>
      <p:sp>
        <p:nvSpPr>
          <p:cNvPr id="9" name="Text 7"/>
          <p:cNvSpPr/>
          <p:nvPr/>
        </p:nvSpPr>
        <p:spPr>
          <a:xfrm>
            <a:off x="4555034" y="2456061"/>
            <a:ext cx="31743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En demo@ : le créneau survit à la connexion, il voyage dans l'URL.</a:t>
            </a:r>
            <a:endParaRPr lang="en-US" sz="1200" dirty="0"/>
          </a:p>
        </p:txBody>
      </p:sp>
      <p:sp>
        <p:nvSpPr>
          <p:cNvPr id="10" name="Shape 8"/>
          <p:cNvSpPr/>
          <p:nvPr/>
        </p:nvSpPr>
        <p:spPr>
          <a:xfrm>
            <a:off x="7941717" y="1861741"/>
            <a:ext cx="3437434" cy="1173361"/>
          </a:xfrm>
          <a:prstGeom prst="rect">
            <a:avLst/>
          </a:prstGeom>
          <a:solidFill>
            <a:srgbClr val="131518"/>
          </a:solidFill>
          <a:ln/>
        </p:spPr>
      </p:sp>
      <p:sp>
        <p:nvSpPr>
          <p:cNvPr id="11" name="Text 9"/>
          <p:cNvSpPr/>
          <p:nvPr/>
        </p:nvSpPr>
        <p:spPr>
          <a:xfrm>
            <a:off x="8119517" y="2014141"/>
            <a:ext cx="3174289"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6A00"/>
                </a:solidFill>
                <a:latin typeface="Barlow Condensed" pitchFamily="34" charset="0"/>
                <a:ea typeface="Barlow Condensed" pitchFamily="34" charset="-122"/>
                <a:cs typeface="Barlow Condensed" pitchFamily="34" charset="-120"/>
              </a:rPr>
              <a:t>3 · Demander</a:t>
            </a:r>
            <a:endParaRPr lang="en-US" sz="2200" dirty="0"/>
          </a:p>
        </p:txBody>
      </p:sp>
      <p:sp>
        <p:nvSpPr>
          <p:cNvPr id="12" name="Text 10"/>
          <p:cNvSpPr/>
          <p:nvPr/>
        </p:nvSpPr>
        <p:spPr>
          <a:xfrm>
            <a:off x="8119517" y="2456061"/>
            <a:ext cx="317428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L'écran dit ce qui manque : l'habilitation. Une demande part.</a:t>
            </a:r>
            <a:endParaRPr lang="en-US" sz="1200" dirty="0"/>
          </a:p>
        </p:txBody>
      </p:sp>
      <p:sp>
        <p:nvSpPr>
          <p:cNvPr id="13" name="Shape 11"/>
          <p:cNvSpPr/>
          <p:nvPr/>
        </p:nvSpPr>
        <p:spPr>
          <a:xfrm>
            <a:off x="812800" y="3162102"/>
            <a:ext cx="3437434" cy="1173361"/>
          </a:xfrm>
          <a:prstGeom prst="rect">
            <a:avLst/>
          </a:prstGeom>
          <a:solidFill>
            <a:srgbClr val="131518"/>
          </a:solidFill>
          <a:ln/>
        </p:spPr>
      </p:sp>
      <p:sp>
        <p:nvSpPr>
          <p:cNvPr id="14" name="Text 12"/>
          <p:cNvSpPr/>
          <p:nvPr/>
        </p:nvSpPr>
        <p:spPr>
          <a:xfrm>
            <a:off x="990600" y="3314502"/>
            <a:ext cx="3174289"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6A00"/>
                </a:solidFill>
                <a:latin typeface="Barlow Condensed" pitchFamily="34" charset="0"/>
                <a:ea typeface="Barlow Condensed" pitchFamily="34" charset="-122"/>
                <a:cs typeface="Barlow Condensed" pitchFamily="34" charset="-120"/>
              </a:rPr>
              <a:t>4 · Accorder</a:t>
            </a:r>
            <a:endParaRPr lang="en-US" sz="2200" dirty="0"/>
          </a:p>
        </p:txBody>
      </p:sp>
      <p:sp>
        <p:nvSpPr>
          <p:cNvPr id="15" name="Text 13"/>
          <p:cNvSpPr/>
          <p:nvPr/>
        </p:nvSpPr>
        <p:spPr>
          <a:xfrm>
            <a:off x="990600" y="3756422"/>
            <a:ext cx="317428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En fabmanager.forge@, fenêtre privée : /manage/certifications.</a:t>
            </a:r>
            <a:endParaRPr lang="en-US" sz="1200" dirty="0"/>
          </a:p>
        </p:txBody>
      </p:sp>
      <p:sp>
        <p:nvSpPr>
          <p:cNvPr id="16" name="Shape 14"/>
          <p:cNvSpPr/>
          <p:nvPr/>
        </p:nvSpPr>
        <p:spPr>
          <a:xfrm>
            <a:off x="4377234" y="3162102"/>
            <a:ext cx="3437483" cy="1173361"/>
          </a:xfrm>
          <a:prstGeom prst="rect">
            <a:avLst/>
          </a:prstGeom>
          <a:solidFill>
            <a:srgbClr val="131518"/>
          </a:solidFill>
          <a:ln/>
        </p:spPr>
      </p:sp>
      <p:sp>
        <p:nvSpPr>
          <p:cNvPr id="17" name="Text 15"/>
          <p:cNvSpPr/>
          <p:nvPr/>
        </p:nvSpPr>
        <p:spPr>
          <a:xfrm>
            <a:off x="4555034" y="3314502"/>
            <a:ext cx="317434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6A00"/>
                </a:solidFill>
                <a:latin typeface="Barlow Condensed" pitchFamily="34" charset="0"/>
                <a:ea typeface="Barlow Condensed" pitchFamily="34" charset="-122"/>
                <a:cs typeface="Barlow Condensed" pitchFamily="34" charset="-120"/>
              </a:rPr>
              <a:t>5 · Réserver</a:t>
            </a:r>
            <a:endParaRPr lang="en-US" sz="2200" dirty="0"/>
          </a:p>
        </p:txBody>
      </p:sp>
      <p:sp>
        <p:nvSpPr>
          <p:cNvPr id="18" name="Text 16"/>
          <p:cNvSpPr/>
          <p:nvPr/>
        </p:nvSpPr>
        <p:spPr>
          <a:xfrm>
            <a:off x="4555034" y="3756422"/>
            <a:ext cx="31743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Le créneau est pris ; un autre compte habilité se le voit refuser.</a:t>
            </a:r>
            <a:endParaRPr lang="en-US" sz="1200" dirty="0"/>
          </a:p>
        </p:txBody>
      </p:sp>
      <p:sp>
        <p:nvSpPr>
          <p:cNvPr id="19" name="Shape 17"/>
          <p:cNvSpPr/>
          <p:nvPr/>
        </p:nvSpPr>
        <p:spPr>
          <a:xfrm>
            <a:off x="7941717" y="3162102"/>
            <a:ext cx="3437434" cy="1173361"/>
          </a:xfrm>
          <a:prstGeom prst="rect">
            <a:avLst/>
          </a:prstGeom>
          <a:solidFill>
            <a:srgbClr val="FF6A00"/>
          </a:solidFill>
          <a:ln/>
        </p:spPr>
      </p:sp>
      <p:sp>
        <p:nvSpPr>
          <p:cNvPr id="20" name="Text 18"/>
          <p:cNvSpPr/>
          <p:nvPr/>
        </p:nvSpPr>
        <p:spPr>
          <a:xfrm>
            <a:off x="8119517" y="3314502"/>
            <a:ext cx="3174289"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B0C0E"/>
                </a:solidFill>
                <a:latin typeface="Barlow Condensed" pitchFamily="34" charset="0"/>
                <a:ea typeface="Barlow Condensed" pitchFamily="34" charset="-122"/>
                <a:cs typeface="Barlow Condensed" pitchFamily="34" charset="-120"/>
              </a:rPr>
              <a:t>6 · Pointer</a:t>
            </a:r>
            <a:endParaRPr lang="en-US" sz="2200" dirty="0"/>
          </a:p>
        </p:txBody>
      </p:sp>
      <p:sp>
        <p:nvSpPr>
          <p:cNvPr id="21" name="Text 19"/>
          <p:cNvSpPr/>
          <p:nvPr/>
        </p:nvSpPr>
        <p:spPr>
          <a:xfrm>
            <a:off x="8119517" y="3756422"/>
            <a:ext cx="317428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0C0E"/>
                </a:solidFill>
                <a:latin typeface="Inter" pitchFamily="34" charset="0"/>
                <a:ea typeface="Inter" pitchFamily="34" charset="-122"/>
                <a:cs typeface="Inter" pitchFamily="34" charset="-120"/>
              </a:rPr>
              <a:t>Au téléphone, QR de la soudure : « Pointée ». Le fabmanager le voit.</a:t>
            </a:r>
            <a:endParaRPr lang="en-US" sz="1200" dirty="0"/>
          </a:p>
        </p:txBody>
      </p:sp>
      <p:sp>
        <p:nvSpPr>
          <p:cNvPr id="22" name="Shape 20"/>
          <p:cNvSpPr/>
          <p:nvPr/>
        </p:nvSpPr>
        <p:spPr>
          <a:xfrm>
            <a:off x="812800" y="4592638"/>
            <a:ext cx="10566400" cy="0"/>
          </a:xfrm>
          <a:prstGeom prst="line">
            <a:avLst/>
          </a:prstGeom>
          <a:noFill/>
          <a:ln w="6350">
            <a:solidFill>
              <a:srgbClr val="2A2E35"/>
            </a:solidFill>
            <a:prstDash val="solid"/>
          </a:ln>
        </p:spPr>
      </p:sp>
      <p:sp>
        <p:nvSpPr>
          <p:cNvPr id="23" name="Text 21"/>
          <p:cNvSpPr/>
          <p:nvPr/>
        </p:nvSpPr>
        <p:spPr>
          <a:xfrm>
            <a:off x="812800" y="4748213"/>
            <a:ext cx="2898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Juste avant : </a:t>
            </a:r>
            <a:r>
              <a:rPr lang="en-US" sz="1200" dirty="0">
                <a:solidFill>
                  <a:srgbClr val="F4F6F8"/>
                </a:solidFill>
                <a:latin typeface="Inter" pitchFamily="34" charset="0"/>
                <a:ea typeface="Inter" pitchFamily="34" charset="-122"/>
                <a:cs typeface="Inter" pitchFamily="34" charset="-120"/>
              </a:rPr>
              <a:t>pnpm db:demo:docker</a:t>
            </a:r>
            <a:endParaRPr lang="en-US" sz="1200" dirty="0"/>
          </a:p>
        </p:txBody>
      </p:sp>
      <p:sp>
        <p:nvSpPr>
          <p:cNvPr id="24" name="Text 22"/>
          <p:cNvSpPr/>
          <p:nvPr/>
        </p:nvSpPr>
        <p:spPr>
          <a:xfrm>
            <a:off x="3711327" y="4748213"/>
            <a:ext cx="22450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Mot de passe : </a:t>
            </a:r>
            <a:r>
              <a:rPr lang="en-US" sz="1200" dirty="0">
                <a:solidFill>
                  <a:srgbClr val="F4F6F8"/>
                </a:solidFill>
                <a:latin typeface="Inter" pitchFamily="34" charset="0"/>
                <a:ea typeface="Inter" pitchFamily="34" charset="-122"/>
                <a:cs typeface="Inter" pitchFamily="34" charset="-120"/>
              </a:rPr>
              <a:t>etabli-2026</a:t>
            </a:r>
            <a:endParaRPr lang="en-US" sz="1200" dirty="0"/>
          </a:p>
        </p:txBody>
      </p:sp>
      <p:sp>
        <p:nvSpPr>
          <p:cNvPr id="25" name="Text 23"/>
          <p:cNvSpPr/>
          <p:nvPr/>
        </p:nvSpPr>
        <p:spPr>
          <a:xfrm>
            <a:off x="5956350" y="4748213"/>
            <a:ext cx="16672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Entre </a:t>
            </a:r>
            <a:r>
              <a:rPr lang="en-US" sz="1200" dirty="0">
                <a:solidFill>
                  <a:srgbClr val="F4F6F8"/>
                </a:solidFill>
                <a:latin typeface="Inter" pitchFamily="34" charset="0"/>
                <a:ea typeface="Inter" pitchFamily="34" charset="-122"/>
                <a:cs typeface="Inter" pitchFamily="34" charset="-120"/>
              </a:rPr>
              <a:t>8 h et 21 h 45</a:t>
            </a:r>
            <a:endParaRPr lang="en-US" sz="1200" dirty="0"/>
          </a:p>
        </p:txBody>
      </p:sp>
      <p:sp>
        <p:nvSpPr>
          <p:cNvPr id="26" name="Text 24"/>
          <p:cNvSpPr/>
          <p:nvPr/>
        </p:nvSpPr>
        <p:spPr>
          <a:xfrm>
            <a:off x="812800" y="6238280"/>
            <a:ext cx="2985195"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NOTE NEXT.JS /20</a:t>
            </a:r>
            <a:endParaRPr lang="en-US" sz="1200" dirty="0"/>
          </a:p>
        </p:txBody>
      </p:sp>
      <p:sp>
        <p:nvSpPr>
          <p:cNvPr id="27" name="Text 25"/>
          <p:cNvSpPr/>
          <p:nvPr/>
        </p:nvSpPr>
        <p:spPr>
          <a:xfrm>
            <a:off x="11148963" y="6238280"/>
            <a:ext cx="23023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02 · DÉMO NEXT.JS — CE QUI EST MONTRÉ 1/2</a:t>
            </a:r>
            <a:endParaRPr lang="en-US" sz="1200" dirty="0"/>
          </a:p>
        </p:txBody>
      </p:sp>
      <p:sp>
        <p:nvSpPr>
          <p:cNvPr id="3" name="Text 1"/>
          <p:cNvSpPr/>
          <p:nvPr>
            <p:ph type="title"/>
          </p:nvPr>
        </p:nvSpPr>
        <p:spPr>
          <a:xfrm>
            <a:off x="812800" y="11277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DU PUBLIC AU MODULE MÉTIER</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76041"/>
          <a:ext cx="10553700" cy="3004542"/>
        </p:xfrm>
        <a:graphic>
          <a:graphicData uri="http://schemas.openxmlformats.org/drawingml/2006/table">
            <a:tbl>
              <a:tblPr/>
              <a:tblGrid>
                <a:gridCol w="2321814"/>
                <a:gridCol w="4854702"/>
                <a:gridCol w="3377184"/>
              </a:tblGrid>
              <a:tr h="429220">
                <a:tc>
                  <a:txBody>
                    <a:bodyPr/>
                    <a:lstStyle/>
                    <a:p>
                      <a:pPr indent="0" marL="0">
                        <a:lnSpc>
                          <a:spcPts val="1680"/>
                        </a:lnSpc>
                        <a:buNone/>
                      </a:pPr>
                      <a:r>
                        <a:rPr lang="en-US" sz="1200" b="1" dirty="0">
                          <a:solidFill>
                            <a:srgbClr val="F4F6F8"/>
                          </a:solidFill>
                          <a:latin typeface="Inter" pitchFamily="34" charset="0"/>
                          <a:ea typeface="Inter" pitchFamily="34" charset="-122"/>
                          <a:cs typeface="Inter" pitchFamily="34" charset="-120"/>
                        </a:rPr>
                        <a:t>Attendu</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D4F52"/>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D4F52"/>
                      </a:solidFill>
                      <a:prstDash val="solid"/>
                      <a:round/>
                      <a:headEnd type="none" w="med" len="med"/>
                      <a:tailEnd type="none" w="med" len="med"/>
                    </a:lnB>
                    <a:solidFill>
                      <a:srgbClr val="1C1F24"/>
                    </a:solidFill>
                  </a:tcPr>
                </a:tc>
                <a:tc>
                  <a:txBody>
                    <a:bodyPr/>
                    <a:lstStyle/>
                    <a:p>
                      <a:pPr indent="0" marL="0">
                        <a:lnSpc>
                          <a:spcPts val="1680"/>
                        </a:lnSpc>
                        <a:buNone/>
                      </a:pPr>
                      <a:r>
                        <a:rPr lang="en-US" sz="1200" b="1" dirty="0">
                          <a:solidFill>
                            <a:srgbClr val="F4F6F8"/>
                          </a:solidFill>
                          <a:latin typeface="Inter" pitchFamily="34" charset="0"/>
                          <a:ea typeface="Inter" pitchFamily="34" charset="-122"/>
                          <a:cs typeface="Inter" pitchFamily="34" charset="-120"/>
                        </a:rPr>
                        <a:t>Dans Établi</a:t>
                      </a:r>
                      <a:endParaRPr lang="en-US" sz="1200" dirty="0">
                        <a:latin typeface="Inter" charset="0"/>
                        <a:ea typeface="Inter" charset="0"/>
                        <a:cs typeface="Inter" charset="0"/>
                      </a:endParaRPr>
                    </a:p>
                  </a:txBody>
                  <a:tcPr marL="152400" marR="152400" marT="101600" marB="101600" anchor="t">
                    <a:lnL w="12700" cap="flat" cmpd="sng" algn="ctr">
                      <a:solidFill>
                        <a:srgbClr val="4D4F52"/>
                      </a:solidFill>
                      <a:prstDash val="solid"/>
                      <a:round/>
                      <a:headEnd type="none" w="med" len="med"/>
                      <a:tailEnd type="none" w="med" len="med"/>
                    </a:lnL>
                    <a:lnR w="12700" cap="flat" cmpd="sng" algn="ctr">
                      <a:solidFill>
                        <a:srgbClr val="4D4F52"/>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D4F52"/>
                      </a:solidFill>
                      <a:prstDash val="solid"/>
                      <a:round/>
                      <a:headEnd type="none" w="med" len="med"/>
                      <a:tailEnd type="none" w="med" len="med"/>
                    </a:lnB>
                    <a:solidFill>
                      <a:srgbClr val="1C1F24"/>
                    </a:solidFill>
                  </a:tcPr>
                </a:tc>
                <a:tc>
                  <a:txBody>
                    <a:bodyPr/>
                    <a:lstStyle/>
                    <a:p>
                      <a:pPr indent="0" marL="0">
                        <a:lnSpc>
                          <a:spcPts val="1680"/>
                        </a:lnSpc>
                        <a:buNone/>
                      </a:pPr>
                      <a:r>
                        <a:rPr lang="en-US" sz="1200" b="1" dirty="0">
                          <a:solidFill>
                            <a:srgbClr val="F4F6F8"/>
                          </a:solidFill>
                          <a:latin typeface="Inter" pitchFamily="34" charset="0"/>
                          <a:ea typeface="Inter" pitchFamily="34" charset="-122"/>
                          <a:cs typeface="Inter" pitchFamily="34" charset="-120"/>
                        </a:rPr>
                        <a:t>Où</a:t>
                      </a:r>
                      <a:endParaRPr lang="en-US" sz="1200" dirty="0">
                        <a:latin typeface="Inter" charset="0"/>
                        <a:ea typeface="Inter" charset="0"/>
                        <a:cs typeface="Inter" charset="0"/>
                      </a:endParaRPr>
                    </a:p>
                  </a:txBody>
                  <a:tcPr marL="152400" marR="152400" marT="101600" marB="101600" anchor="t">
                    <a:lnL w="12700" cap="flat" cmpd="sng" algn="ctr">
                      <a:solidFill>
                        <a:srgbClr val="4D4F52"/>
                      </a:solidFill>
                      <a:prstDash val="solid"/>
                      <a:round/>
                      <a:headEnd type="none" w="med" len="med"/>
                      <a:tailEnd type="none" w="med" len="med"/>
                    </a:lnL>
                    <a:lnR w="12700" cap="flat" cmpd="sng" algn="ctr">
                      <a:solidFill>
                        <a:srgbClr val="4D4F52"/>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D4F52"/>
                      </a:solidFill>
                      <a:prstDash val="solid"/>
                      <a:round/>
                      <a:headEnd type="none" w="med" len="med"/>
                      <a:tailEnd type="none" w="med" len="med"/>
                    </a:lnB>
                    <a:solidFill>
                      <a:srgbClr val="1C1F24"/>
                    </a:solidFill>
                  </a:tcPr>
                </a:tc>
              </a:tr>
              <a:tr h="4292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Marketing / public</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D4F52"/>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Pages prérendues, sitemap.xml, robots.txt</a:t>
                      </a:r>
                      <a:endParaRPr lang="en-US" sz="1200" dirty="0">
                        <a:latin typeface="Inter" charset="0"/>
                        <a:ea typeface="Inter" charset="0"/>
                        <a:cs typeface="Inter" charset="0"/>
                      </a:endParaRPr>
                    </a:p>
                  </a:txBody>
                  <a:tcPr marL="152400" marR="152400" marT="101600" marB="1016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D4F52"/>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F6A00"/>
                          </a:solidFill>
                          <a:latin typeface="Inter" pitchFamily="34" charset="0"/>
                          <a:ea typeface="Inter" pitchFamily="34" charset="-122"/>
                          <a:cs typeface="Inter" pitchFamily="34" charset="-120"/>
                        </a:rPr>
                        <a:t>/ · /fonctionnalites · /faq</a:t>
                      </a:r>
                      <a:endParaRPr lang="en-US" sz="1200" dirty="0">
                        <a:latin typeface="Inter" charset="0"/>
                        <a:ea typeface="Inter" charset="0"/>
                        <a:cs typeface="Inter" charset="0"/>
                      </a:endParaRPr>
                    </a:p>
                  </a:txBody>
                  <a:tcPr marL="152400" marR="152400" marT="101600" marB="1016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D4F52"/>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r h="4292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Auth</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Cookie httpOnly posé par Next, garde proxy.ts</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F6A00"/>
                          </a:solidFill>
                          <a:latin typeface="Inter" pitchFamily="34" charset="0"/>
                          <a:ea typeface="Inter" pitchFamily="34" charset="-122"/>
                          <a:cs typeface="Inter" pitchFamily="34" charset="-120"/>
                        </a:rPr>
                        <a:t>/connexion · /inscription</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r>
              <a:tr h="4292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Onboarding</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Rejoindre un atelier, déclarer ses pratiques</a:t>
                      </a:r>
                      <a:endParaRPr lang="en-US" sz="1200" dirty="0">
                        <a:latin typeface="Inter" charset="0"/>
                        <a:ea typeface="Inter" charset="0"/>
                        <a:cs typeface="Inter" charset="0"/>
                      </a:endParaRPr>
                    </a:p>
                  </a:txBody>
                  <a:tcPr marL="152400" marR="152400" marT="101600" marB="1016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F6A00"/>
                          </a:solidFill>
                          <a:latin typeface="Inter" pitchFamily="34" charset="0"/>
                          <a:ea typeface="Inter" pitchFamily="34" charset="-122"/>
                          <a:cs typeface="Inter" pitchFamily="34" charset="-120"/>
                        </a:rPr>
                        <a:t>/bienvenue</a:t>
                      </a:r>
                      <a:endParaRPr lang="en-US" sz="1200" dirty="0">
                        <a:latin typeface="Inter" charset="0"/>
                        <a:ea typeface="Inter" charset="0"/>
                        <a:cs typeface="Inter" charset="0"/>
                      </a:endParaRPr>
                    </a:p>
                  </a:txBody>
                  <a:tcPr marL="152400" marR="152400" marT="101600" marB="1016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r h="4292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Espace utilisateur</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Prochain créneau, compteurs, réservations</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F6A00"/>
                          </a:solidFill>
                          <a:latin typeface="Inter" pitchFamily="34" charset="0"/>
                          <a:ea typeface="Inter" pitchFamily="34" charset="-122"/>
                          <a:cs typeface="Inter" pitchFamily="34" charset="-120"/>
                        </a:rPr>
                        <a:t>/tableau-de-bord · /reservations</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r>
              <a:tr h="4292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Module métier</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Habilitation par machine, semaine, réservation</a:t>
                      </a:r>
                      <a:endParaRPr lang="en-US" sz="1200" dirty="0">
                        <a:latin typeface="Inter" charset="0"/>
                        <a:ea typeface="Inter" charset="0"/>
                        <a:cs typeface="Inter" charset="0"/>
                      </a:endParaRPr>
                    </a:p>
                  </a:txBody>
                  <a:tcPr marL="152400" marR="152400" marT="101600" marB="1016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F6A00"/>
                          </a:solidFill>
                          <a:latin typeface="Inter" pitchFamily="34" charset="0"/>
                          <a:ea typeface="Inter" pitchFamily="34" charset="-122"/>
                          <a:cs typeface="Inter" pitchFamily="34" charset="-120"/>
                        </a:rPr>
                        <a:t>/machines/[id] · /habilitations</a:t>
                      </a:r>
                      <a:endParaRPr lang="en-US" sz="1200" dirty="0">
                        <a:latin typeface="Inter" charset="0"/>
                        <a:ea typeface="Inter" charset="0"/>
                        <a:cs typeface="Inter" charset="0"/>
                      </a:endParaRPr>
                    </a:p>
                  </a:txBody>
                  <a:tcPr marL="152400" marR="152400" marT="101600" marB="1016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r h="4292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Settings</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Profil, mot de passe, thème stocké en base</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F6A00"/>
                          </a:solidFill>
                          <a:latin typeface="Inter" pitchFamily="34" charset="0"/>
                          <a:ea typeface="Inter" pitchFamily="34" charset="-122"/>
                          <a:cs typeface="Inter" pitchFamily="34" charset="-120"/>
                        </a:rPr>
                        <a:t>/parametres</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r>
            </a:tbl>
          </a:graphicData>
        </a:graphic>
      </p:graphicFrame>
      <p:sp>
        <p:nvSpPr>
          <p:cNvPr id="5" name="Text 2"/>
          <p:cNvSpPr/>
          <p:nvPr/>
        </p:nvSpPr>
        <p:spPr>
          <a:xfrm>
            <a:off x="812800" y="6238280"/>
            <a:ext cx="2985195"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NOTE NEXT.JS /20</a:t>
            </a:r>
            <a:endParaRPr lang="en-US" sz="1200" dirty="0"/>
          </a:p>
        </p:txBody>
      </p:sp>
      <p:sp>
        <p:nvSpPr>
          <p:cNvPr id="6" name="Text 3"/>
          <p:cNvSpPr/>
          <p:nvPr/>
        </p:nvSpPr>
        <p:spPr>
          <a:xfrm>
            <a:off x="11137950" y="6238280"/>
            <a:ext cx="2412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02 · DÉMO NEXT.JS — CE QUI EST MONTRÉ 2/2</a:t>
            </a:r>
            <a:endParaRPr lang="en-US" sz="1200" dirty="0"/>
          </a:p>
        </p:txBody>
      </p:sp>
      <p:sp>
        <p:nvSpPr>
          <p:cNvPr id="3" name="Text 1"/>
          <p:cNvSpPr/>
          <p:nvPr>
            <p:ph type="title"/>
          </p:nvPr>
        </p:nvSpPr>
        <p:spPr>
          <a:xfrm>
            <a:off x="812800" y="11277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DU BACK-OFFICE AU LANCEMENT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76041"/>
          <a:ext cx="10553700" cy="3433762"/>
        </p:xfrm>
        <a:graphic>
          <a:graphicData uri="http://schemas.openxmlformats.org/drawingml/2006/table">
            <a:tbl>
              <a:tblPr/>
              <a:tblGrid>
                <a:gridCol w="2321814"/>
                <a:gridCol w="5276850"/>
                <a:gridCol w="2955036"/>
              </a:tblGrid>
              <a:tr h="429220">
                <a:tc>
                  <a:txBody>
                    <a:bodyPr/>
                    <a:lstStyle/>
                    <a:p>
                      <a:pPr indent="0" marL="0">
                        <a:lnSpc>
                          <a:spcPts val="1680"/>
                        </a:lnSpc>
                        <a:buNone/>
                      </a:pPr>
                      <a:r>
                        <a:rPr lang="en-US" sz="1200" b="1" dirty="0">
                          <a:solidFill>
                            <a:srgbClr val="F4F6F8"/>
                          </a:solidFill>
                          <a:latin typeface="Inter" pitchFamily="34" charset="0"/>
                          <a:ea typeface="Inter" pitchFamily="34" charset="-122"/>
                          <a:cs typeface="Inter" pitchFamily="34" charset="-120"/>
                        </a:rPr>
                        <a:t>Attendu</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D4F52"/>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D4F52"/>
                      </a:solidFill>
                      <a:prstDash val="solid"/>
                      <a:round/>
                      <a:headEnd type="none" w="med" len="med"/>
                      <a:tailEnd type="none" w="med" len="med"/>
                    </a:lnB>
                    <a:solidFill>
                      <a:srgbClr val="1C1F24"/>
                    </a:solidFill>
                  </a:tcPr>
                </a:tc>
                <a:tc>
                  <a:txBody>
                    <a:bodyPr/>
                    <a:lstStyle/>
                    <a:p>
                      <a:pPr indent="0" marL="0">
                        <a:lnSpc>
                          <a:spcPts val="1680"/>
                        </a:lnSpc>
                        <a:buNone/>
                      </a:pPr>
                      <a:r>
                        <a:rPr lang="en-US" sz="1200" b="1" dirty="0">
                          <a:solidFill>
                            <a:srgbClr val="F4F6F8"/>
                          </a:solidFill>
                          <a:latin typeface="Inter" pitchFamily="34" charset="0"/>
                          <a:ea typeface="Inter" pitchFamily="34" charset="-122"/>
                          <a:cs typeface="Inter" pitchFamily="34" charset="-120"/>
                        </a:rPr>
                        <a:t>Dans Établi</a:t>
                      </a:r>
                      <a:endParaRPr lang="en-US" sz="1200" dirty="0">
                        <a:latin typeface="Inter" charset="0"/>
                        <a:ea typeface="Inter" charset="0"/>
                        <a:cs typeface="Inter" charset="0"/>
                      </a:endParaRPr>
                    </a:p>
                  </a:txBody>
                  <a:tcPr marL="152400" marR="152400" marT="101600" marB="101600" anchor="t">
                    <a:lnL w="12700" cap="flat" cmpd="sng" algn="ctr">
                      <a:solidFill>
                        <a:srgbClr val="4D4F52"/>
                      </a:solidFill>
                      <a:prstDash val="solid"/>
                      <a:round/>
                      <a:headEnd type="none" w="med" len="med"/>
                      <a:tailEnd type="none" w="med" len="med"/>
                    </a:lnL>
                    <a:lnR w="12700" cap="flat" cmpd="sng" algn="ctr">
                      <a:solidFill>
                        <a:srgbClr val="4D4F52"/>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D4F52"/>
                      </a:solidFill>
                      <a:prstDash val="solid"/>
                      <a:round/>
                      <a:headEnd type="none" w="med" len="med"/>
                      <a:tailEnd type="none" w="med" len="med"/>
                    </a:lnB>
                    <a:solidFill>
                      <a:srgbClr val="1C1F24"/>
                    </a:solidFill>
                  </a:tcPr>
                </a:tc>
                <a:tc>
                  <a:txBody>
                    <a:bodyPr/>
                    <a:lstStyle/>
                    <a:p>
                      <a:pPr indent="0" marL="0">
                        <a:lnSpc>
                          <a:spcPts val="1680"/>
                        </a:lnSpc>
                        <a:buNone/>
                      </a:pPr>
                      <a:r>
                        <a:rPr lang="en-US" sz="1200" b="1" dirty="0">
                          <a:solidFill>
                            <a:srgbClr val="F4F6F8"/>
                          </a:solidFill>
                          <a:latin typeface="Inter" pitchFamily="34" charset="0"/>
                          <a:ea typeface="Inter" pitchFamily="34" charset="-122"/>
                          <a:cs typeface="Inter" pitchFamily="34" charset="-120"/>
                        </a:rPr>
                        <a:t>Où</a:t>
                      </a:r>
                      <a:endParaRPr lang="en-US" sz="1200" dirty="0">
                        <a:latin typeface="Inter" charset="0"/>
                        <a:ea typeface="Inter" charset="0"/>
                        <a:cs typeface="Inter" charset="0"/>
                      </a:endParaRPr>
                    </a:p>
                  </a:txBody>
                  <a:tcPr marL="152400" marR="152400" marT="101600" marB="101600" anchor="t">
                    <a:lnL w="12700" cap="flat" cmpd="sng" algn="ctr">
                      <a:solidFill>
                        <a:srgbClr val="4D4F52"/>
                      </a:solidFill>
                      <a:prstDash val="solid"/>
                      <a:round/>
                      <a:headEnd type="none" w="med" len="med"/>
                      <a:tailEnd type="none" w="med" len="med"/>
                    </a:lnL>
                    <a:lnR w="12700" cap="flat" cmpd="sng" algn="ctr">
                      <a:solidFill>
                        <a:srgbClr val="4D4F52"/>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D4F52"/>
                      </a:solidFill>
                      <a:prstDash val="solid"/>
                      <a:round/>
                      <a:headEnd type="none" w="med" len="med"/>
                      <a:tailEnd type="none" w="med" len="med"/>
                    </a:lnB>
                    <a:solidFill>
                      <a:srgbClr val="1C1F24"/>
                    </a:solidFill>
                  </a:tcPr>
                </a:tc>
              </a:tr>
              <a:tr h="4292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Back-office / admin</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D4F52"/>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Habilitations, parc, pointage, stats ; ateliers, comptes</a:t>
                      </a:r>
                      <a:endParaRPr lang="en-US" sz="1200" dirty="0">
                        <a:latin typeface="Inter" charset="0"/>
                        <a:ea typeface="Inter" charset="0"/>
                        <a:cs typeface="Inter" charset="0"/>
                      </a:endParaRPr>
                    </a:p>
                  </a:txBody>
                  <a:tcPr marL="152400" marR="152400" marT="101600" marB="1016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D4F52"/>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F6A00"/>
                          </a:solidFill>
                          <a:latin typeface="Inter" pitchFamily="34" charset="0"/>
                          <a:ea typeface="Inter" pitchFamily="34" charset="-122"/>
                          <a:cs typeface="Inter" pitchFamily="34" charset="-120"/>
                        </a:rPr>
                        <a:t>/manage/* · /admin/*</a:t>
                      </a:r>
                      <a:endParaRPr lang="en-US" sz="1200" dirty="0">
                        <a:latin typeface="Inter" charset="0"/>
                        <a:ea typeface="Inter" charset="0"/>
                        <a:cs typeface="Inter" charset="0"/>
                      </a:endParaRPr>
                    </a:p>
                  </a:txBody>
                  <a:tcPr marL="152400" marR="152400" marT="101600" marB="1016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D4F52"/>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r h="4292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Données persistantes</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PostgreSQL et Drizzle, contrainte d'exclusion en base</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F6A00"/>
                          </a:solidFill>
                          <a:latin typeface="Inter" pitchFamily="34" charset="0"/>
                          <a:ea typeface="Inter" pitchFamily="34" charset="-122"/>
                          <a:cs typeface="Inter" pitchFamily="34" charset="-120"/>
                        </a:rPr>
                        <a:t>apps/api</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r>
              <a:tr h="4292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Autorisation serveur</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JwtAuthGuard, RolesGuard, 404 hors de son atelier</a:t>
                      </a:r>
                      <a:endParaRPr lang="en-US" sz="1200" dirty="0">
                        <a:latin typeface="Inter" charset="0"/>
                        <a:ea typeface="Inter" charset="0"/>
                        <a:cs typeface="Inter" charset="0"/>
                      </a:endParaRPr>
                    </a:p>
                  </a:txBody>
                  <a:tcPr marL="152400" marR="152400" marT="101600" marB="1016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F6A00"/>
                          </a:solidFill>
                          <a:latin typeface="Inter" pitchFamily="34" charset="0"/>
                          <a:ea typeface="Inter" pitchFamily="34" charset="-122"/>
                          <a:cs typeface="Inter" pitchFamily="34" charset="-120"/>
                        </a:rPr>
                        <a:t>apps/api</a:t>
                      </a:r>
                      <a:endParaRPr lang="en-US" sz="1200" dirty="0">
                        <a:latin typeface="Inter" charset="0"/>
                        <a:ea typeface="Inter" charset="0"/>
                        <a:cs typeface="Inter" charset="0"/>
                      </a:endParaRPr>
                    </a:p>
                  </a:txBody>
                  <a:tcPr marL="152400" marR="152400" marT="101600" marB="1016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r h="4292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États d'interface</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Suspense, error.tsx, listes vides, useActionState</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F6A00"/>
                          </a:solidFill>
                          <a:latin typeface="Inter" pitchFamily="34" charset="0"/>
                          <a:ea typeface="Inter" pitchFamily="34" charset="-122"/>
                          <a:cs typeface="Inter" pitchFamily="34" charset="-120"/>
                        </a:rPr>
                        <a:t>(app) · (marketing)</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r>
              <a:tr h="4292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Server / client</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17 fichiers sur 100 en 'use client'</a:t>
                      </a:r>
                      <a:endParaRPr lang="en-US" sz="1200" dirty="0">
                        <a:latin typeface="Inter" charset="0"/>
                        <a:ea typeface="Inter" charset="0"/>
                        <a:cs typeface="Inter" charset="0"/>
                      </a:endParaRPr>
                    </a:p>
                  </a:txBody>
                  <a:tcPr marL="152400" marR="152400" marT="101600" marB="1016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F6A00"/>
                          </a:solidFill>
                          <a:latin typeface="Inter" pitchFamily="34" charset="0"/>
                          <a:ea typeface="Inter" pitchFamily="34" charset="-122"/>
                          <a:cs typeface="Inter" pitchFamily="34" charset="-120"/>
                        </a:rPr>
                        <a:t>calendrier, formulaires</a:t>
                      </a:r>
                      <a:endParaRPr lang="en-US" sz="1200" dirty="0">
                        <a:latin typeface="Inter" charset="0"/>
                        <a:ea typeface="Inter" charset="0"/>
                        <a:cs typeface="Inter" charset="0"/>
                      </a:endParaRPr>
                    </a:p>
                  </a:txBody>
                  <a:tcPr marL="152400" marR="152400" marT="101600" marB="1016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r h="4292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Cache, invalidation</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'use cache' et cacheTag, updateTag à l'écriture</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F6A00"/>
                          </a:solidFill>
                          <a:latin typeface="Inter" pitchFamily="34" charset="0"/>
                          <a:ea typeface="Inter" pitchFamily="34" charset="-122"/>
                          <a:cs typeface="Inter" pitchFamily="34" charset="-120"/>
                        </a:rPr>
                        <a:t>annuaire, fiches</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r>
              <a:tr h="4292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README, lancement</a:t>
                      </a:r>
                      <a:endParaRPr lang="en-US" sz="1200" dirty="0">
                        <a:latin typeface="Inter" charset="0"/>
                        <a:ea typeface="Inter" charset="0"/>
                        <a:cs typeface="Inter" charset="0"/>
                      </a:endParaRPr>
                    </a:p>
                  </a:txBody>
                  <a:tcPr marL="152400" marR="152400" marT="101600" marB="1016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Un README par app, comptes de démo, compose</a:t>
                      </a:r>
                      <a:endParaRPr lang="en-US" sz="1200" dirty="0">
                        <a:latin typeface="Inter" charset="0"/>
                        <a:ea typeface="Inter" charset="0"/>
                        <a:cs typeface="Inter" charset="0"/>
                      </a:endParaRPr>
                    </a:p>
                  </a:txBody>
                  <a:tcPr marL="152400" marR="152400" marT="101600" marB="1016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F6A00"/>
                          </a:solidFill>
                          <a:latin typeface="Inter" pitchFamily="34" charset="0"/>
                          <a:ea typeface="Inter" pitchFamily="34" charset="-122"/>
                          <a:cs typeface="Inter" pitchFamily="34" charset="-120"/>
                        </a:rPr>
                        <a:t>README.md</a:t>
                      </a:r>
                      <a:endParaRPr lang="en-US" sz="1200" dirty="0">
                        <a:latin typeface="Inter" charset="0"/>
                        <a:ea typeface="Inter" charset="0"/>
                        <a:cs typeface="Inter" charset="0"/>
                      </a:endParaRPr>
                    </a:p>
                  </a:txBody>
                  <a:tcPr marL="152400" marR="152400" marT="101600" marB="1016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bl>
          </a:graphicData>
        </a:graphic>
      </p:graphicFrame>
      <p:sp>
        <p:nvSpPr>
          <p:cNvPr id="5" name="Text 2"/>
          <p:cNvSpPr/>
          <p:nvPr/>
        </p:nvSpPr>
        <p:spPr>
          <a:xfrm>
            <a:off x="812800" y="6238280"/>
            <a:ext cx="2985195"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NOTE NEXT.JS /20</a:t>
            </a:r>
            <a:endParaRPr lang="en-US" sz="1200" dirty="0"/>
          </a:p>
        </p:txBody>
      </p:sp>
      <p:sp>
        <p:nvSpPr>
          <p:cNvPr id="6" name="Text 3"/>
          <p:cNvSpPr/>
          <p:nvPr/>
        </p:nvSpPr>
        <p:spPr>
          <a:xfrm>
            <a:off x="11137751" y="6238280"/>
            <a:ext cx="24144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02 · DÉMO NEXT.JS — CHOIX SERVER / CLIENT</a:t>
            </a:r>
            <a:endParaRPr lang="en-US" sz="1200" dirty="0"/>
          </a:p>
        </p:txBody>
      </p:sp>
      <p:sp>
        <p:nvSpPr>
          <p:cNvPr id="3" name="Text 1"/>
          <p:cNvSpPr/>
          <p:nvPr>
            <p:ph type="title"/>
          </p:nvPr>
        </p:nvSpPr>
        <p:spPr>
          <a:xfrm>
            <a:off x="812800" y="11277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SERVER COMPONENTS PAR DÉFAUT, UN SEUL ÎLOT CLIENT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76041"/>
          <a:ext cx="5946130" cy="2146102"/>
        </p:xfrm>
        <a:graphic>
          <a:graphicData uri="http://schemas.openxmlformats.org/drawingml/2006/table">
            <a:tbl>
              <a:tblPr/>
              <a:tblGrid>
                <a:gridCol w="1545994"/>
                <a:gridCol w="2973065"/>
                <a:gridCol w="1427071"/>
              </a:tblGrid>
              <a:tr h="429220">
                <a:tc>
                  <a:txBody>
                    <a:bodyPr/>
                    <a:lstStyle/>
                    <a:p>
                      <a:pPr indent="0" marL="0">
                        <a:lnSpc>
                          <a:spcPts val="1680"/>
                        </a:lnSpc>
                        <a:buNone/>
                      </a:pPr>
                      <a:r>
                        <a:rPr lang="en-US" sz="1200" b="1" dirty="0">
                          <a:solidFill>
                            <a:srgbClr val="F4F6F8"/>
                          </a:solidFill>
                          <a:latin typeface="Inter" pitchFamily="34" charset="0"/>
                          <a:ea typeface="Inter" pitchFamily="34" charset="-122"/>
                          <a:cs typeface="Inter" pitchFamily="34" charset="-120"/>
                        </a:rPr>
                        <a:t>Groupe</a:t>
                      </a:r>
                      <a:endParaRPr lang="en-US" sz="1200" dirty="0">
                        <a:latin typeface="Inter" charset="0"/>
                        <a:ea typeface="Inter" charset="0"/>
                        <a:cs typeface="Inter" charset="0"/>
                      </a:endParaRPr>
                    </a:p>
                  </a:txBody>
                  <a:tcPr marL="127000" marR="127000" marT="101600" marB="101600" anchor="t">
                    <a:lnL w="12700" cap="flat" cmpd="sng" algn="ctr">
                      <a:solidFill>
                        <a:srgbClr val="404041"/>
                      </a:solidFill>
                      <a:prstDash val="solid"/>
                      <a:round/>
                      <a:headEnd type="none" w="med" len="med"/>
                      <a:tailEnd type="none" w="med" len="med"/>
                    </a:lnL>
                    <a:lnR w="12700" cap="flat" cmpd="sng" algn="ctr">
                      <a:solidFill>
                        <a:srgbClr val="4D4F52"/>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D4F52"/>
                      </a:solidFill>
                      <a:prstDash val="solid"/>
                      <a:round/>
                      <a:headEnd type="none" w="med" len="med"/>
                      <a:tailEnd type="none" w="med" len="med"/>
                    </a:lnB>
                    <a:solidFill>
                      <a:srgbClr val="1C1F24"/>
                    </a:solidFill>
                  </a:tcPr>
                </a:tc>
                <a:tc>
                  <a:txBody>
                    <a:bodyPr/>
                    <a:lstStyle/>
                    <a:p>
                      <a:pPr indent="0" marL="0">
                        <a:lnSpc>
                          <a:spcPts val="1680"/>
                        </a:lnSpc>
                        <a:buNone/>
                      </a:pPr>
                      <a:r>
                        <a:rPr lang="en-US" sz="1200" b="1" dirty="0">
                          <a:solidFill>
                            <a:srgbClr val="F4F6F8"/>
                          </a:solidFill>
                          <a:latin typeface="Inter" pitchFamily="34" charset="0"/>
                          <a:ea typeface="Inter" pitchFamily="34" charset="-122"/>
                          <a:cs typeface="Inter" pitchFamily="34" charset="-120"/>
                        </a:rPr>
                        <a:t>Coquille</a:t>
                      </a:r>
                      <a:endParaRPr lang="en-US" sz="1200" dirty="0">
                        <a:latin typeface="Inter" charset="0"/>
                        <a:ea typeface="Inter" charset="0"/>
                        <a:cs typeface="Inter" charset="0"/>
                      </a:endParaRPr>
                    </a:p>
                  </a:txBody>
                  <a:tcPr marL="127000" marR="127000" marT="101600" marB="101600" anchor="t">
                    <a:lnL w="12700" cap="flat" cmpd="sng" algn="ctr">
                      <a:solidFill>
                        <a:srgbClr val="4D4F52"/>
                      </a:solidFill>
                      <a:prstDash val="solid"/>
                      <a:round/>
                      <a:headEnd type="none" w="med" len="med"/>
                      <a:tailEnd type="none" w="med" len="med"/>
                    </a:lnL>
                    <a:lnR w="12700" cap="flat" cmpd="sng" algn="ctr">
                      <a:solidFill>
                        <a:srgbClr val="4D4F52"/>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D4F52"/>
                      </a:solidFill>
                      <a:prstDash val="solid"/>
                      <a:round/>
                      <a:headEnd type="none" w="med" len="med"/>
                      <a:tailEnd type="none" w="med" len="med"/>
                    </a:lnB>
                    <a:solidFill>
                      <a:srgbClr val="1C1F24"/>
                    </a:solidFill>
                  </a:tcPr>
                </a:tc>
                <a:tc>
                  <a:txBody>
                    <a:bodyPr/>
                    <a:lstStyle/>
                    <a:p>
                      <a:pPr indent="0" marL="0">
                        <a:lnSpc>
                          <a:spcPts val="1680"/>
                        </a:lnSpc>
                        <a:buNone/>
                      </a:pPr>
                      <a:r>
                        <a:rPr lang="en-US" sz="1200" b="1" dirty="0">
                          <a:solidFill>
                            <a:srgbClr val="F4F6F8"/>
                          </a:solidFill>
                          <a:latin typeface="Inter" pitchFamily="34" charset="0"/>
                          <a:ea typeface="Inter" pitchFamily="34" charset="-122"/>
                          <a:cs typeface="Inter" pitchFamily="34" charset="-120"/>
                        </a:rPr>
                        <a:t>Rendu</a:t>
                      </a:r>
                      <a:endParaRPr lang="en-US" sz="1200" dirty="0">
                        <a:latin typeface="Inter" charset="0"/>
                        <a:ea typeface="Inter" charset="0"/>
                        <a:cs typeface="Inter" charset="0"/>
                      </a:endParaRPr>
                    </a:p>
                  </a:txBody>
                  <a:tcPr marL="127000" marR="127000" marT="101600" marB="101600" anchor="t">
                    <a:lnL w="12700" cap="flat" cmpd="sng" algn="ctr">
                      <a:solidFill>
                        <a:srgbClr val="4D4F52"/>
                      </a:solidFill>
                      <a:prstDash val="solid"/>
                      <a:round/>
                      <a:headEnd type="none" w="med" len="med"/>
                      <a:tailEnd type="none" w="med" len="med"/>
                    </a:lnL>
                    <a:lnR w="12700" cap="flat" cmpd="sng" algn="ctr">
                      <a:solidFill>
                        <a:srgbClr val="4D4F52"/>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D4F52"/>
                      </a:solidFill>
                      <a:prstDash val="solid"/>
                      <a:round/>
                      <a:headEnd type="none" w="med" len="med"/>
                      <a:tailEnd type="none" w="med" len="med"/>
                    </a:lnB>
                    <a:solidFill>
                      <a:srgbClr val="1C1F24"/>
                    </a:solidFill>
                  </a:tcPr>
                </a:tc>
              </a:tr>
              <a:tr h="4292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(marketing)</a:t>
                      </a:r>
                      <a:endParaRPr lang="en-US" sz="1200" dirty="0">
                        <a:latin typeface="Inter" charset="0"/>
                        <a:ea typeface="Inter" charset="0"/>
                        <a:cs typeface="Inter" charset="0"/>
                      </a:endParaRPr>
                    </a:p>
                  </a:txBody>
                  <a:tcPr marL="127000" marR="127000" marT="101600" marB="1016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D4F52"/>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C3C8CF"/>
                          </a:solidFill>
                          <a:latin typeface="Inter" pitchFamily="34" charset="0"/>
                          <a:ea typeface="Inter" pitchFamily="34" charset="-122"/>
                          <a:cs typeface="Inter" pitchFamily="34" charset="-120"/>
                        </a:rPr>
                        <a:t>Navigation publique</a:t>
                      </a:r>
                      <a:endParaRPr lang="en-US" sz="1200" dirty="0">
                        <a:latin typeface="Inter" charset="0"/>
                        <a:ea typeface="Inter" charset="0"/>
                        <a:cs typeface="Inter" charset="0"/>
                      </a:endParaRPr>
                    </a:p>
                  </a:txBody>
                  <a:tcPr marL="127000" marR="127000" marT="101600" marB="1016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D4F52"/>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C3C8CF"/>
                          </a:solidFill>
                          <a:latin typeface="Inter" pitchFamily="34" charset="0"/>
                          <a:ea typeface="Inter" pitchFamily="34" charset="-122"/>
                          <a:cs typeface="Inter" pitchFamily="34" charset="-120"/>
                        </a:rPr>
                        <a:t>PPR</a:t>
                      </a:r>
                      <a:endParaRPr lang="en-US" sz="1200" dirty="0">
                        <a:latin typeface="Inter" charset="0"/>
                        <a:ea typeface="Inter" charset="0"/>
                        <a:cs typeface="Inter" charset="0"/>
                      </a:endParaRPr>
                    </a:p>
                  </a:txBody>
                  <a:tcPr marL="127000" marR="127000" marT="101600" marB="1016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D4F52"/>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r h="4292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(auth)</a:t>
                      </a:r>
                      <a:endParaRPr lang="en-US" sz="1200" dirty="0">
                        <a:latin typeface="Inter" charset="0"/>
                        <a:ea typeface="Inter" charset="0"/>
                        <a:cs typeface="Inter" charset="0"/>
                      </a:endParaRPr>
                    </a:p>
                  </a:txBody>
                  <a:tcPr marL="127000" marR="127000" marT="101600" marB="1016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C3C8CF"/>
                          </a:solidFill>
                          <a:latin typeface="Inter" pitchFamily="34" charset="0"/>
                          <a:ea typeface="Inter" pitchFamily="34" charset="-122"/>
                          <a:cs typeface="Inter" pitchFamily="34" charset="-120"/>
                        </a:rPr>
                        <a:t>Mot-logo seul, aucune session</a:t>
                      </a:r>
                      <a:endParaRPr lang="en-US" sz="1200" dirty="0">
                        <a:latin typeface="Inter" charset="0"/>
                        <a:ea typeface="Inter" charset="0"/>
                        <a:cs typeface="Inter" charset="0"/>
                      </a:endParaRPr>
                    </a:p>
                  </a:txBody>
                  <a:tcPr marL="127000" marR="127000" marT="101600" marB="1016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C3C8CF"/>
                          </a:solidFill>
                          <a:latin typeface="Inter" pitchFamily="34" charset="0"/>
                          <a:ea typeface="Inter" pitchFamily="34" charset="-122"/>
                          <a:cs typeface="Inter" pitchFamily="34" charset="-120"/>
                        </a:rPr>
                        <a:t>Statique</a:t>
                      </a:r>
                      <a:endParaRPr lang="en-US" sz="1200" dirty="0">
                        <a:latin typeface="Inter" charset="0"/>
                        <a:ea typeface="Inter" charset="0"/>
                        <a:cs typeface="Inter" charset="0"/>
                      </a:endParaRPr>
                    </a:p>
                  </a:txBody>
                  <a:tcPr marL="127000" marR="127000" marT="101600" marB="1016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r>
              <a:tr h="4292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(app)</a:t>
                      </a:r>
                      <a:endParaRPr lang="en-US" sz="1200" dirty="0">
                        <a:latin typeface="Inter" charset="0"/>
                        <a:ea typeface="Inter" charset="0"/>
                        <a:cs typeface="Inter" charset="0"/>
                      </a:endParaRPr>
                    </a:p>
                  </a:txBody>
                  <a:tcPr marL="127000" marR="127000" marT="101600" marB="1016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C3C8CF"/>
                          </a:solidFill>
                          <a:latin typeface="Inter" pitchFamily="34" charset="0"/>
                          <a:ea typeface="Inter" pitchFamily="34" charset="-122"/>
                          <a:cs typeface="Inter" pitchFamily="34" charset="-120"/>
                        </a:rPr>
                        <a:t>Navigation selon le rôle</a:t>
                      </a:r>
                      <a:endParaRPr lang="en-US" sz="1200" dirty="0">
                        <a:latin typeface="Inter" charset="0"/>
                        <a:ea typeface="Inter" charset="0"/>
                        <a:cs typeface="Inter" charset="0"/>
                      </a:endParaRPr>
                    </a:p>
                  </a:txBody>
                  <a:tcPr marL="127000" marR="127000" marT="101600" marB="1016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C3C8CF"/>
                          </a:solidFill>
                          <a:latin typeface="Inter" pitchFamily="34" charset="0"/>
                          <a:ea typeface="Inter" pitchFamily="34" charset="-122"/>
                          <a:cs typeface="Inter" pitchFamily="34" charset="-120"/>
                        </a:rPr>
                        <a:t>Dynamique</a:t>
                      </a:r>
                      <a:endParaRPr lang="en-US" sz="1200" dirty="0">
                        <a:latin typeface="Inter" charset="0"/>
                        <a:ea typeface="Inter" charset="0"/>
                        <a:cs typeface="Inter" charset="0"/>
                      </a:endParaRPr>
                    </a:p>
                  </a:txBody>
                  <a:tcPr marL="127000" marR="127000" marT="101600" marB="1016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r h="4292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(print)</a:t>
                      </a:r>
                      <a:endParaRPr lang="en-US" sz="1200" dirty="0">
                        <a:latin typeface="Inter" charset="0"/>
                        <a:ea typeface="Inter" charset="0"/>
                        <a:cs typeface="Inter" charset="0"/>
                      </a:endParaRPr>
                    </a:p>
                  </a:txBody>
                  <a:tcPr marL="127000" marR="127000" marT="101600" marB="1016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C3C8CF"/>
                          </a:solidFill>
                          <a:latin typeface="Inter" pitchFamily="34" charset="0"/>
                          <a:ea typeface="Inter" pitchFamily="34" charset="-122"/>
                          <a:cs typeface="Inter" pitchFamily="34" charset="-120"/>
                        </a:rPr>
                        <a:t>QR de pointage, fond blanc</a:t>
                      </a:r>
                      <a:endParaRPr lang="en-US" sz="1200" dirty="0">
                        <a:latin typeface="Inter" charset="0"/>
                        <a:ea typeface="Inter" charset="0"/>
                        <a:cs typeface="Inter" charset="0"/>
                      </a:endParaRPr>
                    </a:p>
                  </a:txBody>
                  <a:tcPr marL="127000" marR="127000" marT="101600" marB="1016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C3C8CF"/>
                          </a:solidFill>
                          <a:latin typeface="Inter" pitchFamily="34" charset="0"/>
                          <a:ea typeface="Inter" pitchFamily="34" charset="-122"/>
                          <a:cs typeface="Inter" pitchFamily="34" charset="-120"/>
                        </a:rPr>
                        <a:t>PPR</a:t>
                      </a:r>
                      <a:endParaRPr lang="en-US" sz="1200" dirty="0">
                        <a:latin typeface="Inter" charset="0"/>
                        <a:ea typeface="Inter" charset="0"/>
                        <a:cs typeface="Inter" charset="0"/>
                      </a:endParaRPr>
                    </a:p>
                  </a:txBody>
                  <a:tcPr marL="127000" marR="127000" marT="101600" marB="1016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r>
            </a:tbl>
          </a:graphicData>
        </a:graphic>
      </p:graphicFrame>
      <p:sp>
        <p:nvSpPr>
          <p:cNvPr id="5" name="Text 2"/>
          <p:cNvSpPr/>
          <p:nvPr/>
        </p:nvSpPr>
        <p:spPr>
          <a:xfrm>
            <a:off x="812800" y="4274542"/>
            <a:ext cx="6137595"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9AA1AB"/>
                </a:solidFill>
                <a:latin typeface="Inter" pitchFamily="34" charset="0"/>
                <a:ea typeface="Inter" pitchFamily="34" charset="-122"/>
                <a:cs typeface="Inter" pitchFamily="34" charset="-120"/>
              </a:rPr>
              <a:t>Toutes les mutations sont des Server Actions, dans </a:t>
            </a:r>
            <a:r>
              <a:rPr lang="en-US" sz="1200" dirty="0">
                <a:solidFill>
                  <a:srgbClr val="F4F6F8"/>
                </a:solidFill>
                <a:latin typeface="Inter" pitchFamily="34" charset="0"/>
                <a:ea typeface="Inter" pitchFamily="34" charset="-122"/>
                <a:cs typeface="Inter" pitchFamily="34" charset="-120"/>
              </a:rPr>
              <a:t>src/server/*.actions.ts</a:t>
            </a:r>
            <a:r>
              <a:rPr lang="en-US" sz="1200" dirty="0">
                <a:solidFill>
                  <a:srgbClr val="9AA1AB"/>
                </a:solidFill>
                <a:latin typeface="Inter" pitchFamily="34" charset="0"/>
                <a:ea typeface="Inter" pitchFamily="34" charset="-122"/>
                <a:cs typeface="Inter" pitchFamily="34" charset="-120"/>
              </a:rPr>
              <a:t>.</a:t>
            </a:r>
            <a:endParaRPr lang="en-US" sz="1200" dirty="0"/>
          </a:p>
        </p:txBody>
      </p:sp>
      <p:sp>
        <p:nvSpPr>
          <p:cNvPr id="6" name="Shape 3"/>
          <p:cNvSpPr/>
          <p:nvPr/>
        </p:nvSpPr>
        <p:spPr>
          <a:xfrm>
            <a:off x="7139930" y="1963341"/>
            <a:ext cx="0" cy="3878659"/>
          </a:xfrm>
          <a:prstGeom prst="line">
            <a:avLst/>
          </a:prstGeom>
          <a:noFill/>
          <a:ln w="25400">
            <a:solidFill>
              <a:srgbClr val="FF6A00"/>
            </a:solidFill>
            <a:prstDash val="solid"/>
          </a:ln>
        </p:spPr>
      </p:sp>
      <p:sp>
        <p:nvSpPr>
          <p:cNvPr id="7" name="Text 4"/>
          <p:cNvSpPr/>
          <p:nvPr/>
        </p:nvSpPr>
        <p:spPr>
          <a:xfrm>
            <a:off x="7406630" y="1963341"/>
            <a:ext cx="4091747"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F6A00"/>
                </a:solidFill>
                <a:latin typeface="Barlow Condensed" pitchFamily="34" charset="0"/>
                <a:ea typeface="Barlow Condensed" pitchFamily="34" charset="-122"/>
                <a:cs typeface="Barlow Condensed" pitchFamily="34" charset="-120"/>
              </a:rPr>
              <a:t>17 / 100</a:t>
            </a:r>
            <a:endParaRPr lang="en-US" sz="6000" dirty="0"/>
          </a:p>
        </p:txBody>
      </p:sp>
      <p:sp>
        <p:nvSpPr>
          <p:cNvPr id="8" name="Text 5"/>
          <p:cNvSpPr/>
          <p:nvPr/>
        </p:nvSpPr>
        <p:spPr>
          <a:xfrm>
            <a:off x="7406630" y="2852341"/>
            <a:ext cx="40917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fichiers portent 'use client'</a:t>
            </a:r>
            <a:endParaRPr lang="en-US" sz="1200" dirty="0"/>
          </a:p>
        </p:txBody>
      </p:sp>
      <p:sp>
        <p:nvSpPr>
          <p:cNvPr id="9" name="Text 6"/>
          <p:cNvSpPr/>
          <p:nvPr/>
        </p:nvSpPr>
        <p:spPr>
          <a:xfrm>
            <a:off x="7406630" y="3192661"/>
            <a:ext cx="4091747"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3C8CF"/>
                </a:solidFill>
                <a:latin typeface="Inter" pitchFamily="34" charset="0"/>
                <a:ea typeface="Inter" pitchFamily="34" charset="-122"/>
                <a:cs typeface="Inter" pitchFamily="34" charset="-120"/>
              </a:rPr>
              <a:t>Le calendrier de la fiche machine est la seule zone interactive. Son BFF, </a:t>
            </a:r>
            <a:r>
              <a:rPr lang="en-US" sz="1200" dirty="0">
                <a:solidFill>
                  <a:srgbClr val="F4F6F8"/>
                </a:solidFill>
                <a:latin typeface="Inter" pitchFamily="34" charset="0"/>
                <a:ea typeface="Inter" pitchFamily="34" charset="-122"/>
                <a:cs typeface="Inter" pitchFamily="34" charset="-120"/>
              </a:rPr>
              <a:t>/api/machines/[id]/availability</a:t>
            </a:r>
            <a:r>
              <a:rPr lang="en-US" sz="1200" dirty="0">
                <a:solidFill>
                  <a:srgbClr val="C3C8CF"/>
                </a:solidFill>
                <a:latin typeface="Inter" pitchFamily="34" charset="0"/>
                <a:ea typeface="Inter" pitchFamily="34" charset="-122"/>
                <a:cs typeface="Inter" pitchFamily="34" charset="-120"/>
              </a:rPr>
              <a:t>, est le seul Route Handler : il détient le cookie httpOnly, React Query l'interroge.</a:t>
            </a:r>
            <a:endParaRPr lang="en-US" sz="1200" dirty="0"/>
          </a:p>
        </p:txBody>
      </p:sp>
      <p:sp>
        <p:nvSpPr>
          <p:cNvPr id="10" name="Text 7"/>
          <p:cNvSpPr/>
          <p:nvPr/>
        </p:nvSpPr>
        <p:spPr>
          <a:xfrm>
            <a:off x="812800" y="6238280"/>
            <a:ext cx="2985195"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NOTE NEXT.JS /20</a:t>
            </a:r>
            <a:endParaRPr lang="en-US" sz="1200" dirty="0"/>
          </a:p>
        </p:txBody>
      </p:sp>
      <p:sp>
        <p:nvSpPr>
          <p:cNvPr id="11" name="Text 8"/>
          <p:cNvSpPr/>
          <p:nvPr/>
        </p:nvSpPr>
        <p:spPr>
          <a:xfrm>
            <a:off x="11170245" y="6238280"/>
            <a:ext cx="20895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02 · DÉMO NEXT.JS — CACHE</a:t>
            </a:r>
            <a:endParaRPr lang="en-US" sz="1200" dirty="0"/>
          </a:p>
        </p:txBody>
      </p:sp>
      <p:sp>
        <p:nvSpPr>
          <p:cNvPr id="3" name="Text 1"/>
          <p:cNvSpPr/>
          <p:nvPr>
            <p:ph type="title"/>
          </p:nvPr>
        </p:nvSpPr>
        <p:spPr>
          <a:xfrm>
            <a:off x="812800" y="11277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LE CACHE TOMBE AVEC L'ÉCRITURE QUI LE PÉRIME</a:t>
            </a:r>
            <a:endParaRPr lang="en-US" sz="3600" dirty="0"/>
          </a:p>
        </p:txBody>
      </p:sp>
      <p:sp>
        <p:nvSpPr>
          <p:cNvPr id="4" name="Shape 2"/>
          <p:cNvSpPr/>
          <p:nvPr/>
        </p:nvSpPr>
        <p:spPr>
          <a:xfrm>
            <a:off x="815975" y="1966516"/>
            <a:ext cx="3045867" cy="1365151"/>
          </a:xfrm>
          <a:prstGeom prst="rect">
            <a:avLst/>
          </a:prstGeom>
          <a:solidFill>
            <a:srgbClr val="131518"/>
          </a:solidFill>
          <a:ln w="6350">
            <a:solidFill>
              <a:srgbClr val="2A2E35"/>
            </a:solidFill>
            <a:prstDash val="solid"/>
          </a:ln>
        </p:spPr>
      </p:sp>
      <p:sp>
        <p:nvSpPr>
          <p:cNvPr id="5" name="Text 3"/>
          <p:cNvSpPr/>
          <p:nvPr/>
        </p:nvSpPr>
        <p:spPr>
          <a:xfrm>
            <a:off x="1022350" y="2172891"/>
            <a:ext cx="271211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6A00"/>
                </a:solidFill>
                <a:latin typeface="Inter" pitchFamily="34" charset="0"/>
                <a:ea typeface="Inter" pitchFamily="34" charset="-122"/>
                <a:cs typeface="Inter" pitchFamily="34" charset="-120"/>
              </a:rPr>
              <a:t>LECTURE</a:t>
            </a:r>
            <a:endParaRPr lang="en-US" sz="1200" dirty="0"/>
          </a:p>
        </p:txBody>
      </p:sp>
      <p:sp>
        <p:nvSpPr>
          <p:cNvPr id="6" name="Text 4"/>
          <p:cNvSpPr/>
          <p:nvPr/>
        </p:nvSpPr>
        <p:spPr>
          <a:xfrm>
            <a:off x="1022350" y="2462411"/>
            <a:ext cx="2712110"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3C8CF"/>
                </a:solidFill>
                <a:latin typeface="Inter" pitchFamily="34" charset="0"/>
                <a:ea typeface="Inter" pitchFamily="34" charset="-122"/>
                <a:cs typeface="Inter" pitchFamily="34" charset="-120"/>
              </a:rPr>
              <a:t>Annuaire et fiche d'atelier sous 'use cache', étiquetés « ateliers », durée de vie en minutes.</a:t>
            </a:r>
            <a:endParaRPr lang="en-US" sz="1200" dirty="0"/>
          </a:p>
        </p:txBody>
      </p:sp>
      <p:pic>
        <p:nvPicPr>
          <p:cNvPr id="7" name="Image 0" descr="arrow-right">    </p:cNvPr>
          <p:cNvPicPr>
            <a:picLocks noChangeAspect="1"/>
          </p:cNvPicPr>
          <p:nvPr/>
        </p:nvPicPr>
        <p:blipFill>
          <a:blip r:embed="rId1"/>
          <a:srcRect l="0" r="0" t="0" b="0"/>
          <a:stretch/>
        </p:blipFill>
        <p:spPr>
          <a:xfrm>
            <a:off x="4017417" y="2547491"/>
            <a:ext cx="406400" cy="203200"/>
          </a:xfrm>
          <a:prstGeom prst="rect">
            <a:avLst/>
          </a:prstGeom>
        </p:spPr>
      </p:pic>
      <p:sp>
        <p:nvSpPr>
          <p:cNvPr id="8" name="Shape 5"/>
          <p:cNvSpPr/>
          <p:nvPr/>
        </p:nvSpPr>
        <p:spPr>
          <a:xfrm>
            <a:off x="4579392" y="2076996"/>
            <a:ext cx="3045916" cy="1144191"/>
          </a:xfrm>
          <a:prstGeom prst="rect">
            <a:avLst/>
          </a:prstGeom>
          <a:solidFill>
            <a:srgbClr val="131518"/>
          </a:solidFill>
          <a:ln w="6350">
            <a:solidFill>
              <a:srgbClr val="2A2E35"/>
            </a:solidFill>
            <a:prstDash val="solid"/>
          </a:ln>
        </p:spPr>
      </p:sp>
      <p:sp>
        <p:nvSpPr>
          <p:cNvPr id="9" name="Text 6"/>
          <p:cNvSpPr/>
          <p:nvPr/>
        </p:nvSpPr>
        <p:spPr>
          <a:xfrm>
            <a:off x="4785767" y="2283371"/>
            <a:ext cx="2712161"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6A00"/>
                </a:solidFill>
                <a:latin typeface="Inter" pitchFamily="34" charset="0"/>
                <a:ea typeface="Inter" pitchFamily="34" charset="-122"/>
                <a:cs typeface="Inter" pitchFamily="34" charset="-120"/>
              </a:rPr>
              <a:t>ÉCRITURE</a:t>
            </a:r>
            <a:endParaRPr lang="en-US" sz="1200" dirty="0"/>
          </a:p>
        </p:txBody>
      </p:sp>
      <p:sp>
        <p:nvSpPr>
          <p:cNvPr id="10" name="Text 7"/>
          <p:cNvSpPr/>
          <p:nvPr/>
        </p:nvSpPr>
        <p:spPr>
          <a:xfrm>
            <a:off x="4785767" y="2572891"/>
            <a:ext cx="2712161"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3C8CF"/>
                </a:solidFill>
                <a:latin typeface="Inter" pitchFamily="34" charset="0"/>
                <a:ea typeface="Inter" pitchFamily="34" charset="-122"/>
                <a:cs typeface="Inter" pitchFamily="34" charset="-120"/>
              </a:rPr>
              <a:t>L'admin publie ou referme un atelier ; le fabmanager touche à son parc.</a:t>
            </a:r>
            <a:endParaRPr lang="en-US" sz="1200" dirty="0"/>
          </a:p>
        </p:txBody>
      </p:sp>
      <p:pic>
        <p:nvPicPr>
          <p:cNvPr id="11" name="Image 1" descr="arrow-right">    </p:cNvPr>
          <p:cNvPicPr>
            <a:picLocks noChangeAspect="1"/>
          </p:cNvPicPr>
          <p:nvPr/>
        </p:nvPicPr>
        <p:blipFill>
          <a:blip r:embed="rId2"/>
          <a:srcRect l="0" r="0" t="0" b="0"/>
          <a:stretch/>
        </p:blipFill>
        <p:spPr>
          <a:xfrm>
            <a:off x="7780883" y="2547491"/>
            <a:ext cx="406400" cy="203200"/>
          </a:xfrm>
          <a:prstGeom prst="rect">
            <a:avLst/>
          </a:prstGeom>
        </p:spPr>
      </p:pic>
      <p:sp>
        <p:nvSpPr>
          <p:cNvPr id="12" name="Shape 8"/>
          <p:cNvSpPr/>
          <p:nvPr/>
        </p:nvSpPr>
        <p:spPr>
          <a:xfrm>
            <a:off x="8339683" y="1969691"/>
            <a:ext cx="3039517" cy="1358801"/>
          </a:xfrm>
          <a:prstGeom prst="rect">
            <a:avLst/>
          </a:prstGeom>
          <a:solidFill>
            <a:srgbClr val="1C1F24"/>
          </a:solidFill>
          <a:ln/>
        </p:spPr>
      </p:sp>
      <p:sp>
        <p:nvSpPr>
          <p:cNvPr id="13" name="Text 9"/>
          <p:cNvSpPr/>
          <p:nvPr/>
        </p:nvSpPr>
        <p:spPr>
          <a:xfrm>
            <a:off x="8542883" y="2172891"/>
            <a:ext cx="271211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6A00"/>
                </a:solidFill>
                <a:latin typeface="Inter" pitchFamily="34" charset="0"/>
                <a:ea typeface="Inter" pitchFamily="34" charset="-122"/>
                <a:cs typeface="Inter" pitchFamily="34" charset="-120"/>
              </a:rPr>
              <a:t>INVALIDATION</a:t>
            </a:r>
            <a:endParaRPr lang="en-US" sz="1200" dirty="0"/>
          </a:p>
        </p:txBody>
      </p:sp>
      <p:sp>
        <p:nvSpPr>
          <p:cNvPr id="14" name="Text 10"/>
          <p:cNvSpPr/>
          <p:nvPr/>
        </p:nvSpPr>
        <p:spPr>
          <a:xfrm>
            <a:off x="8542883" y="2462411"/>
            <a:ext cx="2712110"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3C8CF"/>
                </a:solidFill>
                <a:latin typeface="Inter" pitchFamily="34" charset="0"/>
                <a:ea typeface="Inter" pitchFamily="34" charset="-122"/>
                <a:cs typeface="Inter" pitchFamily="34" charset="-120"/>
              </a:rPr>
              <a:t>La Server Action appelle updateTag : la prochaine lecture est fraîche, sans délai à attendre.</a:t>
            </a:r>
            <a:endParaRPr lang="en-US" sz="1200" dirty="0"/>
          </a:p>
        </p:txBody>
      </p:sp>
      <p:sp>
        <p:nvSpPr>
          <p:cNvPr id="15" name="Shape 11"/>
          <p:cNvSpPr/>
          <p:nvPr/>
        </p:nvSpPr>
        <p:spPr>
          <a:xfrm>
            <a:off x="812800" y="3690441"/>
            <a:ext cx="5410200" cy="1574602"/>
          </a:xfrm>
          <a:prstGeom prst="rect">
            <a:avLst/>
          </a:prstGeom>
          <a:solidFill>
            <a:srgbClr val="1C1F24"/>
          </a:solidFill>
          <a:ln/>
        </p:spPr>
      </p:sp>
      <p:sp>
        <p:nvSpPr>
          <p:cNvPr id="16" name="Text 12"/>
          <p:cNvSpPr/>
          <p:nvPr/>
        </p:nvSpPr>
        <p:spPr>
          <a:xfrm>
            <a:off x="1066800" y="3893641"/>
            <a:ext cx="50492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8534"/>
                </a:solidFill>
                <a:latin typeface="JetBrains Mono" pitchFamily="49" charset="0"/>
                <a:ea typeface="JetBrains Mono" pitchFamily="49" charset="-122"/>
                <a:cs typeface="JetBrains Mono" pitchFamily="49" charset="-120"/>
              </a:rPr>
              <a:t>'use cache'</a:t>
            </a:r>
            <a:endParaRPr lang="en-US" sz="1200" dirty="0"/>
          </a:p>
        </p:txBody>
      </p:sp>
      <p:sp>
        <p:nvSpPr>
          <p:cNvPr id="17" name="Text 13"/>
          <p:cNvSpPr/>
          <p:nvPr/>
        </p:nvSpPr>
        <p:spPr>
          <a:xfrm>
            <a:off x="1066800" y="4132362"/>
            <a:ext cx="50492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6F8"/>
                </a:solidFill>
                <a:latin typeface="JetBrains Mono" pitchFamily="49" charset="0"/>
                <a:ea typeface="JetBrains Mono" pitchFamily="49" charset="-122"/>
                <a:cs typeface="JetBrains Mono" pitchFamily="49" charset="-120"/>
              </a:rPr>
              <a:t>cacheTag('ateliers')</a:t>
            </a:r>
            <a:endParaRPr lang="en-US" sz="1200" dirty="0"/>
          </a:p>
        </p:txBody>
      </p:sp>
      <p:sp>
        <p:nvSpPr>
          <p:cNvPr id="18" name="Text 14"/>
          <p:cNvSpPr/>
          <p:nvPr/>
        </p:nvSpPr>
        <p:spPr>
          <a:xfrm>
            <a:off x="1066800" y="4371082"/>
            <a:ext cx="50492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6F8"/>
                </a:solidFill>
                <a:latin typeface="JetBrains Mono" pitchFamily="49" charset="0"/>
                <a:ea typeface="JetBrains Mono" pitchFamily="49" charset="-122"/>
                <a:cs typeface="JetBrains Mono" pitchFamily="49" charset="-120"/>
              </a:rPr>
              <a:t>cacheLife('minutes')</a:t>
            </a:r>
            <a:endParaRPr lang="en-US" sz="1200" dirty="0"/>
          </a:p>
        </p:txBody>
      </p:sp>
      <p:sp>
        <p:nvSpPr>
          <p:cNvPr id="19" name="Text 15"/>
          <p:cNvSpPr/>
          <p:nvPr/>
        </p:nvSpPr>
        <p:spPr>
          <a:xfrm>
            <a:off x="1066800" y="4609802"/>
            <a:ext cx="50492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JetBrains Mono" pitchFamily="49" charset="0"/>
                <a:ea typeface="JetBrains Mono" pitchFamily="49" charset="-122"/>
                <a:cs typeface="JetBrains Mono" pitchFamily="49" charset="-120"/>
              </a:rPr>
              <a:t>…</a:t>
            </a:r>
            <a:endParaRPr lang="en-US" sz="1200" dirty="0"/>
          </a:p>
        </p:txBody>
      </p:sp>
      <p:sp>
        <p:nvSpPr>
          <p:cNvPr id="20" name="Text 16"/>
          <p:cNvSpPr/>
          <p:nvPr/>
        </p:nvSpPr>
        <p:spPr>
          <a:xfrm>
            <a:off x="1066800" y="4848523"/>
            <a:ext cx="50492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6F8"/>
                </a:solidFill>
                <a:latin typeface="JetBrains Mono" pitchFamily="49" charset="0"/>
                <a:ea typeface="JetBrains Mono" pitchFamily="49" charset="-122"/>
                <a:cs typeface="JetBrains Mono" pitchFamily="49" charset="-120"/>
              </a:rPr>
              <a:t>updateTag('ateliers')</a:t>
            </a:r>
            <a:endParaRPr lang="en-US" sz="1200" dirty="0"/>
          </a:p>
        </p:txBody>
      </p:sp>
      <p:sp>
        <p:nvSpPr>
          <p:cNvPr id="21" name="Text 17"/>
          <p:cNvSpPr/>
          <p:nvPr/>
        </p:nvSpPr>
        <p:spPr>
          <a:xfrm>
            <a:off x="6477000" y="3690441"/>
            <a:ext cx="5049266" cy="160000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3C8CF"/>
                </a:solidFill>
                <a:latin typeface="Inter" pitchFamily="34" charset="0"/>
                <a:ea typeface="Inter" pitchFamily="34" charset="-122"/>
                <a:cs typeface="Inter" pitchFamily="34" charset="-120"/>
              </a:rPr>
              <a:t>Le prix du thème en base : un cookies() non suspendu casse le prerender avec cacheComponents. D'où html et body dans un layout racine sans session, et le chrome descendu dans les layouts de groupe.</a:t>
            </a:r>
            <a:endParaRPr lang="en-US" sz="1200" dirty="0"/>
          </a:p>
        </p:txBody>
      </p:sp>
      <p:sp>
        <p:nvSpPr>
          <p:cNvPr id="22" name="Text 18"/>
          <p:cNvSpPr/>
          <p:nvPr/>
        </p:nvSpPr>
        <p:spPr>
          <a:xfrm>
            <a:off x="812800" y="6238280"/>
            <a:ext cx="2985195"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NOTE NEXT.JS /20</a:t>
            </a:r>
            <a:endParaRPr lang="en-US" sz="1200" dirty="0"/>
          </a:p>
        </p:txBody>
      </p:sp>
      <p:sp>
        <p:nvSpPr>
          <p:cNvPr id="23" name="Text 19"/>
          <p:cNvSpPr/>
          <p:nvPr/>
        </p:nvSpPr>
        <p:spPr>
          <a:xfrm>
            <a:off x="11204426" y="6238280"/>
            <a:ext cx="17477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03 · DÉMO REACT NATIVE</a:t>
            </a:r>
            <a:endParaRPr lang="en-US" sz="1200" dirty="0"/>
          </a:p>
        </p:txBody>
      </p:sp>
      <p:sp>
        <p:nvSpPr>
          <p:cNvPr id="3" name="Text 1"/>
          <p:cNvSpPr/>
          <p:nvPr>
            <p:ph type="title"/>
          </p:nvPr>
        </p:nvSpPr>
        <p:spPr>
          <a:xfrm>
            <a:off x="812800" y="11277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L'APP EXISTE POUR LA CAMÉRA ET LA POSITION</a:t>
            </a:r>
            <a:endParaRPr lang="en-US" sz="3600" dirty="0"/>
          </a:p>
        </p:txBody>
      </p:sp>
      <p:sp>
        <p:nvSpPr>
          <p:cNvPr id="4" name="Shape 2"/>
          <p:cNvSpPr/>
          <p:nvPr/>
        </p:nvSpPr>
        <p:spPr>
          <a:xfrm>
            <a:off x="812800" y="1966516"/>
            <a:ext cx="5821660" cy="0"/>
          </a:xfrm>
          <a:prstGeom prst="line">
            <a:avLst/>
          </a:prstGeom>
          <a:noFill/>
          <a:ln w="6350">
            <a:solidFill>
              <a:srgbClr val="2A2E35"/>
            </a:solidFill>
            <a:prstDash val="solid"/>
          </a:ln>
        </p:spPr>
      </p:sp>
      <p:sp>
        <p:nvSpPr>
          <p:cNvPr id="5" name="Text 3"/>
          <p:cNvSpPr/>
          <p:nvPr/>
        </p:nvSpPr>
        <p:spPr>
          <a:xfrm>
            <a:off x="812800" y="2083991"/>
            <a:ext cx="1574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6A00"/>
                </a:solidFill>
                <a:latin typeface="Inter" pitchFamily="34" charset="0"/>
                <a:ea typeface="Inter" pitchFamily="34" charset="-122"/>
                <a:cs typeface="Inter" pitchFamily="34" charset="-120"/>
              </a:rPr>
              <a:t>Navigation</a:t>
            </a:r>
            <a:endParaRPr lang="en-US" sz="1200" dirty="0"/>
          </a:p>
        </p:txBody>
      </p:sp>
      <p:sp>
        <p:nvSpPr>
          <p:cNvPr id="6" name="Text 4"/>
          <p:cNvSpPr/>
          <p:nvPr/>
        </p:nvSpPr>
        <p:spPr>
          <a:xfrm>
            <a:off x="2489200" y="2083991"/>
            <a:ext cx="4269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Expo Router ; src/app/ ne porte que des coquilles</a:t>
            </a:r>
            <a:endParaRPr lang="en-US" sz="1200" dirty="0"/>
          </a:p>
        </p:txBody>
      </p:sp>
      <p:sp>
        <p:nvSpPr>
          <p:cNvPr id="7" name="Shape 5"/>
          <p:cNvSpPr/>
          <p:nvPr/>
        </p:nvSpPr>
        <p:spPr>
          <a:xfrm>
            <a:off x="812800" y="2414786"/>
            <a:ext cx="5821660" cy="0"/>
          </a:xfrm>
          <a:prstGeom prst="line">
            <a:avLst/>
          </a:prstGeom>
          <a:noFill/>
          <a:ln w="6350">
            <a:solidFill>
              <a:srgbClr val="2A2E35"/>
            </a:solidFill>
            <a:prstDash val="solid"/>
          </a:ln>
        </p:spPr>
      </p:sp>
      <p:sp>
        <p:nvSpPr>
          <p:cNvPr id="8" name="Text 6"/>
          <p:cNvSpPr/>
          <p:nvPr/>
        </p:nvSpPr>
        <p:spPr>
          <a:xfrm>
            <a:off x="812800" y="2532261"/>
            <a:ext cx="1574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6A00"/>
                </a:solidFill>
                <a:latin typeface="Inter" pitchFamily="34" charset="0"/>
                <a:ea typeface="Inter" pitchFamily="34" charset="-122"/>
                <a:cs typeface="Inter" pitchFamily="34" charset="-120"/>
              </a:rPr>
              <a:t>Trois onglets</a:t>
            </a:r>
            <a:endParaRPr lang="en-US" sz="1200" dirty="0"/>
          </a:p>
        </p:txBody>
      </p:sp>
      <p:sp>
        <p:nvSpPr>
          <p:cNvPr id="9" name="Text 7"/>
          <p:cNvSpPr/>
          <p:nvPr/>
        </p:nvSpPr>
        <p:spPr>
          <a:xfrm>
            <a:off x="2489200" y="2532261"/>
            <a:ext cx="4269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Annuaire et carte, Réservations, Compte</a:t>
            </a:r>
            <a:endParaRPr lang="en-US" sz="1200" dirty="0"/>
          </a:p>
        </p:txBody>
      </p:sp>
      <p:sp>
        <p:nvSpPr>
          <p:cNvPr id="10" name="Shape 8"/>
          <p:cNvSpPr/>
          <p:nvPr/>
        </p:nvSpPr>
        <p:spPr>
          <a:xfrm>
            <a:off x="812800" y="2863056"/>
            <a:ext cx="5821660" cy="0"/>
          </a:xfrm>
          <a:prstGeom prst="line">
            <a:avLst/>
          </a:prstGeom>
          <a:noFill/>
          <a:ln w="6350">
            <a:solidFill>
              <a:srgbClr val="2A2E35"/>
            </a:solidFill>
            <a:prstDash val="solid"/>
          </a:ln>
        </p:spPr>
      </p:sp>
      <p:sp>
        <p:nvSpPr>
          <p:cNvPr id="11" name="Text 9"/>
          <p:cNvSpPr/>
          <p:nvPr/>
        </p:nvSpPr>
        <p:spPr>
          <a:xfrm>
            <a:off x="812800" y="2980531"/>
            <a:ext cx="15748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6A00"/>
                </a:solidFill>
                <a:latin typeface="Inter" pitchFamily="34" charset="0"/>
                <a:ea typeface="Inter" pitchFamily="34" charset="-122"/>
                <a:cs typeface="Inter" pitchFamily="34" charset="-120"/>
              </a:rPr>
              <a:t>Sans compte</a:t>
            </a:r>
            <a:endParaRPr lang="en-US" sz="1200" dirty="0"/>
          </a:p>
        </p:txBody>
      </p:sp>
      <p:sp>
        <p:nvSpPr>
          <p:cNvPr id="12" name="Text 10"/>
          <p:cNvSpPr/>
          <p:nvPr/>
        </p:nvSpPr>
        <p:spPr>
          <a:xfrm>
            <a:off x="2489200" y="2980531"/>
            <a:ext cx="426961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L'app s'ouvre anonyme ; la connexion est une modale qui revient à l'écran d'origine</a:t>
            </a:r>
            <a:endParaRPr lang="en-US" sz="1200" dirty="0"/>
          </a:p>
        </p:txBody>
      </p:sp>
      <p:sp>
        <p:nvSpPr>
          <p:cNvPr id="13" name="Shape 11"/>
          <p:cNvSpPr/>
          <p:nvPr/>
        </p:nvSpPr>
        <p:spPr>
          <a:xfrm>
            <a:off x="812800" y="3524647"/>
            <a:ext cx="5821660" cy="0"/>
          </a:xfrm>
          <a:prstGeom prst="line">
            <a:avLst/>
          </a:prstGeom>
          <a:noFill/>
          <a:ln w="6350">
            <a:solidFill>
              <a:srgbClr val="2A2E35"/>
            </a:solidFill>
            <a:prstDash val="solid"/>
          </a:ln>
        </p:spPr>
      </p:sp>
      <p:sp>
        <p:nvSpPr>
          <p:cNvPr id="14" name="Text 12"/>
          <p:cNvSpPr/>
          <p:nvPr/>
        </p:nvSpPr>
        <p:spPr>
          <a:xfrm>
            <a:off x="812800" y="3642122"/>
            <a:ext cx="15748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6A00"/>
                </a:solidFill>
                <a:latin typeface="Inter" pitchFamily="34" charset="0"/>
                <a:ea typeface="Inter" pitchFamily="34" charset="-122"/>
                <a:cs typeface="Inter" pitchFamily="34" charset="-120"/>
              </a:rPr>
              <a:t>Jeton</a:t>
            </a:r>
            <a:endParaRPr lang="en-US" sz="1200" dirty="0"/>
          </a:p>
        </p:txBody>
      </p:sp>
      <p:sp>
        <p:nvSpPr>
          <p:cNvPr id="15" name="Text 13"/>
          <p:cNvSpPr/>
          <p:nvPr/>
        </p:nvSpPr>
        <p:spPr>
          <a:xfrm>
            <a:off x="2489200" y="3642122"/>
            <a:ext cx="426961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Dans expo-secure-store, le trousseau du système — jamais AsyncStorage</a:t>
            </a:r>
            <a:endParaRPr lang="en-US" sz="1200" dirty="0"/>
          </a:p>
        </p:txBody>
      </p:sp>
      <p:sp>
        <p:nvSpPr>
          <p:cNvPr id="16" name="Shape 14"/>
          <p:cNvSpPr/>
          <p:nvPr/>
        </p:nvSpPr>
        <p:spPr>
          <a:xfrm>
            <a:off x="812800" y="4186238"/>
            <a:ext cx="5821660" cy="0"/>
          </a:xfrm>
          <a:prstGeom prst="line">
            <a:avLst/>
          </a:prstGeom>
          <a:noFill/>
          <a:ln w="6350">
            <a:solidFill>
              <a:srgbClr val="2A2E35"/>
            </a:solidFill>
            <a:prstDash val="solid"/>
          </a:ln>
        </p:spPr>
      </p:sp>
      <p:sp>
        <p:nvSpPr>
          <p:cNvPr id="17" name="Shape 15"/>
          <p:cNvSpPr/>
          <p:nvPr/>
        </p:nvSpPr>
        <p:spPr>
          <a:xfrm>
            <a:off x="812800" y="4634508"/>
            <a:ext cx="5821660" cy="0"/>
          </a:xfrm>
          <a:prstGeom prst="line">
            <a:avLst/>
          </a:prstGeom>
          <a:noFill/>
          <a:ln w="6350">
            <a:solidFill>
              <a:srgbClr val="2A2E35"/>
            </a:solidFill>
            <a:prstDash val="solid"/>
          </a:ln>
        </p:spPr>
      </p:sp>
      <p:sp>
        <p:nvSpPr>
          <p:cNvPr id="18" name="Text 16"/>
          <p:cNvSpPr/>
          <p:nvPr/>
        </p:nvSpPr>
        <p:spPr>
          <a:xfrm>
            <a:off x="812800" y="4303713"/>
            <a:ext cx="1574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6A00"/>
                </a:solidFill>
                <a:latin typeface="Inter" pitchFamily="34" charset="0"/>
                <a:ea typeface="Inter" pitchFamily="34" charset="-122"/>
                <a:cs typeface="Inter" pitchFamily="34" charset="-120"/>
              </a:rPr>
              <a:t>Même produit</a:t>
            </a:r>
            <a:endParaRPr lang="en-US" sz="1200" dirty="0"/>
          </a:p>
        </p:txBody>
      </p:sp>
      <p:sp>
        <p:nvSpPr>
          <p:cNvPr id="19" name="Text 17"/>
          <p:cNvSpPr/>
          <p:nvPr/>
        </p:nvSpPr>
        <p:spPr>
          <a:xfrm>
            <a:off x="2489200" y="4303713"/>
            <a:ext cx="4269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Même API, mêmes comptes, mêmes données que le web</a:t>
            </a:r>
            <a:endParaRPr lang="en-US" sz="1200" dirty="0"/>
          </a:p>
        </p:txBody>
      </p:sp>
      <p:sp>
        <p:nvSpPr>
          <p:cNvPr id="20" name="Shape 18"/>
          <p:cNvSpPr/>
          <p:nvPr/>
        </p:nvSpPr>
        <p:spPr>
          <a:xfrm>
            <a:off x="6990060" y="1963341"/>
            <a:ext cx="4389140" cy="3878659"/>
          </a:xfrm>
          <a:prstGeom prst="rect">
            <a:avLst/>
          </a:prstGeom>
          <a:solidFill>
            <a:srgbClr val="FF6A00"/>
          </a:solidFill>
          <a:ln/>
        </p:spPr>
      </p:sp>
      <p:pic>
        <p:nvPicPr>
          <p:cNvPr id="21" name="Image 0" descr="Play">    </p:cNvPr>
          <p:cNvPicPr>
            <a:picLocks noChangeAspect="1"/>
          </p:cNvPicPr>
          <p:nvPr/>
        </p:nvPicPr>
        <p:blipFill>
          <a:blip r:embed="rId1"/>
          <a:srcRect l="0" r="0" t="0" b="0"/>
          <a:stretch/>
        </p:blipFill>
        <p:spPr>
          <a:xfrm>
            <a:off x="7244060" y="2217341"/>
            <a:ext cx="355600" cy="355600"/>
          </a:xfrm>
          <a:prstGeom prst="rect">
            <a:avLst/>
          </a:prstGeom>
        </p:spPr>
      </p:pic>
      <p:sp>
        <p:nvSpPr>
          <p:cNvPr id="22" name="Text 19"/>
          <p:cNvSpPr/>
          <p:nvPr/>
        </p:nvSpPr>
        <p:spPr>
          <a:xfrm>
            <a:off x="7244060" y="2699941"/>
            <a:ext cx="399757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B0C0E"/>
                </a:solidFill>
                <a:latin typeface="Barlow Condensed" pitchFamily="34" charset="0"/>
                <a:ea typeface="Barlow Condensed" pitchFamily="34" charset="-122"/>
                <a:cs typeface="Barlow Condensed" pitchFamily="34" charset="-120"/>
              </a:rPr>
              <a:t>EXPO GO SUFFIT</a:t>
            </a:r>
            <a:endParaRPr lang="en-US" sz="2200" dirty="0"/>
          </a:p>
        </p:txBody>
      </p:sp>
      <p:sp>
        <p:nvSpPr>
          <p:cNvPr id="23" name="Text 20"/>
          <p:cNvSpPr/>
          <p:nvPr/>
        </p:nvSpPr>
        <p:spPr>
          <a:xfrm>
            <a:off x="7244060" y="3162201"/>
            <a:ext cx="399757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0B0C0E"/>
                </a:solidFill>
                <a:latin typeface="Inter" pitchFamily="34" charset="0"/>
                <a:ea typeface="Inter" pitchFamily="34" charset="-122"/>
                <a:cs typeface="Inter" pitchFamily="34" charset="-120"/>
              </a:rPr>
              <a:t>Caméra, position, trousseau et carte y tournent : aucun development build.</a:t>
            </a:r>
            <a:endParaRPr lang="en-US" sz="1200" dirty="0"/>
          </a:p>
        </p:txBody>
      </p:sp>
      <p:sp>
        <p:nvSpPr>
          <p:cNvPr id="24" name="Text 21"/>
          <p:cNvSpPr/>
          <p:nvPr/>
        </p:nvSpPr>
        <p:spPr>
          <a:xfrm>
            <a:off x="7244060" y="3731121"/>
            <a:ext cx="399757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0B0C0E"/>
                </a:solidFill>
                <a:latin typeface="Inter" pitchFamily="34" charset="0"/>
                <a:ea typeface="Inter" pitchFamily="34" charset="-122"/>
                <a:cs typeface="Inter" pitchFamily="34" charset="-120"/>
              </a:rPr>
              <a:t>pnpm dev, même wifi, scanner le QR d'Expo. L'URL de l'API est déduite de l'hôte Expo, port 3001.</a:t>
            </a:r>
            <a:endParaRPr lang="en-US" sz="1200" dirty="0"/>
          </a:p>
        </p:txBody>
      </p:sp>
      <p:sp>
        <p:nvSpPr>
          <p:cNvPr id="25" name="Text 22"/>
          <p:cNvSpPr/>
          <p:nvPr/>
        </p:nvSpPr>
        <p:spPr>
          <a:xfrm>
            <a:off x="812800" y="6238280"/>
            <a:ext cx="3650278"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NOTE REACT NATIVE /20</a:t>
            </a:r>
            <a:endParaRPr lang="en-US" sz="1200" dirty="0"/>
          </a:p>
        </p:txBody>
      </p:sp>
      <p:sp>
        <p:nvSpPr>
          <p:cNvPr id="26" name="Text 23"/>
          <p:cNvSpPr/>
          <p:nvPr/>
        </p:nvSpPr>
        <p:spPr>
          <a:xfrm>
            <a:off x="11173470" y="6238280"/>
            <a:ext cx="20573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03 · DÉMO REACT NATIVE — SCAN QR</a:t>
            </a:r>
            <a:endParaRPr lang="en-US" sz="1200" dirty="0"/>
          </a:p>
        </p:txBody>
      </p:sp>
      <p:sp>
        <p:nvSpPr>
          <p:cNvPr id="3" name="Text 1"/>
          <p:cNvSpPr/>
          <p:nvPr>
            <p:ph type="title"/>
          </p:nvPr>
        </p:nvSpPr>
        <p:spPr>
          <a:xfrm>
            <a:off x="812800" y="11277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LE SCAN EST UN GESTE MÉTIER, PAS UN LIEN</a:t>
            </a:r>
            <a:endParaRPr lang="en-US" sz="3600" dirty="0"/>
          </a:p>
        </p:txBody>
      </p:sp>
      <p:sp>
        <p:nvSpPr>
          <p:cNvPr id="4" name="Shape 2"/>
          <p:cNvSpPr/>
          <p:nvPr/>
        </p:nvSpPr>
        <p:spPr>
          <a:xfrm>
            <a:off x="815975" y="1839516"/>
            <a:ext cx="2559050" cy="923230"/>
          </a:xfrm>
          <a:prstGeom prst="rect">
            <a:avLst/>
          </a:prstGeom>
          <a:noFill/>
          <a:ln w="6350">
            <a:solidFill>
              <a:srgbClr val="2A2E35"/>
            </a:solidFill>
            <a:prstDash val="solid"/>
          </a:ln>
        </p:spPr>
      </p:sp>
      <p:sp>
        <p:nvSpPr>
          <p:cNvPr id="5" name="Text 3"/>
          <p:cNvSpPr/>
          <p:nvPr/>
        </p:nvSpPr>
        <p:spPr>
          <a:xfrm>
            <a:off x="971550" y="1969691"/>
            <a:ext cx="23153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A00"/>
                </a:solidFill>
                <a:latin typeface="Inter" pitchFamily="34" charset="0"/>
                <a:ea typeface="Inter" pitchFamily="34" charset="-122"/>
                <a:cs typeface="Inter" pitchFamily="34" charset="-120"/>
              </a:rPr>
              <a:t>01 · QR physique</a:t>
            </a:r>
            <a:endParaRPr lang="en-US" sz="1200" dirty="0"/>
          </a:p>
        </p:txBody>
      </p:sp>
      <p:sp>
        <p:nvSpPr>
          <p:cNvPr id="6" name="Text 4"/>
          <p:cNvSpPr/>
          <p:nvPr/>
        </p:nvSpPr>
        <p:spPr>
          <a:xfrm>
            <a:off x="971550" y="2221111"/>
            <a:ext cx="2315337"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3C8CF"/>
                </a:solidFill>
                <a:latin typeface="Inter" pitchFamily="34" charset="0"/>
                <a:ea typeface="Inter" pitchFamily="34" charset="-122"/>
                <a:cs typeface="Inter" pitchFamily="34" charset="-120"/>
              </a:rPr>
              <a:t>Imprimé par le fabmanager, collé sur la machine</a:t>
            </a:r>
            <a:endParaRPr lang="en-US" sz="1200" dirty="0"/>
          </a:p>
        </p:txBody>
      </p:sp>
      <p:sp>
        <p:nvSpPr>
          <p:cNvPr id="7" name="Shape 5"/>
          <p:cNvSpPr/>
          <p:nvPr/>
        </p:nvSpPr>
        <p:spPr>
          <a:xfrm>
            <a:off x="3482975" y="1839516"/>
            <a:ext cx="2559050" cy="923230"/>
          </a:xfrm>
          <a:prstGeom prst="rect">
            <a:avLst/>
          </a:prstGeom>
          <a:noFill/>
          <a:ln w="6350">
            <a:solidFill>
              <a:srgbClr val="2A2E35"/>
            </a:solidFill>
            <a:prstDash val="solid"/>
          </a:ln>
        </p:spPr>
      </p:sp>
      <p:sp>
        <p:nvSpPr>
          <p:cNvPr id="8" name="Text 6"/>
          <p:cNvSpPr/>
          <p:nvPr/>
        </p:nvSpPr>
        <p:spPr>
          <a:xfrm>
            <a:off x="3638550" y="1969691"/>
            <a:ext cx="23153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A00"/>
                </a:solidFill>
                <a:latin typeface="Inter" pitchFamily="34" charset="0"/>
                <a:ea typeface="Inter" pitchFamily="34" charset="-122"/>
                <a:cs typeface="Inter" pitchFamily="34" charset="-120"/>
              </a:rPr>
              <a:t>02 · Caméra</a:t>
            </a:r>
            <a:endParaRPr lang="en-US" sz="1200" dirty="0"/>
          </a:p>
        </p:txBody>
      </p:sp>
      <p:sp>
        <p:nvSpPr>
          <p:cNvPr id="9" name="Text 7"/>
          <p:cNvSpPr/>
          <p:nvPr/>
        </p:nvSpPr>
        <p:spPr>
          <a:xfrm>
            <a:off x="3638550" y="2221111"/>
            <a:ext cx="2315337"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3C8CF"/>
                </a:solidFill>
                <a:latin typeface="Inter" pitchFamily="34" charset="0"/>
                <a:ea typeface="Inter" pitchFamily="34" charset="-122"/>
                <a:cs typeface="Inter" pitchFamily="34" charset="-120"/>
              </a:rPr>
              <a:t>expo-camera, permission demandée au tap</a:t>
            </a:r>
            <a:endParaRPr lang="en-US" sz="1200" dirty="0"/>
          </a:p>
        </p:txBody>
      </p:sp>
      <p:sp>
        <p:nvSpPr>
          <p:cNvPr id="10" name="Shape 8"/>
          <p:cNvSpPr/>
          <p:nvPr/>
        </p:nvSpPr>
        <p:spPr>
          <a:xfrm>
            <a:off x="6149975" y="1839516"/>
            <a:ext cx="2559050" cy="923230"/>
          </a:xfrm>
          <a:prstGeom prst="rect">
            <a:avLst/>
          </a:prstGeom>
          <a:noFill/>
          <a:ln w="6350">
            <a:solidFill>
              <a:srgbClr val="2A2E35"/>
            </a:solidFill>
            <a:prstDash val="solid"/>
          </a:ln>
        </p:spPr>
      </p:sp>
      <p:sp>
        <p:nvSpPr>
          <p:cNvPr id="11" name="Text 9"/>
          <p:cNvSpPr/>
          <p:nvPr/>
        </p:nvSpPr>
        <p:spPr>
          <a:xfrm>
            <a:off x="6305550" y="1969691"/>
            <a:ext cx="23153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A00"/>
                </a:solidFill>
                <a:latin typeface="Inter" pitchFamily="34" charset="0"/>
                <a:ea typeface="Inter" pitchFamily="34" charset="-122"/>
                <a:cs typeface="Inter" pitchFamily="34" charset="-120"/>
              </a:rPr>
              <a:t>03 · Scan</a:t>
            </a:r>
            <a:endParaRPr lang="en-US" sz="1200" dirty="0"/>
          </a:p>
        </p:txBody>
      </p:sp>
      <p:sp>
        <p:nvSpPr>
          <p:cNvPr id="12" name="Text 10"/>
          <p:cNvSpPr/>
          <p:nvPr/>
        </p:nvSpPr>
        <p:spPr>
          <a:xfrm>
            <a:off x="6305550" y="2221111"/>
            <a:ext cx="2315337"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3C8CF"/>
                </a:solidFill>
                <a:latin typeface="Inter" pitchFamily="34" charset="0"/>
                <a:ea typeface="Inter" pitchFamily="34" charset="-122"/>
                <a:cs typeface="Inter" pitchFamily="34" charset="-120"/>
              </a:rPr>
              <a:t>Le code porte le jeton de la machine</a:t>
            </a:r>
            <a:endParaRPr lang="en-US" sz="1200" dirty="0"/>
          </a:p>
        </p:txBody>
      </p:sp>
      <p:sp>
        <p:nvSpPr>
          <p:cNvPr id="13" name="Shape 11"/>
          <p:cNvSpPr/>
          <p:nvPr/>
        </p:nvSpPr>
        <p:spPr>
          <a:xfrm>
            <a:off x="8816975" y="1839516"/>
            <a:ext cx="2559050" cy="923230"/>
          </a:xfrm>
          <a:prstGeom prst="rect">
            <a:avLst/>
          </a:prstGeom>
          <a:noFill/>
          <a:ln w="6350">
            <a:solidFill>
              <a:srgbClr val="2A2E35"/>
            </a:solidFill>
            <a:prstDash val="solid"/>
          </a:ln>
        </p:spPr>
      </p:sp>
      <p:sp>
        <p:nvSpPr>
          <p:cNvPr id="14" name="Text 12"/>
          <p:cNvSpPr/>
          <p:nvPr/>
        </p:nvSpPr>
        <p:spPr>
          <a:xfrm>
            <a:off x="8972550" y="1969691"/>
            <a:ext cx="23153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A00"/>
                </a:solidFill>
                <a:latin typeface="Inter" pitchFamily="34" charset="0"/>
                <a:ea typeface="Inter" pitchFamily="34" charset="-122"/>
                <a:cs typeface="Inter" pitchFamily="34" charset="-120"/>
              </a:rPr>
              <a:t>04 · Payload</a:t>
            </a:r>
            <a:endParaRPr lang="en-US" sz="1200" dirty="0"/>
          </a:p>
        </p:txBody>
      </p:sp>
      <p:sp>
        <p:nvSpPr>
          <p:cNvPr id="15" name="Text 13"/>
          <p:cNvSpPr/>
          <p:nvPr/>
        </p:nvSpPr>
        <p:spPr>
          <a:xfrm>
            <a:off x="8972550" y="2221111"/>
            <a:ext cx="24003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3C8CF"/>
                </a:solidFill>
                <a:latin typeface="Inter" pitchFamily="34" charset="0"/>
                <a:ea typeface="Inter" pitchFamily="34" charset="-122"/>
                <a:cs typeface="Inter" pitchFamily="34" charset="-120"/>
              </a:rPr>
              <a:t>Un seul champ : checkInToken</a:t>
            </a:r>
            <a:endParaRPr lang="en-US" sz="1200" dirty="0"/>
          </a:p>
        </p:txBody>
      </p:sp>
      <p:sp>
        <p:nvSpPr>
          <p:cNvPr id="16" name="Shape 14"/>
          <p:cNvSpPr/>
          <p:nvPr/>
        </p:nvSpPr>
        <p:spPr>
          <a:xfrm>
            <a:off x="815975" y="2870696"/>
            <a:ext cx="2559050" cy="923230"/>
          </a:xfrm>
          <a:prstGeom prst="rect">
            <a:avLst/>
          </a:prstGeom>
          <a:noFill/>
          <a:ln w="6350">
            <a:solidFill>
              <a:srgbClr val="2A2E35"/>
            </a:solidFill>
            <a:prstDash val="solid"/>
          </a:ln>
        </p:spPr>
      </p:sp>
      <p:sp>
        <p:nvSpPr>
          <p:cNvPr id="17" name="Text 15"/>
          <p:cNvSpPr/>
          <p:nvPr/>
        </p:nvSpPr>
        <p:spPr>
          <a:xfrm>
            <a:off x="971550" y="3000871"/>
            <a:ext cx="23153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A00"/>
                </a:solidFill>
                <a:latin typeface="Inter" pitchFamily="34" charset="0"/>
                <a:ea typeface="Inter" pitchFamily="34" charset="-122"/>
                <a:cs typeface="Inter" pitchFamily="34" charset="-120"/>
              </a:rPr>
              <a:t>05 · Validation app</a:t>
            </a:r>
            <a:endParaRPr lang="en-US" sz="1200" dirty="0"/>
          </a:p>
        </p:txBody>
      </p:sp>
      <p:sp>
        <p:nvSpPr>
          <p:cNvPr id="18" name="Text 16"/>
          <p:cNvSpPr/>
          <p:nvPr/>
        </p:nvSpPr>
        <p:spPr>
          <a:xfrm>
            <a:off x="971550" y="3252291"/>
            <a:ext cx="2315337"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3C8CF"/>
                </a:solidFill>
                <a:latin typeface="Inter" pitchFamily="34" charset="0"/>
                <a:ea typeface="Inter" pitchFamily="34" charset="-122"/>
                <a:cs typeface="Inter" pitchFamily="34" charset="-120"/>
              </a:rPr>
              <a:t>« Pointer » proposé seulement si la fenêtre est ouverte</a:t>
            </a:r>
            <a:endParaRPr lang="en-US" sz="1200" dirty="0"/>
          </a:p>
        </p:txBody>
      </p:sp>
      <p:sp>
        <p:nvSpPr>
          <p:cNvPr id="19" name="Shape 17"/>
          <p:cNvSpPr/>
          <p:nvPr/>
        </p:nvSpPr>
        <p:spPr>
          <a:xfrm>
            <a:off x="3482975" y="2870696"/>
            <a:ext cx="2559050" cy="923230"/>
          </a:xfrm>
          <a:prstGeom prst="rect">
            <a:avLst/>
          </a:prstGeom>
          <a:noFill/>
          <a:ln w="6350">
            <a:solidFill>
              <a:srgbClr val="2A2E35"/>
            </a:solidFill>
            <a:prstDash val="solid"/>
          </a:ln>
        </p:spPr>
      </p:sp>
      <p:sp>
        <p:nvSpPr>
          <p:cNvPr id="20" name="Text 18"/>
          <p:cNvSpPr/>
          <p:nvPr/>
        </p:nvSpPr>
        <p:spPr>
          <a:xfrm>
            <a:off x="3638550" y="3000871"/>
            <a:ext cx="23153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A00"/>
                </a:solidFill>
                <a:latin typeface="Inter" pitchFamily="34" charset="0"/>
                <a:ea typeface="Inter" pitchFamily="34" charset="-122"/>
                <a:cs typeface="Inter" pitchFamily="34" charset="-120"/>
              </a:rPr>
              <a:t>06 · Backend</a:t>
            </a:r>
            <a:endParaRPr lang="en-US" sz="1200" dirty="0"/>
          </a:p>
        </p:txBody>
      </p:sp>
      <p:sp>
        <p:nvSpPr>
          <p:cNvPr id="21" name="Text 19"/>
          <p:cNvSpPr/>
          <p:nvPr/>
        </p:nvSpPr>
        <p:spPr>
          <a:xfrm>
            <a:off x="3638550" y="3252291"/>
            <a:ext cx="2315337"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3C8CF"/>
                </a:solidFill>
                <a:latin typeface="Inter" pitchFamily="34" charset="0"/>
                <a:ea typeface="Inter" pitchFamily="34" charset="-122"/>
                <a:cs typeface="Inter" pitchFamily="34" charset="-120"/>
              </a:rPr>
              <a:t>POST /bookings/:id/check-in</a:t>
            </a:r>
            <a:endParaRPr lang="en-US" sz="1200" dirty="0"/>
          </a:p>
        </p:txBody>
      </p:sp>
      <p:sp>
        <p:nvSpPr>
          <p:cNvPr id="22" name="Shape 20"/>
          <p:cNvSpPr/>
          <p:nvPr/>
        </p:nvSpPr>
        <p:spPr>
          <a:xfrm>
            <a:off x="6146800" y="2867521"/>
            <a:ext cx="2565400" cy="929580"/>
          </a:xfrm>
          <a:prstGeom prst="rect">
            <a:avLst/>
          </a:prstGeom>
          <a:solidFill>
            <a:srgbClr val="FF6A00"/>
          </a:solidFill>
          <a:ln/>
        </p:spPr>
      </p:sp>
      <p:sp>
        <p:nvSpPr>
          <p:cNvPr id="23" name="Text 21"/>
          <p:cNvSpPr/>
          <p:nvPr/>
        </p:nvSpPr>
        <p:spPr>
          <a:xfrm>
            <a:off x="6299200" y="2994521"/>
            <a:ext cx="232841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C0E"/>
                </a:solidFill>
                <a:latin typeface="Inter" pitchFamily="34" charset="0"/>
                <a:ea typeface="Inter" pitchFamily="34" charset="-122"/>
                <a:cs typeface="Inter" pitchFamily="34" charset="-120"/>
              </a:rPr>
              <a:t>07 · Action métier</a:t>
            </a:r>
            <a:endParaRPr lang="en-US" sz="1200" dirty="0"/>
          </a:p>
        </p:txBody>
      </p:sp>
      <p:sp>
        <p:nvSpPr>
          <p:cNvPr id="24" name="Text 22"/>
          <p:cNvSpPr/>
          <p:nvPr/>
        </p:nvSpPr>
        <p:spPr>
          <a:xfrm>
            <a:off x="6299200" y="3245941"/>
            <a:ext cx="2328418"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B0C0E"/>
                </a:solidFill>
                <a:latin typeface="Inter" pitchFamily="34" charset="0"/>
                <a:ea typeface="Inter" pitchFamily="34" charset="-122"/>
                <a:cs typeface="Inter" pitchFamily="34" charset="-120"/>
              </a:rPr>
              <a:t>CHECKED_IN, via QR, horodaté en base</a:t>
            </a:r>
            <a:endParaRPr lang="en-US" sz="1200" dirty="0"/>
          </a:p>
        </p:txBody>
      </p:sp>
      <p:sp>
        <p:nvSpPr>
          <p:cNvPr id="25" name="Shape 23"/>
          <p:cNvSpPr/>
          <p:nvPr/>
        </p:nvSpPr>
        <p:spPr>
          <a:xfrm>
            <a:off x="8816975" y="2870696"/>
            <a:ext cx="2559050" cy="923230"/>
          </a:xfrm>
          <a:prstGeom prst="rect">
            <a:avLst/>
          </a:prstGeom>
          <a:noFill/>
          <a:ln w="6350">
            <a:solidFill>
              <a:srgbClr val="2A2E35"/>
            </a:solidFill>
            <a:prstDash val="solid"/>
          </a:ln>
        </p:spPr>
      </p:sp>
      <p:sp>
        <p:nvSpPr>
          <p:cNvPr id="26" name="Text 24"/>
          <p:cNvSpPr/>
          <p:nvPr/>
        </p:nvSpPr>
        <p:spPr>
          <a:xfrm>
            <a:off x="8972550" y="3000871"/>
            <a:ext cx="23153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A00"/>
                </a:solidFill>
                <a:latin typeface="Inter" pitchFamily="34" charset="0"/>
                <a:ea typeface="Inter" pitchFamily="34" charset="-122"/>
                <a:cs typeface="Inter" pitchFamily="34" charset="-120"/>
              </a:rPr>
              <a:t>08 · Feedback</a:t>
            </a:r>
            <a:endParaRPr lang="en-US" sz="1200" dirty="0"/>
          </a:p>
        </p:txBody>
      </p:sp>
      <p:sp>
        <p:nvSpPr>
          <p:cNvPr id="27" name="Text 25"/>
          <p:cNvSpPr/>
          <p:nvPr/>
        </p:nvSpPr>
        <p:spPr>
          <a:xfrm>
            <a:off x="8972550" y="3252291"/>
            <a:ext cx="2315337"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3C8CF"/>
                </a:solidFill>
                <a:latin typeface="Inter" pitchFamily="34" charset="0"/>
                <a:ea typeface="Inter" pitchFamily="34" charset="-122"/>
                <a:cs typeface="Inter" pitchFamily="34" charset="-120"/>
              </a:rPr>
              <a:t>« Pointée » avec l'heure ; le fabmanager le voit</a:t>
            </a:r>
            <a:endParaRPr lang="en-US" sz="1200" dirty="0"/>
          </a:p>
        </p:txBody>
      </p:sp>
      <p:sp>
        <p:nvSpPr>
          <p:cNvPr id="28" name="Shape 26"/>
          <p:cNvSpPr/>
          <p:nvPr/>
        </p:nvSpPr>
        <p:spPr>
          <a:xfrm>
            <a:off x="812800" y="4025702"/>
            <a:ext cx="3420517" cy="932061"/>
          </a:xfrm>
          <a:prstGeom prst="rect">
            <a:avLst/>
          </a:prstGeom>
          <a:solidFill>
            <a:srgbClr val="131518"/>
          </a:solidFill>
          <a:ln/>
        </p:spPr>
      </p:sp>
      <p:sp>
        <p:nvSpPr>
          <p:cNvPr id="29" name="Text 27"/>
          <p:cNvSpPr/>
          <p:nvPr/>
        </p:nvSpPr>
        <p:spPr>
          <a:xfrm>
            <a:off x="965200" y="4152702"/>
            <a:ext cx="32091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6F8"/>
                </a:solidFill>
                <a:latin typeface="Inter" pitchFamily="34" charset="0"/>
                <a:ea typeface="Inter" pitchFamily="34" charset="-122"/>
                <a:cs typeface="Inter" pitchFamily="34" charset="-120"/>
              </a:rPr>
              <a:t>QR d'une autre machine</a:t>
            </a:r>
            <a:endParaRPr lang="en-US" sz="1200" dirty="0"/>
          </a:p>
        </p:txBody>
      </p:sp>
      <p:sp>
        <p:nvSpPr>
          <p:cNvPr id="30" name="Text 28"/>
          <p:cNvSpPr/>
          <p:nvPr/>
        </p:nvSpPr>
        <p:spPr>
          <a:xfrm>
            <a:off x="965200" y="4404122"/>
            <a:ext cx="320918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 Ce QR code n'est pas celui de la machine réservée. »</a:t>
            </a:r>
            <a:endParaRPr lang="en-US" sz="1200" dirty="0"/>
          </a:p>
        </p:txBody>
      </p:sp>
      <p:sp>
        <p:nvSpPr>
          <p:cNvPr id="31" name="Shape 29"/>
          <p:cNvSpPr/>
          <p:nvPr/>
        </p:nvSpPr>
        <p:spPr>
          <a:xfrm>
            <a:off x="4385717" y="4025702"/>
            <a:ext cx="3420566" cy="932061"/>
          </a:xfrm>
          <a:prstGeom prst="rect">
            <a:avLst/>
          </a:prstGeom>
          <a:solidFill>
            <a:srgbClr val="131518"/>
          </a:solidFill>
          <a:ln/>
        </p:spPr>
      </p:sp>
      <p:sp>
        <p:nvSpPr>
          <p:cNvPr id="32" name="Text 30"/>
          <p:cNvSpPr/>
          <p:nvPr/>
        </p:nvSpPr>
        <p:spPr>
          <a:xfrm>
            <a:off x="4538117" y="4152702"/>
            <a:ext cx="320923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6F8"/>
                </a:solidFill>
                <a:latin typeface="Inter" pitchFamily="34" charset="0"/>
                <a:ea typeface="Inter" pitchFamily="34" charset="-122"/>
                <a:cs typeface="Inter" pitchFamily="34" charset="-120"/>
              </a:rPr>
              <a:t>Caméra refusée</a:t>
            </a:r>
            <a:endParaRPr lang="en-US" sz="1200" dirty="0"/>
          </a:p>
        </p:txBody>
      </p:sp>
      <p:sp>
        <p:nvSpPr>
          <p:cNvPr id="33" name="Text 31"/>
          <p:cNvSpPr/>
          <p:nvPr/>
        </p:nvSpPr>
        <p:spPr>
          <a:xfrm>
            <a:off x="4538117" y="4404122"/>
            <a:ext cx="32092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Message, puis saisie manuelle du jeton</a:t>
            </a:r>
            <a:endParaRPr lang="en-US" sz="1200" dirty="0"/>
          </a:p>
        </p:txBody>
      </p:sp>
      <p:sp>
        <p:nvSpPr>
          <p:cNvPr id="34" name="Shape 32"/>
          <p:cNvSpPr/>
          <p:nvPr/>
        </p:nvSpPr>
        <p:spPr>
          <a:xfrm>
            <a:off x="7958683" y="4025702"/>
            <a:ext cx="3420517" cy="932061"/>
          </a:xfrm>
          <a:prstGeom prst="rect">
            <a:avLst/>
          </a:prstGeom>
          <a:solidFill>
            <a:srgbClr val="131518"/>
          </a:solidFill>
          <a:ln/>
        </p:spPr>
      </p:sp>
      <p:sp>
        <p:nvSpPr>
          <p:cNvPr id="35" name="Text 33"/>
          <p:cNvSpPr/>
          <p:nvPr/>
        </p:nvSpPr>
        <p:spPr>
          <a:xfrm>
            <a:off x="8111083" y="4152702"/>
            <a:ext cx="32091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6F8"/>
                </a:solidFill>
                <a:latin typeface="Inter" pitchFamily="34" charset="0"/>
                <a:ea typeface="Inter" pitchFamily="34" charset="-122"/>
                <a:cs typeface="Inter" pitchFamily="34" charset="-120"/>
              </a:rPr>
              <a:t>Second pointage</a:t>
            </a:r>
            <a:endParaRPr lang="en-US" sz="1200" dirty="0"/>
          </a:p>
        </p:txBody>
      </p:sp>
      <p:sp>
        <p:nvSpPr>
          <p:cNvPr id="36" name="Text 34"/>
          <p:cNvSpPr/>
          <p:nvPr/>
        </p:nvSpPr>
        <p:spPr>
          <a:xfrm>
            <a:off x="8111083" y="4404122"/>
            <a:ext cx="320918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Refusé en 409 : la première empreinte fait foi</a:t>
            </a:r>
            <a:endParaRPr lang="en-US" sz="1200" dirty="0"/>
          </a:p>
        </p:txBody>
      </p:sp>
      <p:sp>
        <p:nvSpPr>
          <p:cNvPr id="37" name="Text 35"/>
          <p:cNvSpPr/>
          <p:nvPr/>
        </p:nvSpPr>
        <p:spPr>
          <a:xfrm>
            <a:off x="812800" y="6238280"/>
            <a:ext cx="3650278"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NOTE REACT NATIVE /20</a:t>
            </a:r>
            <a:endParaRPr lang="en-US" sz="1200" dirty="0"/>
          </a:p>
        </p:txBody>
      </p:sp>
      <p:sp>
        <p:nvSpPr>
          <p:cNvPr id="38" name="Text 36"/>
          <p:cNvSpPr/>
          <p:nvPr/>
        </p:nvSpPr>
        <p:spPr>
          <a:xfrm>
            <a:off x="11172279" y="6238280"/>
            <a:ext cx="20692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03 · DÉMO REACT NATIVE — GÉOLOCALISATION</a:t>
            </a:r>
            <a:endParaRPr lang="en-US" sz="1200" dirty="0"/>
          </a:p>
        </p:txBody>
      </p:sp>
      <p:sp>
        <p:nvSpPr>
          <p:cNvPr id="3" name="Text 1"/>
          <p:cNvSpPr/>
          <p:nvPr>
            <p:ph type="title"/>
          </p:nvPr>
        </p:nvSpPr>
        <p:spPr>
          <a:xfrm>
            <a:off x="812800" y="11277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REFUSER LA POSITION N'EST PAS UNE ERREUR</a:t>
            </a:r>
            <a:endParaRPr lang="en-US" sz="3600" dirty="0"/>
          </a:p>
        </p:txBody>
      </p:sp>
      <p:sp>
        <p:nvSpPr>
          <p:cNvPr id="4" name="Shape 2"/>
          <p:cNvSpPr/>
          <p:nvPr/>
        </p:nvSpPr>
        <p:spPr>
          <a:xfrm>
            <a:off x="812800" y="1963341"/>
            <a:ext cx="5175250" cy="1887141"/>
          </a:xfrm>
          <a:prstGeom prst="rect">
            <a:avLst/>
          </a:prstGeom>
          <a:solidFill>
            <a:srgbClr val="1C1F24"/>
          </a:solidFill>
          <a:ln/>
        </p:spPr>
      </p:sp>
      <p:sp>
        <p:nvSpPr>
          <p:cNvPr id="5" name="Text 3"/>
          <p:cNvSpPr/>
          <p:nvPr/>
        </p:nvSpPr>
        <p:spPr>
          <a:xfrm>
            <a:off x="1066800" y="2217341"/>
            <a:ext cx="480726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6A00"/>
                </a:solidFill>
                <a:latin typeface="Inter" pitchFamily="34" charset="0"/>
                <a:ea typeface="Inter" pitchFamily="34" charset="-122"/>
                <a:cs typeface="Inter" pitchFamily="34" charset="-120"/>
              </a:rPr>
              <a:t>POSITION ACCORDÉE</a:t>
            </a:r>
            <a:endParaRPr lang="en-US" sz="1200" dirty="0"/>
          </a:p>
        </p:txBody>
      </p:sp>
      <p:sp>
        <p:nvSpPr>
          <p:cNvPr id="6" name="Text 4"/>
          <p:cNvSpPr/>
          <p:nvPr/>
        </p:nvSpPr>
        <p:spPr>
          <a:xfrm>
            <a:off x="1066800" y="2557661"/>
            <a:ext cx="48072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6F8"/>
                </a:solidFill>
                <a:latin typeface="JetBrains Mono" pitchFamily="49" charset="0"/>
                <a:ea typeface="JetBrains Mono" pitchFamily="49" charset="-122"/>
                <a:cs typeface="JetBrains Mono" pitchFamily="49" charset="-120"/>
              </a:rPr>
              <a:t>GET /ateliers?lat&amp;lng&amp;radiusKm</a:t>
            </a:r>
            <a:endParaRPr lang="en-US" sz="1200" dirty="0"/>
          </a:p>
        </p:txBody>
      </p:sp>
      <p:sp>
        <p:nvSpPr>
          <p:cNvPr id="7" name="Text 5"/>
          <p:cNvSpPr/>
          <p:nvPr/>
        </p:nvSpPr>
        <p:spPr>
          <a:xfrm>
            <a:off x="1171956" y="2897981"/>
            <a:ext cx="4694492" cy="711200"/>
          </a:xfrm>
          <a:prstGeom prst="rect">
            <a:avLst/>
          </a:prstGeom>
          <a:noFill/>
          <a:ln/>
        </p:spPr>
        <p:txBody>
          <a:bodyPr wrap="square" lIns="0" tIns="0" rIns="0" bIns="0" rtlCol="0" anchor="t">
            <a:normAutofit/>
          </a:bodyPr>
          <a:lstStyle/>
          <a:p>
            <a:pPr algn="l" marL="148844" indent="-148844">
              <a:lnSpc>
                <a:spcPts val="1800"/>
              </a:lnSpc>
              <a:buSzPct val="100000"/>
              <a:buChar char="•"/>
            </a:pPr>
            <a:r>
              <a:rPr lang="en-US" sz="1200" dirty="0">
                <a:solidFill>
                  <a:srgbClr val="C3C8CF"/>
                </a:solidFill>
                <a:latin typeface="Inter" pitchFamily="34" charset="0"/>
                <a:ea typeface="Inter" pitchFamily="34" charset="-122"/>
                <a:cs typeface="Inter" pitchFamily="34" charset="-120"/>
              </a:rPr>
              <a:t>Chaque carte affiche sa distance</a:t>
            </a:r>
            <a:endParaRPr lang="en-US" sz="1200" dirty="0"/>
          </a:p>
          <a:p>
            <a:pPr algn="l" marL="148844" indent="-148844">
              <a:lnSpc>
                <a:spcPts val="1800"/>
              </a:lnSpc>
              <a:buSzPct val="100000"/>
              <a:buChar char="•"/>
            </a:pPr>
            <a:r>
              <a:rPr lang="en-US" sz="1200" dirty="0">
                <a:solidFill>
                  <a:srgbClr val="C3C8CF"/>
                </a:solidFill>
                <a:latin typeface="Inter" pitchFamily="34" charset="0"/>
                <a:ea typeface="Inter" pitchFamily="34" charset="-122"/>
                <a:cs typeface="Inter" pitchFamily="34" charset="-120"/>
              </a:rPr>
              <a:t>Liste triée du plus proche au plus lointain</a:t>
            </a:r>
            <a:endParaRPr lang="en-US" sz="1200" dirty="0"/>
          </a:p>
          <a:p>
            <a:pPr algn="l" marL="148844" indent="-148844">
              <a:lnSpc>
                <a:spcPts val="1800"/>
              </a:lnSpc>
              <a:buSzPct val="100000"/>
              <a:buChar char="•"/>
            </a:pPr>
            <a:r>
              <a:rPr lang="en-US" sz="1200" dirty="0">
                <a:solidFill>
                  <a:srgbClr val="C3C8CF"/>
                </a:solidFill>
                <a:latin typeface="Inter" pitchFamily="34" charset="0"/>
                <a:ea typeface="Inter" pitchFamily="34" charset="-122"/>
                <a:cs typeface="Inter" pitchFamily="34" charset="-120"/>
              </a:rPr>
              <a:t>La carte resserre la liste sur la zone affichée</a:t>
            </a:r>
            <a:endParaRPr lang="en-US" sz="1200" dirty="0"/>
          </a:p>
        </p:txBody>
      </p:sp>
      <p:sp>
        <p:nvSpPr>
          <p:cNvPr id="8" name="Shape 6"/>
          <p:cNvSpPr/>
          <p:nvPr/>
        </p:nvSpPr>
        <p:spPr>
          <a:xfrm>
            <a:off x="6194425" y="1966516"/>
            <a:ext cx="5181600" cy="1880791"/>
          </a:xfrm>
          <a:prstGeom prst="rect">
            <a:avLst/>
          </a:prstGeom>
          <a:solidFill>
            <a:srgbClr val="131518"/>
          </a:solidFill>
          <a:ln w="6350">
            <a:solidFill>
              <a:srgbClr val="2A2E35"/>
            </a:solidFill>
            <a:prstDash val="solid"/>
          </a:ln>
        </p:spPr>
      </p:sp>
      <p:sp>
        <p:nvSpPr>
          <p:cNvPr id="9" name="Text 7"/>
          <p:cNvSpPr/>
          <p:nvPr/>
        </p:nvSpPr>
        <p:spPr>
          <a:xfrm>
            <a:off x="6451600" y="2223691"/>
            <a:ext cx="480726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6A00"/>
                </a:solidFill>
                <a:latin typeface="Inter" pitchFamily="34" charset="0"/>
                <a:ea typeface="Inter" pitchFamily="34" charset="-122"/>
                <a:cs typeface="Inter" pitchFamily="34" charset="-120"/>
              </a:rPr>
              <a:t>POSITION REFUSÉE</a:t>
            </a:r>
            <a:endParaRPr lang="en-US" sz="1200" dirty="0"/>
          </a:p>
        </p:txBody>
      </p:sp>
      <p:sp>
        <p:nvSpPr>
          <p:cNvPr id="10" name="Text 8"/>
          <p:cNvSpPr/>
          <p:nvPr/>
        </p:nvSpPr>
        <p:spPr>
          <a:xfrm>
            <a:off x="6451600" y="2564011"/>
            <a:ext cx="48072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6F8"/>
                </a:solidFill>
                <a:latin typeface="JetBrains Mono" pitchFamily="49" charset="0"/>
                <a:ea typeface="JetBrains Mono" pitchFamily="49" charset="-122"/>
                <a:cs typeface="JetBrains Mono" pitchFamily="49" charset="-120"/>
              </a:rPr>
              <a:t>GET /ateliers</a:t>
            </a:r>
            <a:endParaRPr lang="en-US" sz="1200" dirty="0"/>
          </a:p>
        </p:txBody>
      </p:sp>
      <p:sp>
        <p:nvSpPr>
          <p:cNvPr id="11" name="Text 9"/>
          <p:cNvSpPr/>
          <p:nvPr/>
        </p:nvSpPr>
        <p:spPr>
          <a:xfrm>
            <a:off x="6556756" y="2904331"/>
            <a:ext cx="4694492" cy="711200"/>
          </a:xfrm>
          <a:prstGeom prst="rect">
            <a:avLst/>
          </a:prstGeom>
          <a:noFill/>
          <a:ln/>
        </p:spPr>
        <p:txBody>
          <a:bodyPr wrap="square" lIns="0" tIns="0" rIns="0" bIns="0" rtlCol="0" anchor="t">
            <a:normAutofit/>
          </a:bodyPr>
          <a:lstStyle/>
          <a:p>
            <a:pPr algn="l" marL="148844" indent="-148844">
              <a:lnSpc>
                <a:spcPts val="1800"/>
              </a:lnSpc>
              <a:buSzPct val="100000"/>
              <a:buChar char="•"/>
            </a:pPr>
            <a:r>
              <a:rPr lang="en-US" sz="1200" dirty="0">
                <a:solidFill>
                  <a:srgbClr val="C3C8CF"/>
                </a:solidFill>
                <a:latin typeface="Inter" pitchFamily="34" charset="0"/>
                <a:ea typeface="Inter" pitchFamily="34" charset="-122"/>
                <a:cs typeface="Inter" pitchFamily="34" charset="-120"/>
              </a:rPr>
              <a:t>L'annuaire s'affiche quand même</a:t>
            </a:r>
            <a:endParaRPr lang="en-US" sz="1200" dirty="0"/>
          </a:p>
          <a:p>
            <a:pPr algn="l" marL="148844" indent="-148844">
              <a:lnSpc>
                <a:spcPts val="1800"/>
              </a:lnSpc>
              <a:buSzPct val="100000"/>
              <a:buChar char="•"/>
            </a:pPr>
            <a:r>
              <a:rPr lang="en-US" sz="1200" dirty="0">
                <a:solidFill>
                  <a:srgbClr val="C3C8CF"/>
                </a:solidFill>
                <a:latin typeface="Inter" pitchFamily="34" charset="0"/>
                <a:ea typeface="Inter" pitchFamily="34" charset="-122"/>
                <a:cs typeface="Inter" pitchFamily="34" charset="-120"/>
              </a:rPr>
              <a:t>Pas de tri, et l'écran le dit</a:t>
            </a:r>
            <a:endParaRPr lang="en-US" sz="1200" dirty="0"/>
          </a:p>
          <a:p>
            <a:pPr algn="l" marL="148844" indent="-148844">
              <a:lnSpc>
                <a:spcPts val="1800"/>
              </a:lnSpc>
              <a:buSzPct val="100000"/>
              <a:buChar char="•"/>
            </a:pPr>
            <a:r>
              <a:rPr lang="en-US" sz="1200" dirty="0">
                <a:solidFill>
                  <a:srgbClr val="C3C8CF"/>
                </a:solidFill>
                <a:latin typeface="Inter" pitchFamily="34" charset="0"/>
                <a:ea typeface="Inter" pitchFamily="34" charset="-122"/>
                <a:cs typeface="Inter" pitchFamily="34" charset="-120"/>
              </a:rPr>
              <a:t>Un bouton Réessayer</a:t>
            </a:r>
            <a:endParaRPr lang="en-US" sz="1200" dirty="0"/>
          </a:p>
        </p:txBody>
      </p:sp>
      <p:sp>
        <p:nvSpPr>
          <p:cNvPr id="12" name="Shape 10"/>
          <p:cNvSpPr/>
          <p:nvPr/>
        </p:nvSpPr>
        <p:spPr>
          <a:xfrm>
            <a:off x="825500" y="4206081"/>
            <a:ext cx="0" cy="457200"/>
          </a:xfrm>
          <a:prstGeom prst="line">
            <a:avLst/>
          </a:prstGeom>
          <a:noFill/>
          <a:ln w="25400">
            <a:solidFill>
              <a:srgbClr val="FF6A00"/>
            </a:solidFill>
            <a:prstDash val="solid"/>
          </a:ln>
        </p:spPr>
      </p:sp>
      <p:sp>
        <p:nvSpPr>
          <p:cNvPr id="13" name="Text 11"/>
          <p:cNvSpPr/>
          <p:nvPr/>
        </p:nvSpPr>
        <p:spPr>
          <a:xfrm>
            <a:off x="990600" y="4206081"/>
            <a:ext cx="10700258"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3C8CF"/>
                </a:solidFill>
                <a:latin typeface="Inter" pitchFamily="34" charset="0"/>
                <a:ea typeface="Inter" pitchFamily="34" charset="-122"/>
                <a:cs typeface="Inter" pitchFamily="34" charset="-120"/>
              </a:rPr>
              <a:t>Le rayon vaut 1000 km : le but est de </a:t>
            </a:r>
            <a:r>
              <a:rPr lang="en-US" sz="1200" b="1" dirty="0">
                <a:solidFill>
                  <a:srgbClr val="C3C8CF"/>
                </a:solidFill>
                <a:latin typeface="Inter" pitchFamily="34" charset="0"/>
                <a:ea typeface="Inter" pitchFamily="34" charset="-122"/>
                <a:cs typeface="Inter" pitchFamily="34" charset="-120"/>
              </a:rPr>
              <a:t>trier</a:t>
            </a:r>
            <a:r>
              <a:rPr lang="en-US" sz="1200" dirty="0">
                <a:solidFill>
                  <a:srgbClr val="C3C8CF"/>
                </a:solidFill>
                <a:latin typeface="Inter" pitchFamily="34" charset="0"/>
                <a:ea typeface="Inter" pitchFamily="34" charset="-122"/>
                <a:cs typeface="Inter" pitchFamily="34" charset="-120"/>
              </a:rPr>
              <a:t>, pas de filtrer. Les trois paramètres voyagent ensemble ou pas du tout — une règle tenue par directoryQuery, et testée.</a:t>
            </a:r>
            <a:endParaRPr lang="en-US" sz="1200" dirty="0"/>
          </a:p>
        </p:txBody>
      </p:sp>
      <p:sp>
        <p:nvSpPr>
          <p:cNvPr id="14" name="Text 12"/>
          <p:cNvSpPr/>
          <p:nvPr/>
        </p:nvSpPr>
        <p:spPr>
          <a:xfrm>
            <a:off x="812800" y="6238280"/>
            <a:ext cx="3650278"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NOTE REACT NATIVE /20</a:t>
            </a:r>
            <a:endParaRPr lang="en-US" sz="1200" dirty="0"/>
          </a:p>
        </p:txBody>
      </p:sp>
      <p:sp>
        <p:nvSpPr>
          <p:cNvPr id="15" name="Text 13"/>
          <p:cNvSpPr/>
          <p:nvPr/>
        </p:nvSpPr>
        <p:spPr>
          <a:xfrm>
            <a:off x="11167963" y="6238280"/>
            <a:ext cx="21123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03 · DÉMO REACT NATIVE — CE QUI EST MONTRÉ</a:t>
            </a:r>
            <a:endParaRPr lang="en-US" sz="1200" dirty="0"/>
          </a:p>
        </p:txBody>
      </p:sp>
      <p:sp>
        <p:nvSpPr>
          <p:cNvPr id="3" name="Text 1"/>
          <p:cNvSpPr/>
          <p:nvPr>
            <p:ph type="title"/>
          </p:nvPr>
        </p:nvSpPr>
        <p:spPr>
          <a:xfrm>
            <a:off x="812800" y="11277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LA CHECKLIST MOBILE, LIGNE À LIGNE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25241"/>
          <a:ext cx="10553700" cy="3784203"/>
        </p:xfrm>
        <a:graphic>
          <a:graphicData uri="http://schemas.openxmlformats.org/drawingml/2006/table">
            <a:tbl>
              <a:tblPr/>
              <a:tblGrid>
                <a:gridCol w="2955036"/>
                <a:gridCol w="7598664"/>
              </a:tblGrid>
              <a:tr h="378420">
                <a:tc>
                  <a:txBody>
                    <a:bodyPr/>
                    <a:lstStyle/>
                    <a:p>
                      <a:pPr indent="0" marL="0">
                        <a:lnSpc>
                          <a:spcPts val="1680"/>
                        </a:lnSpc>
                        <a:buNone/>
                      </a:pPr>
                      <a:r>
                        <a:rPr lang="en-US" sz="1200" b="1" dirty="0">
                          <a:solidFill>
                            <a:srgbClr val="F4F6F8"/>
                          </a:solidFill>
                          <a:latin typeface="Inter" pitchFamily="34" charset="0"/>
                          <a:ea typeface="Inter" pitchFamily="34" charset="-122"/>
                          <a:cs typeface="Inter" pitchFamily="34" charset="-120"/>
                        </a:rPr>
                        <a:t>Attendu</a:t>
                      </a:r>
                      <a:endParaRPr lang="en-US" sz="1200" dirty="0">
                        <a:latin typeface="Inter" charset="0"/>
                        <a:ea typeface="Inter" charset="0"/>
                        <a:cs typeface="Inter" charset="0"/>
                      </a:endParaRPr>
                    </a:p>
                  </a:txBody>
                  <a:tcPr marL="152400" marR="152400" marT="76200" marB="76200" anchor="t">
                    <a:lnL w="12700" cap="flat" cmpd="sng" algn="ctr">
                      <a:solidFill>
                        <a:srgbClr val="404041"/>
                      </a:solidFill>
                      <a:prstDash val="solid"/>
                      <a:round/>
                      <a:headEnd type="none" w="med" len="med"/>
                      <a:tailEnd type="none" w="med" len="med"/>
                    </a:lnL>
                    <a:lnR w="12700" cap="flat" cmpd="sng" algn="ctr">
                      <a:solidFill>
                        <a:srgbClr val="4D4F52"/>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D4F52"/>
                      </a:solidFill>
                      <a:prstDash val="solid"/>
                      <a:round/>
                      <a:headEnd type="none" w="med" len="med"/>
                      <a:tailEnd type="none" w="med" len="med"/>
                    </a:lnB>
                    <a:solidFill>
                      <a:srgbClr val="1C1F24"/>
                    </a:solidFill>
                  </a:tcPr>
                </a:tc>
                <a:tc>
                  <a:txBody>
                    <a:bodyPr/>
                    <a:lstStyle/>
                    <a:p>
                      <a:pPr indent="0" marL="0">
                        <a:lnSpc>
                          <a:spcPts val="1680"/>
                        </a:lnSpc>
                        <a:buNone/>
                      </a:pPr>
                      <a:r>
                        <a:rPr lang="en-US" sz="1200" b="1" dirty="0">
                          <a:solidFill>
                            <a:srgbClr val="F4F6F8"/>
                          </a:solidFill>
                          <a:latin typeface="Inter" pitchFamily="34" charset="0"/>
                          <a:ea typeface="Inter" pitchFamily="34" charset="-122"/>
                          <a:cs typeface="Inter" pitchFamily="34" charset="-120"/>
                        </a:rPr>
                        <a:t>Dans Établi</a:t>
                      </a:r>
                      <a:endParaRPr lang="en-US" sz="1200" dirty="0">
                        <a:latin typeface="Inter" charset="0"/>
                        <a:ea typeface="Inter" charset="0"/>
                        <a:cs typeface="Inter" charset="0"/>
                      </a:endParaRPr>
                    </a:p>
                  </a:txBody>
                  <a:tcPr marL="152400" marR="152400" marT="76200" marB="76200" anchor="t">
                    <a:lnL w="12700" cap="flat" cmpd="sng" algn="ctr">
                      <a:solidFill>
                        <a:srgbClr val="4D4F52"/>
                      </a:solidFill>
                      <a:prstDash val="solid"/>
                      <a:round/>
                      <a:headEnd type="none" w="med" len="med"/>
                      <a:tailEnd type="none" w="med" len="med"/>
                    </a:lnL>
                    <a:lnR w="12700" cap="flat" cmpd="sng" algn="ctr">
                      <a:solidFill>
                        <a:srgbClr val="4D4F52"/>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D4F52"/>
                      </a:solidFill>
                      <a:prstDash val="solid"/>
                      <a:round/>
                      <a:headEnd type="none" w="med" len="med"/>
                      <a:tailEnd type="none" w="med" len="med"/>
                    </a:lnB>
                    <a:solidFill>
                      <a:srgbClr val="1C1F24"/>
                    </a:solidFill>
                  </a:tcPr>
                </a:tc>
              </a:tr>
              <a:tr h="3784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Lié au web, backend réel</a:t>
                      </a:r>
                      <a:endParaRPr lang="en-US" sz="1200" dirty="0">
                        <a:latin typeface="Inter" charset="0"/>
                        <a:ea typeface="Inter" charset="0"/>
                        <a:cs typeface="Inter" charset="0"/>
                      </a:endParaRPr>
                    </a:p>
                  </a:txBody>
                  <a:tcPr marL="152400" marR="152400" marT="76200" marB="762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D4F52"/>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Même API NestJS, mêmes comptes, même PostgreSQL</a:t>
                      </a:r>
                      <a:endParaRPr lang="en-US" sz="1200" dirty="0">
                        <a:latin typeface="Inter" charset="0"/>
                        <a:ea typeface="Inter" charset="0"/>
                        <a:cs typeface="Inter" charset="0"/>
                      </a:endParaRPr>
                    </a:p>
                  </a:txBody>
                  <a:tcPr marL="152400" marR="152400" marT="76200" marB="762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D4F52"/>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r h="3784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Expo Router</a:t>
                      </a:r>
                      <a:endParaRPr lang="en-US" sz="1200" dirty="0">
                        <a:latin typeface="Inter" charset="0"/>
                        <a:ea typeface="Inter" charset="0"/>
                        <a:cs typeface="Inter" charset="0"/>
                      </a:endParaRPr>
                    </a:p>
                  </a:txBody>
                  <a:tcPr marL="152400" marR="152400" marT="76200" marB="762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Coquilles dans src/app/, Stack.Protected sur trois écrans</a:t>
                      </a:r>
                      <a:endParaRPr lang="en-US" sz="1200" dirty="0">
                        <a:latin typeface="Inter" charset="0"/>
                        <a:ea typeface="Inter" charset="0"/>
                        <a:cs typeface="Inter" charset="0"/>
                      </a:endParaRPr>
                    </a:p>
                  </a:txBody>
                  <a:tcPr marL="152400" marR="152400" marT="76200" marB="762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r>
              <a:tr h="3784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Scan QR réel</a:t>
                      </a:r>
                      <a:endParaRPr lang="en-US" sz="1200" dirty="0">
                        <a:latin typeface="Inter" charset="0"/>
                        <a:ea typeface="Inter" charset="0"/>
                        <a:cs typeface="Inter" charset="0"/>
                      </a:endParaRPr>
                    </a:p>
                  </a:txBody>
                  <a:tcPr marL="152400" marR="152400" marT="76200" marB="762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expo-camera, jeton généré par le serveur, fenêtre de pointage</a:t>
                      </a:r>
                      <a:endParaRPr lang="en-US" sz="1200" dirty="0">
                        <a:latin typeface="Inter" charset="0"/>
                        <a:ea typeface="Inter" charset="0"/>
                        <a:cs typeface="Inter" charset="0"/>
                      </a:endParaRPr>
                    </a:p>
                  </a:txBody>
                  <a:tcPr marL="152400" marR="152400" marT="76200" marB="762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r h="3784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Géolocalisation réelle</a:t>
                      </a:r>
                      <a:endParaRPr lang="en-US" sz="1200" dirty="0">
                        <a:latin typeface="Inter" charset="0"/>
                        <a:ea typeface="Inter" charset="0"/>
                        <a:cs typeface="Inter" charset="0"/>
                      </a:endParaRPr>
                    </a:p>
                  </a:txBody>
                  <a:tcPr marL="152400" marR="152400" marT="76200" marB="762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Tri par distance, carte native, refus géré</a:t>
                      </a:r>
                      <a:endParaRPr lang="en-US" sz="1200" dirty="0">
                        <a:latin typeface="Inter" charset="0"/>
                        <a:ea typeface="Inter" charset="0"/>
                        <a:cs typeface="Inter" charset="0"/>
                      </a:endParaRPr>
                    </a:p>
                  </a:txBody>
                  <a:tcPr marL="152400" marR="152400" marT="76200" marB="762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r>
              <a:tr h="3784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Permissions</a:t>
                      </a:r>
                      <a:endParaRPr lang="en-US" sz="1200" dirty="0">
                        <a:latin typeface="Inter" charset="0"/>
                        <a:ea typeface="Inter" charset="0"/>
                        <a:cs typeface="Inter" charset="0"/>
                      </a:endParaRPr>
                    </a:p>
                  </a:txBody>
                  <a:tcPr marL="152400" marR="152400" marT="76200" marB="762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Caméra et position refusables, chacune a son repli</a:t>
                      </a:r>
                      <a:endParaRPr lang="en-US" sz="1200" dirty="0">
                        <a:latin typeface="Inter" charset="0"/>
                        <a:ea typeface="Inter" charset="0"/>
                        <a:cs typeface="Inter" charset="0"/>
                      </a:endParaRPr>
                    </a:p>
                  </a:txBody>
                  <a:tcPr marL="152400" marR="152400" marT="76200" marB="762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r h="3784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Persistance, historique</a:t>
                      </a:r>
                      <a:endParaRPr lang="en-US" sz="1200" dirty="0">
                        <a:latin typeface="Inter" charset="0"/>
                        <a:ea typeface="Inter" charset="0"/>
                        <a:cs typeface="Inter" charset="0"/>
                      </a:endParaRPr>
                    </a:p>
                  </a:txBody>
                  <a:tcPr marL="152400" marR="152400" marT="76200" marB="762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Réservations à venir, pointées, annulées, non honorées</a:t>
                      </a:r>
                      <a:endParaRPr lang="en-US" sz="1200" dirty="0">
                        <a:latin typeface="Inter" charset="0"/>
                        <a:ea typeface="Inter" charset="0"/>
                        <a:cs typeface="Inter" charset="0"/>
                      </a:endParaRPr>
                    </a:p>
                  </a:txBody>
                  <a:tcPr marL="152400" marR="152400" marT="76200" marB="762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r>
              <a:tr h="3784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États</a:t>
                      </a:r>
                      <a:endParaRPr lang="en-US" sz="1200" dirty="0">
                        <a:latin typeface="Inter" charset="0"/>
                        <a:ea typeface="Inter" charset="0"/>
                        <a:cs typeface="Inter" charset="0"/>
                      </a:endParaRPr>
                    </a:p>
                  </a:txBody>
                  <a:tcPr marL="152400" marR="152400" marT="76200" marB="762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Chargement, erreur, vide, succès ; 401 traité en un seul endroit</a:t>
                      </a:r>
                      <a:endParaRPr lang="en-US" sz="1200" dirty="0">
                        <a:latin typeface="Inter" charset="0"/>
                        <a:ea typeface="Inter" charset="0"/>
                        <a:cs typeface="Inter" charset="0"/>
                      </a:endParaRPr>
                    </a:p>
                  </a:txBody>
                  <a:tcPr marL="152400" marR="152400" marT="76200" marB="762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r h="3784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Environnement de test</a:t>
                      </a:r>
                      <a:endParaRPr lang="en-US" sz="1200" dirty="0">
                        <a:latin typeface="Inter" charset="0"/>
                        <a:ea typeface="Inter" charset="0"/>
                        <a:cs typeface="Inter" charset="0"/>
                      </a:endParaRPr>
                    </a:p>
                  </a:txBody>
                  <a:tcPr marL="152400" marR="152400" marT="76200" marB="762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Expo Go, procédure dans apps/mobile/README.md</a:t>
                      </a:r>
                      <a:endParaRPr lang="en-US" sz="1200" dirty="0">
                        <a:latin typeface="Inter" charset="0"/>
                        <a:ea typeface="Inter" charset="0"/>
                        <a:cs typeface="Inter" charset="0"/>
                      </a:endParaRPr>
                    </a:p>
                  </a:txBody>
                  <a:tcPr marL="152400" marR="152400" marT="76200" marB="762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r>
              <a:tr h="3784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NFC (bonus)</a:t>
                      </a:r>
                      <a:endParaRPr lang="en-US" sz="1200" dirty="0">
                        <a:latin typeface="Inter" charset="0"/>
                        <a:ea typeface="Inter" charset="0"/>
                        <a:cs typeface="Inter" charset="0"/>
                      </a:endParaRPr>
                    </a:p>
                  </a:txBody>
                  <a:tcPr marL="152400" marR="152400" marT="76200" marB="762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Non retenu : le QR tourne dans Expo Go, le NFC exige un development build</a:t>
                      </a:r>
                      <a:endParaRPr lang="en-US" sz="1200" dirty="0">
                        <a:latin typeface="Inter" charset="0"/>
                        <a:ea typeface="Inter" charset="0"/>
                        <a:cs typeface="Inter" charset="0"/>
                      </a:endParaRPr>
                    </a:p>
                  </a:txBody>
                  <a:tcPr marL="152400" marR="152400" marT="76200" marB="762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bl>
          </a:graphicData>
        </a:graphic>
      </p:graphicFrame>
      <p:sp>
        <p:nvSpPr>
          <p:cNvPr id="5" name="Text 2"/>
          <p:cNvSpPr/>
          <p:nvPr/>
        </p:nvSpPr>
        <p:spPr>
          <a:xfrm>
            <a:off x="812800" y="6238280"/>
            <a:ext cx="3650278"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NOTE REACT NATIVE /20</a:t>
            </a:r>
            <a:endParaRPr lang="en-US" sz="1200" dirty="0"/>
          </a:p>
        </p:txBody>
      </p:sp>
      <p:sp>
        <p:nvSpPr>
          <p:cNvPr id="6" name="Text 3"/>
          <p:cNvSpPr/>
          <p:nvPr/>
        </p:nvSpPr>
        <p:spPr>
          <a:xfrm>
            <a:off x="11176000" y="6238280"/>
            <a:ext cx="203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04 · DOCKERISATION NEXT.JS</a:t>
            </a:r>
            <a:endParaRPr lang="en-US" sz="1200" dirty="0"/>
          </a:p>
        </p:txBody>
      </p:sp>
      <p:sp>
        <p:nvSpPr>
          <p:cNvPr id="3" name="Text 1"/>
          <p:cNvSpPr/>
          <p:nvPr>
            <p:ph type="title"/>
          </p:nvPr>
        </p:nvSpPr>
        <p:spPr>
          <a:xfrm>
            <a:off x="812800" y="11277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UN DOCKERFILE EN TROIS STAGES</a:t>
            </a:r>
            <a:endParaRPr lang="en-US" sz="3600" dirty="0"/>
          </a:p>
        </p:txBody>
      </p:sp>
      <p:sp>
        <p:nvSpPr>
          <p:cNvPr id="4" name="Shape 2"/>
          <p:cNvSpPr/>
          <p:nvPr/>
        </p:nvSpPr>
        <p:spPr>
          <a:xfrm>
            <a:off x="825500" y="1912541"/>
            <a:ext cx="0" cy="863501"/>
          </a:xfrm>
          <a:prstGeom prst="line">
            <a:avLst/>
          </a:prstGeom>
          <a:noFill/>
          <a:ln w="25400">
            <a:solidFill>
              <a:srgbClr val="FF6A00"/>
            </a:solidFill>
            <a:prstDash val="solid"/>
          </a:ln>
        </p:spPr>
      </p:sp>
      <p:sp>
        <p:nvSpPr>
          <p:cNvPr id="5" name="Text 3"/>
          <p:cNvSpPr/>
          <p:nvPr/>
        </p:nvSpPr>
        <p:spPr>
          <a:xfrm>
            <a:off x="1016000" y="1937941"/>
            <a:ext cx="483343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6F8"/>
                </a:solidFill>
                <a:latin typeface="Barlow Condensed" pitchFamily="34" charset="0"/>
                <a:ea typeface="Barlow Condensed" pitchFamily="34" charset="-122"/>
                <a:cs typeface="Barlow Condensed" pitchFamily="34" charset="-120"/>
              </a:rPr>
              <a:t>DEPS</a:t>
            </a:r>
            <a:endParaRPr lang="en-US" sz="2200" dirty="0"/>
          </a:p>
        </p:txBody>
      </p:sp>
      <p:sp>
        <p:nvSpPr>
          <p:cNvPr id="6" name="Text 4"/>
          <p:cNvSpPr/>
          <p:nvPr/>
        </p:nvSpPr>
        <p:spPr>
          <a:xfrm>
            <a:off x="1016000" y="2324001"/>
            <a:ext cx="483343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Les manifests, puis un install figé et filtré : ce layer reste en cache tant qu'aucun package.json ne bouge.</a:t>
            </a:r>
            <a:endParaRPr lang="en-US" sz="1200" dirty="0"/>
          </a:p>
        </p:txBody>
      </p:sp>
      <p:sp>
        <p:nvSpPr>
          <p:cNvPr id="7" name="Shape 5"/>
          <p:cNvSpPr/>
          <p:nvPr/>
        </p:nvSpPr>
        <p:spPr>
          <a:xfrm>
            <a:off x="825500" y="2903041"/>
            <a:ext cx="0" cy="863501"/>
          </a:xfrm>
          <a:prstGeom prst="line">
            <a:avLst/>
          </a:prstGeom>
          <a:noFill/>
          <a:ln w="25400">
            <a:solidFill>
              <a:srgbClr val="FF6A00"/>
            </a:solidFill>
            <a:prstDash val="solid"/>
          </a:ln>
        </p:spPr>
      </p:sp>
      <p:sp>
        <p:nvSpPr>
          <p:cNvPr id="8" name="Text 6"/>
          <p:cNvSpPr/>
          <p:nvPr/>
        </p:nvSpPr>
        <p:spPr>
          <a:xfrm>
            <a:off x="1016000" y="2928441"/>
            <a:ext cx="483343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6F8"/>
                </a:solidFill>
                <a:latin typeface="Barlow Condensed" pitchFamily="34" charset="0"/>
                <a:ea typeface="Barlow Condensed" pitchFamily="34" charset="-122"/>
                <a:cs typeface="Barlow Condensed" pitchFamily="34" charset="-120"/>
              </a:rPr>
              <a:t>BUILDER</a:t>
            </a:r>
            <a:endParaRPr lang="en-US" sz="2200" dirty="0"/>
          </a:p>
        </p:txBody>
      </p:sp>
      <p:sp>
        <p:nvSpPr>
          <p:cNvPr id="9" name="Text 7"/>
          <p:cNvSpPr/>
          <p:nvPr/>
        </p:nvSpPr>
        <p:spPr>
          <a:xfrm>
            <a:off x="1016000" y="3314502"/>
            <a:ext cx="483343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Les packages, puis next build en output standalone : Next trace ce qui est vraiment requis.</a:t>
            </a:r>
            <a:endParaRPr lang="en-US" sz="1200" dirty="0"/>
          </a:p>
        </p:txBody>
      </p:sp>
      <p:sp>
        <p:nvSpPr>
          <p:cNvPr id="10" name="Shape 8"/>
          <p:cNvSpPr/>
          <p:nvPr/>
        </p:nvSpPr>
        <p:spPr>
          <a:xfrm>
            <a:off x="825500" y="3893542"/>
            <a:ext cx="0" cy="863501"/>
          </a:xfrm>
          <a:prstGeom prst="line">
            <a:avLst/>
          </a:prstGeom>
          <a:noFill/>
          <a:ln w="25400">
            <a:solidFill>
              <a:srgbClr val="FF6A00"/>
            </a:solidFill>
            <a:prstDash val="solid"/>
          </a:ln>
        </p:spPr>
      </p:sp>
      <p:sp>
        <p:nvSpPr>
          <p:cNvPr id="11" name="Text 9"/>
          <p:cNvSpPr/>
          <p:nvPr/>
        </p:nvSpPr>
        <p:spPr>
          <a:xfrm>
            <a:off x="1016000" y="3918942"/>
            <a:ext cx="483343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6F8"/>
                </a:solidFill>
                <a:latin typeface="Barlow Condensed" pitchFamily="34" charset="0"/>
                <a:ea typeface="Barlow Condensed" pitchFamily="34" charset="-122"/>
                <a:cs typeface="Barlow Condensed" pitchFamily="34" charset="-120"/>
              </a:rPr>
              <a:t>RUNNER</a:t>
            </a:r>
            <a:endParaRPr lang="en-US" sz="2200" dirty="0"/>
          </a:p>
        </p:txBody>
      </p:sp>
      <p:sp>
        <p:nvSpPr>
          <p:cNvPr id="12" name="Text 10"/>
          <p:cNvSpPr/>
          <p:nvPr/>
        </p:nvSpPr>
        <p:spPr>
          <a:xfrm>
            <a:off x="1016000" y="4305002"/>
            <a:ext cx="483343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Standalone, static et public seuls ; utilisateur node, npm, corepack et yarn retirés.</a:t>
            </a:r>
            <a:endParaRPr lang="en-US" sz="1200" dirty="0"/>
          </a:p>
        </p:txBody>
      </p:sp>
      <p:sp>
        <p:nvSpPr>
          <p:cNvPr id="13" name="Shape 11"/>
          <p:cNvSpPr/>
          <p:nvPr/>
        </p:nvSpPr>
        <p:spPr>
          <a:xfrm>
            <a:off x="6016625" y="1915716"/>
            <a:ext cx="5359400" cy="3923109"/>
          </a:xfrm>
          <a:prstGeom prst="rect">
            <a:avLst/>
          </a:prstGeom>
          <a:solidFill>
            <a:srgbClr val="131518"/>
          </a:solidFill>
          <a:ln w="6350">
            <a:solidFill>
              <a:srgbClr val="2A2E35"/>
            </a:solidFill>
            <a:prstDash val="solid"/>
          </a:ln>
        </p:spPr>
      </p:sp>
      <p:sp>
        <p:nvSpPr>
          <p:cNvPr id="14" name="Text 12"/>
          <p:cNvSpPr/>
          <p:nvPr/>
        </p:nvSpPr>
        <p:spPr>
          <a:xfrm>
            <a:off x="6248400" y="2122091"/>
            <a:ext cx="504272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F8534"/>
                </a:solidFill>
                <a:latin typeface="JetBrains Mono" pitchFamily="49" charset="0"/>
                <a:ea typeface="JetBrains Mono" pitchFamily="49" charset="-122"/>
                <a:cs typeface="JetBrains Mono" pitchFamily="49" charset="-120"/>
              </a:rPr>
              <a:t>FROM node:24-alpine AS base</a:t>
            </a:r>
            <a:endParaRPr lang="en-US" sz="1200" dirty="0"/>
          </a:p>
        </p:txBody>
      </p:sp>
      <p:sp>
        <p:nvSpPr>
          <p:cNvPr id="15" name="Text 13"/>
          <p:cNvSpPr/>
          <p:nvPr/>
        </p:nvSpPr>
        <p:spPr>
          <a:xfrm>
            <a:off x="6248400" y="2363391"/>
            <a:ext cx="504272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F8534"/>
                </a:solidFill>
                <a:latin typeface="JetBrains Mono" pitchFamily="49" charset="0"/>
                <a:ea typeface="JetBrains Mono" pitchFamily="49" charset="-122"/>
                <a:cs typeface="JetBrains Mono" pitchFamily="49" charset="-120"/>
              </a:rPr>
              <a:t>FROM base AS deps</a:t>
            </a:r>
            <a:endParaRPr lang="en-US" sz="1200" dirty="0"/>
          </a:p>
        </p:txBody>
      </p:sp>
      <p:sp>
        <p:nvSpPr>
          <p:cNvPr id="16" name="Text 14"/>
          <p:cNvSpPr/>
          <p:nvPr/>
        </p:nvSpPr>
        <p:spPr>
          <a:xfrm>
            <a:off x="6248400" y="2604691"/>
            <a:ext cx="504272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3C8CF"/>
                </a:solidFill>
                <a:latin typeface="JetBrains Mono" pitchFamily="49" charset="0"/>
                <a:ea typeface="JetBrains Mono" pitchFamily="49" charset="-122"/>
                <a:cs typeface="JetBrains Mono" pitchFamily="49" charset="-120"/>
              </a:rPr>
              <a:t>COPY pnpm-lock.yaml package.json …</a:t>
            </a:r>
            <a:endParaRPr lang="en-US" sz="1200" dirty="0"/>
          </a:p>
        </p:txBody>
      </p:sp>
      <p:sp>
        <p:nvSpPr>
          <p:cNvPr id="17" name="Text 15"/>
          <p:cNvSpPr/>
          <p:nvPr/>
        </p:nvSpPr>
        <p:spPr>
          <a:xfrm>
            <a:off x="6248400" y="2845991"/>
            <a:ext cx="504272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3C8CF"/>
                </a:solidFill>
                <a:latin typeface="JetBrains Mono" pitchFamily="49" charset="0"/>
                <a:ea typeface="JetBrains Mono" pitchFamily="49" charset="-122"/>
                <a:cs typeface="JetBrains Mono" pitchFamily="49" charset="-120"/>
              </a:rPr>
              <a:t>RUN pnpm install --frozen-lockfile</a:t>
            </a:r>
            <a:endParaRPr lang="en-US" sz="1200" dirty="0"/>
          </a:p>
        </p:txBody>
      </p:sp>
      <p:sp>
        <p:nvSpPr>
          <p:cNvPr id="18" name="Text 16"/>
          <p:cNvSpPr/>
          <p:nvPr/>
        </p:nvSpPr>
        <p:spPr>
          <a:xfrm>
            <a:off x="6248400" y="3087291"/>
            <a:ext cx="504272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F8534"/>
                </a:solidFill>
                <a:latin typeface="JetBrains Mono" pitchFamily="49" charset="0"/>
                <a:ea typeface="JetBrains Mono" pitchFamily="49" charset="-122"/>
                <a:cs typeface="JetBrains Mono" pitchFamily="49" charset="-120"/>
              </a:rPr>
              <a:t>FROM deps AS builder</a:t>
            </a:r>
            <a:endParaRPr lang="en-US" sz="1200" dirty="0"/>
          </a:p>
        </p:txBody>
      </p:sp>
      <p:sp>
        <p:nvSpPr>
          <p:cNvPr id="19" name="Text 17"/>
          <p:cNvSpPr/>
          <p:nvPr/>
        </p:nvSpPr>
        <p:spPr>
          <a:xfrm>
            <a:off x="6248400" y="3328591"/>
            <a:ext cx="504272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3C8CF"/>
                </a:solidFill>
                <a:latin typeface="JetBrains Mono" pitchFamily="49" charset="0"/>
                <a:ea typeface="JetBrains Mono" pitchFamily="49" charset="-122"/>
                <a:cs typeface="JetBrains Mono" pitchFamily="49" charset="-120"/>
              </a:rPr>
              <a:t>RUN pnpm --filter @etabli/web build</a:t>
            </a:r>
            <a:endParaRPr lang="en-US" sz="1200" dirty="0"/>
          </a:p>
        </p:txBody>
      </p:sp>
      <p:sp>
        <p:nvSpPr>
          <p:cNvPr id="20" name="Text 18"/>
          <p:cNvSpPr/>
          <p:nvPr/>
        </p:nvSpPr>
        <p:spPr>
          <a:xfrm>
            <a:off x="6248400" y="3569891"/>
            <a:ext cx="504272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F8534"/>
                </a:solidFill>
                <a:latin typeface="JetBrains Mono" pitchFamily="49" charset="0"/>
                <a:ea typeface="JetBrains Mono" pitchFamily="49" charset="-122"/>
                <a:cs typeface="JetBrains Mono" pitchFamily="49" charset="-120"/>
              </a:rPr>
              <a:t>FROM node:24-alpine AS runner</a:t>
            </a:r>
            <a:endParaRPr lang="en-US" sz="1200" dirty="0"/>
          </a:p>
        </p:txBody>
      </p:sp>
      <p:sp>
        <p:nvSpPr>
          <p:cNvPr id="21" name="Text 19"/>
          <p:cNvSpPr/>
          <p:nvPr/>
        </p:nvSpPr>
        <p:spPr>
          <a:xfrm>
            <a:off x="6248400" y="3811191"/>
            <a:ext cx="504272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3C8CF"/>
                </a:solidFill>
                <a:latin typeface="JetBrains Mono" pitchFamily="49" charset="0"/>
                <a:ea typeface="JetBrains Mono" pitchFamily="49" charset="-122"/>
                <a:cs typeface="JetBrains Mono" pitchFamily="49" charset="-120"/>
              </a:rPr>
              <a:t>RUN rm -rf … npm npx corepack yarn</a:t>
            </a:r>
            <a:endParaRPr lang="en-US" sz="1200" dirty="0"/>
          </a:p>
        </p:txBody>
      </p:sp>
      <p:sp>
        <p:nvSpPr>
          <p:cNvPr id="22" name="Text 20"/>
          <p:cNvSpPr/>
          <p:nvPr/>
        </p:nvSpPr>
        <p:spPr>
          <a:xfrm>
            <a:off x="6248400" y="4052491"/>
            <a:ext cx="504272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3C8CF"/>
                </a:solidFill>
                <a:latin typeface="JetBrains Mono" pitchFamily="49" charset="0"/>
                <a:ea typeface="JetBrains Mono" pitchFamily="49" charset="-122"/>
                <a:cs typeface="JetBrains Mono" pitchFamily="49" charset="-120"/>
              </a:rPr>
              <a:t>COPY --from=builder … .next/standalone</a:t>
            </a:r>
            <a:endParaRPr lang="en-US" sz="1200" dirty="0"/>
          </a:p>
        </p:txBody>
      </p:sp>
      <p:sp>
        <p:nvSpPr>
          <p:cNvPr id="23" name="Text 21"/>
          <p:cNvSpPr/>
          <p:nvPr/>
        </p:nvSpPr>
        <p:spPr>
          <a:xfrm>
            <a:off x="6248400" y="4293791"/>
            <a:ext cx="504272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3C8CF"/>
                </a:solidFill>
                <a:latin typeface="JetBrains Mono" pitchFamily="49" charset="0"/>
                <a:ea typeface="JetBrains Mono" pitchFamily="49" charset="-122"/>
                <a:cs typeface="JetBrains Mono" pitchFamily="49" charset="-120"/>
              </a:rPr>
              <a:t>USER node</a:t>
            </a:r>
            <a:endParaRPr lang="en-US" sz="1200" dirty="0"/>
          </a:p>
        </p:txBody>
      </p:sp>
      <p:sp>
        <p:nvSpPr>
          <p:cNvPr id="24" name="Text 22"/>
          <p:cNvSpPr/>
          <p:nvPr/>
        </p:nvSpPr>
        <p:spPr>
          <a:xfrm>
            <a:off x="6248400" y="4535091"/>
            <a:ext cx="504272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3C8CF"/>
                </a:solidFill>
                <a:latin typeface="JetBrains Mono" pitchFamily="49" charset="0"/>
                <a:ea typeface="JetBrains Mono" pitchFamily="49" charset="-122"/>
                <a:cs typeface="JetBrains Mono" pitchFamily="49" charset="-120"/>
              </a:rPr>
              <a:t>EXPOSE 3000</a:t>
            </a:r>
            <a:endParaRPr lang="en-US" sz="1200" dirty="0"/>
          </a:p>
        </p:txBody>
      </p:sp>
      <p:sp>
        <p:nvSpPr>
          <p:cNvPr id="25" name="Text 23"/>
          <p:cNvSpPr/>
          <p:nvPr/>
        </p:nvSpPr>
        <p:spPr>
          <a:xfrm>
            <a:off x="6248400" y="4776391"/>
            <a:ext cx="504272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3C8CF"/>
                </a:solidFill>
                <a:latin typeface="JetBrains Mono" pitchFamily="49" charset="0"/>
                <a:ea typeface="JetBrains Mono" pitchFamily="49" charset="-122"/>
                <a:cs typeface="JetBrains Mono" pitchFamily="49" charset="-120"/>
              </a:rPr>
              <a:t>CMD ["node", "apps/web/server.js"]</a:t>
            </a:r>
            <a:endParaRPr lang="en-US" sz="1200" dirty="0"/>
          </a:p>
        </p:txBody>
      </p:sp>
      <p:sp>
        <p:nvSpPr>
          <p:cNvPr id="26" name="Text 24"/>
          <p:cNvSpPr/>
          <p:nvPr/>
        </p:nvSpPr>
        <p:spPr>
          <a:xfrm>
            <a:off x="812800" y="6238280"/>
            <a:ext cx="296674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NOTE DOCKER /20</a:t>
            </a:r>
            <a:endParaRPr lang="en-US" sz="1200" dirty="0"/>
          </a:p>
        </p:txBody>
      </p:sp>
      <p:sp>
        <p:nvSpPr>
          <p:cNvPr id="27" name="Text 25"/>
          <p:cNvSpPr/>
          <p:nvPr/>
        </p:nvSpPr>
        <p:spPr>
          <a:xfrm>
            <a:off x="11171882" y="6238280"/>
            <a:ext cx="20731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04 · DOCKERISATION NEXT.JS — LANCEMENT</a:t>
            </a:r>
            <a:endParaRPr lang="en-US" sz="1200" dirty="0"/>
          </a:p>
        </p:txBody>
      </p:sp>
      <p:sp>
        <p:nvSpPr>
          <p:cNvPr id="3" name="Text 1"/>
          <p:cNvSpPr/>
          <p:nvPr>
            <p:ph type="title"/>
          </p:nvPr>
        </p:nvSpPr>
        <p:spPr>
          <a:xfrm>
            <a:off x="812800" y="11277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UNE COMMANDE, ET CHAQUE VARIABLE À SON MOMENT</a:t>
            </a:r>
            <a:endParaRPr lang="en-US" sz="3600" dirty="0"/>
          </a:p>
        </p:txBody>
      </p:sp>
      <p:sp>
        <p:nvSpPr>
          <p:cNvPr id="4" name="Text 2"/>
          <p:cNvSpPr/>
          <p:nvPr/>
        </p:nvSpPr>
        <p:spPr>
          <a:xfrm>
            <a:off x="812800" y="1912541"/>
            <a:ext cx="528472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3C8CF"/>
                </a:solidFill>
                <a:latin typeface="Inter" pitchFamily="34" charset="0"/>
                <a:ea typeface="Inter" pitchFamily="34" charset="-122"/>
                <a:cs typeface="Inter" pitchFamily="34" charset="-120"/>
              </a:rPr>
              <a:t>Tout le produit, en développement</a:t>
            </a:r>
            <a:endParaRPr lang="en-US" sz="1200" dirty="0"/>
          </a:p>
        </p:txBody>
      </p:sp>
      <p:sp>
        <p:nvSpPr>
          <p:cNvPr id="5" name="Text 3"/>
          <p:cNvSpPr/>
          <p:nvPr/>
        </p:nvSpPr>
        <p:spPr>
          <a:xfrm>
            <a:off x="812800" y="2176661"/>
            <a:ext cx="5130800" cy="391120"/>
          </a:xfrm>
          <a:prstGeom prst="rect">
            <a:avLst/>
          </a:prstGeom>
          <a:solidFill>
            <a:srgbClr val="1C1F24"/>
          </a:solidFill>
          <a:ln/>
        </p:spPr>
        <p:txBody>
          <a:bodyPr wrap="square" lIns="127000" tIns="88900" rIns="0" bIns="63500" rtlCol="0" anchor="t">
            <a:normAutofit/>
          </a:bodyPr>
          <a:lstStyle/>
          <a:p>
            <a:pPr algn="l" indent="0" marL="0">
              <a:lnSpc>
                <a:spcPts val="1680"/>
              </a:lnSpc>
              <a:buNone/>
            </a:pPr>
            <a:r>
              <a:rPr lang="en-US" sz="1200" dirty="0">
                <a:solidFill>
                  <a:srgbClr val="F4F6F8"/>
                </a:solidFill>
                <a:latin typeface="JetBrains Mono" pitchFamily="49" charset="0"/>
                <a:ea typeface="JetBrains Mono" pitchFamily="49" charset="-122"/>
                <a:cs typeface="JetBrains Mono" pitchFamily="49" charset="-120"/>
              </a:rPr>
              <a:t>docker compose up --build</a:t>
            </a:r>
            <a:endParaRPr lang="en-US" sz="1200" dirty="0"/>
          </a:p>
        </p:txBody>
      </p:sp>
      <p:sp>
        <p:nvSpPr>
          <p:cNvPr id="6" name="Text 4"/>
          <p:cNvSpPr/>
          <p:nvPr/>
        </p:nvSpPr>
        <p:spPr>
          <a:xfrm>
            <a:off x="812800" y="2694781"/>
            <a:ext cx="528472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3C8CF"/>
                </a:solidFill>
                <a:latin typeface="Inter" pitchFamily="34" charset="0"/>
                <a:ea typeface="Inter" pitchFamily="34" charset="-122"/>
                <a:cs typeface="Inter" pitchFamily="34" charset="-120"/>
              </a:rPr>
              <a:t>Les images de production</a:t>
            </a:r>
            <a:endParaRPr lang="en-US" sz="1200" dirty="0"/>
          </a:p>
        </p:txBody>
      </p:sp>
      <p:sp>
        <p:nvSpPr>
          <p:cNvPr id="7" name="Text 5"/>
          <p:cNvSpPr/>
          <p:nvPr/>
        </p:nvSpPr>
        <p:spPr>
          <a:xfrm>
            <a:off x="812800" y="2958902"/>
            <a:ext cx="5130800" cy="391120"/>
          </a:xfrm>
          <a:prstGeom prst="rect">
            <a:avLst/>
          </a:prstGeom>
          <a:solidFill>
            <a:srgbClr val="1C1F24"/>
          </a:solidFill>
          <a:ln/>
        </p:spPr>
        <p:txBody>
          <a:bodyPr wrap="square" lIns="127000" tIns="88900" rIns="0" bIns="63500" rtlCol="0" anchor="t">
            <a:normAutofit/>
          </a:bodyPr>
          <a:lstStyle/>
          <a:p>
            <a:pPr algn="l" indent="0" marL="0">
              <a:lnSpc>
                <a:spcPts val="1680"/>
              </a:lnSpc>
              <a:buNone/>
            </a:pPr>
            <a:r>
              <a:rPr lang="en-US" sz="1200" dirty="0">
                <a:solidFill>
                  <a:srgbClr val="F4F6F8"/>
                </a:solidFill>
                <a:latin typeface="JetBrains Mono" pitchFamily="49" charset="0"/>
                <a:ea typeface="JetBrains Mono" pitchFamily="49" charset="-122"/>
                <a:cs typeface="JetBrains Mono" pitchFamily="49" charset="-120"/>
              </a:rPr>
              <a:t>docker compose -f compose.yaml up --build</a:t>
            </a:r>
            <a:endParaRPr lang="en-US" sz="1200" dirty="0"/>
          </a:p>
        </p:txBody>
      </p:sp>
      <p:sp>
        <p:nvSpPr>
          <p:cNvPr id="8" name="Text 6"/>
          <p:cNvSpPr/>
          <p:nvPr/>
        </p:nvSpPr>
        <p:spPr>
          <a:xfrm>
            <a:off x="812800" y="3477022"/>
            <a:ext cx="528472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3C8CF"/>
                </a:solidFill>
                <a:latin typeface="Inter" pitchFamily="34" charset="0"/>
                <a:ea typeface="Inter" pitchFamily="34" charset="-122"/>
                <a:cs typeface="Inter" pitchFamily="34" charset="-120"/>
              </a:rPr>
              <a:t>L'image Next.js seule</a:t>
            </a:r>
            <a:endParaRPr lang="en-US" sz="1200" dirty="0"/>
          </a:p>
        </p:txBody>
      </p:sp>
      <p:sp>
        <p:nvSpPr>
          <p:cNvPr id="9" name="Text 7"/>
          <p:cNvSpPr/>
          <p:nvPr/>
        </p:nvSpPr>
        <p:spPr>
          <a:xfrm>
            <a:off x="812800" y="3741142"/>
            <a:ext cx="5130800" cy="817761"/>
          </a:xfrm>
          <a:prstGeom prst="rect">
            <a:avLst/>
          </a:prstGeom>
          <a:solidFill>
            <a:srgbClr val="1C1F24"/>
          </a:solidFill>
          <a:ln/>
        </p:spPr>
        <p:txBody>
          <a:bodyPr wrap="square" lIns="127000" tIns="88900" rIns="0" bIns="63500" rtlCol="0" anchor="t">
            <a:normAutofit/>
          </a:bodyPr>
          <a:lstStyle/>
          <a:p>
            <a:pPr algn="l" indent="0" marL="0">
              <a:lnSpc>
                <a:spcPts val="1680"/>
              </a:lnSpc>
              <a:buNone/>
            </a:pPr>
            <a:r>
              <a:rPr lang="en-US" sz="1200" dirty="0">
                <a:solidFill>
                  <a:srgbClr val="F4F6F8"/>
                </a:solidFill>
                <a:latin typeface="JetBrains Mono" pitchFamily="49" charset="0"/>
                <a:ea typeface="JetBrains Mono" pitchFamily="49" charset="-122"/>
                <a:cs typeface="JetBrains Mono" pitchFamily="49" charset="-120"/>
              </a:rPr>
              <a:t>docker build -t etabli-web .</a:t>
            </a:r>
            <a:endParaRPr lang="en-US" sz="1200" dirty="0"/>
          </a:p>
          <a:p>
            <a:pPr algn="l" indent="0" marL="0">
              <a:lnSpc>
                <a:spcPts val="1680"/>
              </a:lnSpc>
              <a:buNone/>
            </a:pPr>
            <a:r>
              <a:rPr lang="en-US" sz="1200" dirty="0">
                <a:solidFill>
                  <a:srgbClr val="F4F6F8"/>
                </a:solidFill>
                <a:latin typeface="JetBrains Mono" pitchFamily="49" charset="0"/>
                <a:ea typeface="JetBrains Mono" pitchFamily="49" charset="-122"/>
                <a:cs typeface="JetBrains Mono" pitchFamily="49" charset="-120"/>
              </a:rPr>
              <a:t>docker run -p 3000:3000 \</a:t>
            </a:r>
            <a:endParaRPr lang="en-US" sz="1200" dirty="0"/>
          </a:p>
          <a:p>
            <a:pPr algn="l" indent="0" marL="0">
              <a:lnSpc>
                <a:spcPts val="1680"/>
              </a:lnSpc>
              <a:buNone/>
            </a:pPr>
            <a:r>
              <a:rPr lang="en-US" sz="1200" dirty="0">
                <a:solidFill>
                  <a:srgbClr val="F4F6F8"/>
                </a:solidFill>
                <a:latin typeface="JetBrains Mono" pitchFamily="49" charset="0"/>
                <a:ea typeface="JetBrains Mono" pitchFamily="49" charset="-122"/>
                <a:cs typeface="JetBrains Mono" pitchFamily="49" charset="-120"/>
              </a:rPr>
              <a:t>-e API_URL=… etabli-web</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261100" y="1925241"/>
          <a:ext cx="5118100" cy="1615281"/>
        </p:xfrm>
        <a:graphic>
          <a:graphicData uri="http://schemas.openxmlformats.org/drawingml/2006/table">
            <a:tbl>
              <a:tblPr/>
              <a:tblGrid>
                <a:gridCol w="2661412"/>
                <a:gridCol w="2456688"/>
              </a:tblGrid>
              <a:tr h="403820">
                <a:tc>
                  <a:txBody>
                    <a:bodyPr/>
                    <a:lstStyle/>
                    <a:p>
                      <a:pPr indent="0" marL="0">
                        <a:lnSpc>
                          <a:spcPts val="1680"/>
                        </a:lnSpc>
                        <a:buNone/>
                      </a:pPr>
                      <a:r>
                        <a:rPr lang="en-US" sz="1200" b="1" dirty="0">
                          <a:solidFill>
                            <a:srgbClr val="F4F6F8"/>
                          </a:solidFill>
                          <a:latin typeface="Inter" pitchFamily="34" charset="0"/>
                          <a:ea typeface="Inter" pitchFamily="34" charset="-122"/>
                          <a:cs typeface="Inter" pitchFamily="34" charset="-120"/>
                        </a:rPr>
                        <a:t>Variable</a:t>
                      </a:r>
                      <a:endParaRPr lang="en-US" sz="1200" dirty="0">
                        <a:latin typeface="Inter" charset="0"/>
                        <a:ea typeface="Inter" charset="0"/>
                        <a:cs typeface="Inter" charset="0"/>
                      </a:endParaRPr>
                    </a:p>
                  </a:txBody>
                  <a:tcPr marL="127000" marR="127000" marT="88900" marB="88900" anchor="t">
                    <a:lnL w="12700" cap="flat" cmpd="sng" algn="ctr">
                      <a:solidFill>
                        <a:srgbClr val="404041"/>
                      </a:solidFill>
                      <a:prstDash val="solid"/>
                      <a:round/>
                      <a:headEnd type="none" w="med" len="med"/>
                      <a:tailEnd type="none" w="med" len="med"/>
                    </a:lnL>
                    <a:lnR w="12700" cap="flat" cmpd="sng" algn="ctr">
                      <a:solidFill>
                        <a:srgbClr val="4D4F52"/>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D4F52"/>
                      </a:solidFill>
                      <a:prstDash val="solid"/>
                      <a:round/>
                      <a:headEnd type="none" w="med" len="med"/>
                      <a:tailEnd type="none" w="med" len="med"/>
                    </a:lnB>
                    <a:solidFill>
                      <a:srgbClr val="1C1F24"/>
                    </a:solidFill>
                  </a:tcPr>
                </a:tc>
                <a:tc>
                  <a:txBody>
                    <a:bodyPr/>
                    <a:lstStyle/>
                    <a:p>
                      <a:pPr indent="0" marL="0">
                        <a:lnSpc>
                          <a:spcPts val="1680"/>
                        </a:lnSpc>
                        <a:buNone/>
                      </a:pPr>
                      <a:r>
                        <a:rPr lang="en-US" sz="1200" b="1" dirty="0">
                          <a:solidFill>
                            <a:srgbClr val="F4F6F8"/>
                          </a:solidFill>
                          <a:latin typeface="Inter" pitchFamily="34" charset="0"/>
                          <a:ea typeface="Inter" pitchFamily="34" charset="-122"/>
                          <a:cs typeface="Inter" pitchFamily="34" charset="-120"/>
                        </a:rPr>
                        <a:t>Moment</a:t>
                      </a:r>
                      <a:endParaRPr lang="en-US" sz="1200" dirty="0">
                        <a:latin typeface="Inter" charset="0"/>
                        <a:ea typeface="Inter" charset="0"/>
                        <a:cs typeface="Inter" charset="0"/>
                      </a:endParaRPr>
                    </a:p>
                  </a:txBody>
                  <a:tcPr marL="127000" marR="127000" marT="88900" marB="88900" anchor="t">
                    <a:lnL w="12700" cap="flat" cmpd="sng" algn="ctr">
                      <a:solidFill>
                        <a:srgbClr val="4D4F52"/>
                      </a:solidFill>
                      <a:prstDash val="solid"/>
                      <a:round/>
                      <a:headEnd type="none" w="med" len="med"/>
                      <a:tailEnd type="none" w="med" len="med"/>
                    </a:lnL>
                    <a:lnR w="12700" cap="flat" cmpd="sng" algn="ctr">
                      <a:solidFill>
                        <a:srgbClr val="4D4F52"/>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D4F52"/>
                      </a:solidFill>
                      <a:prstDash val="solid"/>
                      <a:round/>
                      <a:headEnd type="none" w="med" len="med"/>
                      <a:tailEnd type="none" w="med" len="med"/>
                    </a:lnB>
                    <a:solidFill>
                      <a:srgbClr val="1C1F24"/>
                    </a:solidFill>
                  </a:tcPr>
                </a:tc>
              </a:tr>
              <a:tr h="4038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NEXT_PUBLIC_SITE_URL</a:t>
                      </a:r>
                      <a:endParaRPr lang="en-US" sz="1200" dirty="0">
                        <a:latin typeface="Inter" charset="0"/>
                        <a:ea typeface="Inter" charset="0"/>
                        <a:cs typeface="Inter" charset="0"/>
                      </a:endParaRPr>
                    </a:p>
                  </a:txBody>
                  <a:tcPr marL="127000" marR="127000" marT="88900" marB="889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D4F52"/>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Build, --build-arg</a:t>
                      </a:r>
                      <a:endParaRPr lang="en-US" sz="1200" dirty="0">
                        <a:latin typeface="Inter" charset="0"/>
                        <a:ea typeface="Inter" charset="0"/>
                        <a:cs typeface="Inter" charset="0"/>
                      </a:endParaRPr>
                    </a:p>
                  </a:txBody>
                  <a:tcPr marL="127000" marR="127000" marT="88900" marB="889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D4F52"/>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r h="4038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API_URL</a:t>
                      </a:r>
                      <a:endParaRPr lang="en-US" sz="1200" dirty="0">
                        <a:latin typeface="Inter" charset="0"/>
                        <a:ea typeface="Inter" charset="0"/>
                        <a:cs typeface="Inter" charset="0"/>
                      </a:endParaRPr>
                    </a:p>
                  </a:txBody>
                  <a:tcPr marL="127000" marR="127000" marT="88900" marB="889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Runtime</a:t>
                      </a:r>
                      <a:endParaRPr lang="en-US" sz="1200" dirty="0">
                        <a:latin typeface="Inter" charset="0"/>
                        <a:ea typeface="Inter" charset="0"/>
                        <a:cs typeface="Inter" charset="0"/>
                      </a:endParaRPr>
                    </a:p>
                  </a:txBody>
                  <a:tcPr marL="127000" marR="127000" marT="88900" marB="889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r>
              <a:tr h="4038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COOKIE_SECURE</a:t>
                      </a:r>
                      <a:endParaRPr lang="en-US" sz="1200" dirty="0">
                        <a:latin typeface="Inter" charset="0"/>
                        <a:ea typeface="Inter" charset="0"/>
                        <a:cs typeface="Inter" charset="0"/>
                      </a:endParaRPr>
                    </a:p>
                  </a:txBody>
                  <a:tcPr marL="127000" marR="127000" marT="88900" marB="889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Runtime</a:t>
                      </a:r>
                      <a:endParaRPr lang="en-US" sz="1200" dirty="0">
                        <a:latin typeface="Inter" charset="0"/>
                        <a:ea typeface="Inter" charset="0"/>
                        <a:cs typeface="Inter" charset="0"/>
                      </a:endParaRPr>
                    </a:p>
                  </a:txBody>
                  <a:tcPr marL="127000" marR="127000" marT="88900" marB="889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bl>
          </a:graphicData>
        </a:graphic>
      </p:graphicFrame>
      <p:sp>
        <p:nvSpPr>
          <p:cNvPr id="11" name="Text 8"/>
          <p:cNvSpPr/>
          <p:nvPr/>
        </p:nvSpPr>
        <p:spPr>
          <a:xfrm>
            <a:off x="6248400" y="3692922"/>
            <a:ext cx="528472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3C8CF"/>
                </a:solidFill>
                <a:latin typeface="Inter" pitchFamily="34" charset="0"/>
                <a:ea typeface="Inter" pitchFamily="34" charset="-122"/>
                <a:cs typeface="Inter" pitchFamily="34" charset="-120"/>
              </a:rPr>
              <a:t>Aucun secret en build arg. Le .dockerignore exclut node_modules, .git, .next, dist et tous les .env* : rien de secret n'entre dans l'image.</a:t>
            </a:r>
            <a:endParaRPr lang="en-US" sz="1200" dirty="0"/>
          </a:p>
        </p:txBody>
      </p:sp>
      <p:sp>
        <p:nvSpPr>
          <p:cNvPr id="12" name="Text 9"/>
          <p:cNvSpPr/>
          <p:nvPr/>
        </p:nvSpPr>
        <p:spPr>
          <a:xfrm>
            <a:off x="6248400" y="4287242"/>
            <a:ext cx="528472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3C8CF"/>
                </a:solidFill>
                <a:latin typeface="Inter" pitchFamily="34" charset="0"/>
                <a:ea typeface="Inter" pitchFamily="34" charset="-122"/>
                <a:cs typeface="Inter" pitchFamily="34" charset="-120"/>
              </a:rPr>
              <a:t>Web sur 3000, API sur 3001 ; la base n'est publiée sur aucun port de l'hôte.</a:t>
            </a:r>
            <a:endParaRPr lang="en-US" sz="1200" dirty="0"/>
          </a:p>
        </p:txBody>
      </p:sp>
      <p:sp>
        <p:nvSpPr>
          <p:cNvPr id="13" name="Text 10"/>
          <p:cNvSpPr/>
          <p:nvPr/>
        </p:nvSpPr>
        <p:spPr>
          <a:xfrm>
            <a:off x="812800" y="6238280"/>
            <a:ext cx="296674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NOTE DOCKER /20</a:t>
            </a:r>
            <a:endParaRPr lang="en-US" sz="1200" dirty="0"/>
          </a:p>
        </p:txBody>
      </p:sp>
      <p:sp>
        <p:nvSpPr>
          <p:cNvPr id="14" name="Text 11"/>
          <p:cNvSpPr/>
          <p:nvPr/>
        </p:nvSpPr>
        <p:spPr>
          <a:xfrm>
            <a:off x="11180167" y="6238280"/>
            <a:ext cx="19903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04 · DOCKERISATION NEXT.JS — DOCKER SCOUT</a:t>
            </a:r>
            <a:endParaRPr lang="en-US" sz="1200" dirty="0"/>
          </a:p>
        </p:txBody>
      </p:sp>
      <p:sp>
        <p:nvSpPr>
          <p:cNvPr id="3" name="Text 1"/>
          <p:cNvSpPr/>
          <p:nvPr>
            <p:ph type="title"/>
          </p:nvPr>
        </p:nvSpPr>
        <p:spPr>
          <a:xfrm>
            <a:off x="812800" y="11277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SCAN RÉEL, ANALYSE, CORRECTION, RESCAN</a:t>
            </a:r>
            <a:endParaRPr lang="en-US" sz="3600" dirty="0"/>
          </a:p>
        </p:txBody>
      </p:sp>
      <p:sp>
        <p:nvSpPr>
          <p:cNvPr id="4" name="Shape 2"/>
          <p:cNvSpPr/>
          <p:nvPr/>
        </p:nvSpPr>
        <p:spPr>
          <a:xfrm>
            <a:off x="815975" y="1864916"/>
            <a:ext cx="4902200" cy="1123900"/>
          </a:xfrm>
          <a:prstGeom prst="rect">
            <a:avLst/>
          </a:prstGeom>
          <a:noFill/>
          <a:ln w="6350">
            <a:solidFill>
              <a:srgbClr val="5C636C"/>
            </a:solidFill>
            <a:prstDash val="solid"/>
          </a:ln>
        </p:spPr>
      </p:sp>
      <p:sp>
        <p:nvSpPr>
          <p:cNvPr id="5" name="Text 3"/>
          <p:cNvSpPr/>
          <p:nvPr/>
        </p:nvSpPr>
        <p:spPr>
          <a:xfrm>
            <a:off x="1047750" y="2045891"/>
            <a:ext cx="457181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9AA1AB"/>
                </a:solidFill>
                <a:latin typeface="Inter" pitchFamily="34" charset="0"/>
                <a:ea typeface="Inter" pitchFamily="34" charset="-122"/>
                <a:cs typeface="Inter" pitchFamily="34" charset="-120"/>
              </a:rPr>
              <a:t>AVANT · ETABLI-WEB SUR BOOKWORM-SLIM</a:t>
            </a:r>
            <a:endParaRPr lang="en-US" sz="1200" dirty="0"/>
          </a:p>
        </p:txBody>
      </p:sp>
      <p:sp>
        <p:nvSpPr>
          <p:cNvPr id="6" name="Text 4"/>
          <p:cNvSpPr/>
          <p:nvPr/>
        </p:nvSpPr>
        <p:spPr>
          <a:xfrm>
            <a:off x="1047750" y="2310011"/>
            <a:ext cx="457181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4F6F8"/>
                </a:solidFill>
                <a:latin typeface="Barlow Condensed" pitchFamily="34" charset="0"/>
                <a:ea typeface="Barlow Condensed" pitchFamily="34" charset="-122"/>
                <a:cs typeface="Barlow Condensed" pitchFamily="34" charset="-120"/>
              </a:rPr>
              <a:t>3 C · 20 H · 18 M · 33 B</a:t>
            </a:r>
            <a:endParaRPr lang="en-US" sz="2800" dirty="0"/>
          </a:p>
        </p:txBody>
      </p:sp>
      <p:pic>
        <p:nvPicPr>
          <p:cNvPr id="7" name="Image 0" descr="arrow-right">    </p:cNvPr>
          <p:cNvPicPr>
            <a:picLocks noChangeAspect="1"/>
          </p:cNvPicPr>
          <p:nvPr/>
        </p:nvPicPr>
        <p:blipFill>
          <a:blip r:embed="rId1"/>
          <a:srcRect l="0" r="0" t="0" b="0"/>
          <a:stretch/>
        </p:blipFill>
        <p:spPr>
          <a:xfrm>
            <a:off x="5873750" y="2312541"/>
            <a:ext cx="457200" cy="228600"/>
          </a:xfrm>
          <a:prstGeom prst="rect">
            <a:avLst/>
          </a:prstGeom>
        </p:spPr>
      </p:pic>
      <p:sp>
        <p:nvSpPr>
          <p:cNvPr id="8" name="Shape 5"/>
          <p:cNvSpPr/>
          <p:nvPr/>
        </p:nvSpPr>
        <p:spPr>
          <a:xfrm>
            <a:off x="6483350" y="1868091"/>
            <a:ext cx="4895850" cy="1117550"/>
          </a:xfrm>
          <a:prstGeom prst="rect">
            <a:avLst/>
          </a:prstGeom>
          <a:solidFill>
            <a:srgbClr val="FF6A00"/>
          </a:solidFill>
          <a:ln/>
        </p:spPr>
      </p:sp>
      <p:sp>
        <p:nvSpPr>
          <p:cNvPr id="9" name="Text 6"/>
          <p:cNvSpPr/>
          <p:nvPr/>
        </p:nvSpPr>
        <p:spPr>
          <a:xfrm>
            <a:off x="6711950" y="2045891"/>
            <a:ext cx="457181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0C0E"/>
                </a:solidFill>
                <a:latin typeface="Inter" pitchFamily="34" charset="0"/>
                <a:ea typeface="Inter" pitchFamily="34" charset="-122"/>
                <a:cs typeface="Inter" pitchFamily="34" charset="-120"/>
              </a:rPr>
              <a:t>APRÈS · ETABLI-WEB SUR ALPINE</a:t>
            </a:r>
            <a:endParaRPr lang="en-US" sz="1200" dirty="0"/>
          </a:p>
        </p:txBody>
      </p:sp>
      <p:sp>
        <p:nvSpPr>
          <p:cNvPr id="10" name="Text 7"/>
          <p:cNvSpPr/>
          <p:nvPr/>
        </p:nvSpPr>
        <p:spPr>
          <a:xfrm>
            <a:off x="6711950" y="2310011"/>
            <a:ext cx="457181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0B0C0E"/>
                </a:solidFill>
                <a:latin typeface="Barlow Condensed" pitchFamily="34" charset="0"/>
                <a:ea typeface="Barlow Condensed" pitchFamily="34" charset="-122"/>
                <a:cs typeface="Barlow Condensed" pitchFamily="34" charset="-120"/>
              </a:rPr>
              <a:t>0 · 0 · 0 · 0</a:t>
            </a:r>
            <a:endParaRPr lang="en-US" sz="2800" dirty="0"/>
          </a:p>
        </p:txBody>
      </p:sp>
      <p:sp>
        <p:nvSpPr>
          <p:cNvPr id="11" name="Shape 8"/>
          <p:cNvSpPr/>
          <p:nvPr/>
        </p:nvSpPr>
        <p:spPr>
          <a:xfrm>
            <a:off x="812800" y="3245991"/>
            <a:ext cx="2565400" cy="1186111"/>
          </a:xfrm>
          <a:prstGeom prst="rect">
            <a:avLst/>
          </a:prstGeom>
          <a:solidFill>
            <a:srgbClr val="131518"/>
          </a:solidFill>
          <a:ln/>
        </p:spPr>
      </p:sp>
      <p:sp>
        <p:nvSpPr>
          <p:cNvPr id="12" name="Text 9"/>
          <p:cNvSpPr/>
          <p:nvPr/>
        </p:nvSpPr>
        <p:spPr>
          <a:xfrm>
            <a:off x="965200" y="3398391"/>
            <a:ext cx="232841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6A00"/>
                </a:solidFill>
                <a:latin typeface="Inter" pitchFamily="34" charset="0"/>
                <a:ea typeface="Inter" pitchFamily="34" charset="-122"/>
                <a:cs typeface="Inter" pitchFamily="34" charset="-120"/>
              </a:rPr>
              <a:t>Accepté</a:t>
            </a:r>
            <a:endParaRPr lang="en-US" sz="1200" dirty="0"/>
          </a:p>
        </p:txBody>
      </p:sp>
      <p:sp>
        <p:nvSpPr>
          <p:cNvPr id="13" name="Text 10"/>
          <p:cNvSpPr/>
          <p:nvPr/>
        </p:nvSpPr>
        <p:spPr>
          <a:xfrm>
            <a:off x="965200" y="3662511"/>
            <a:ext cx="2328418"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3C8CF"/>
                </a:solidFill>
                <a:latin typeface="Inter" pitchFamily="34" charset="0"/>
                <a:ea typeface="Inter" pitchFamily="34" charset="-122"/>
                <a:cs typeface="Inter" pitchFamily="34" charset="-120"/>
              </a:rPr>
              <a:t>next 16.3.5 → 16.3.8 : une critique, GHSA-vcvr-r3jv-pc5j</a:t>
            </a:r>
            <a:endParaRPr lang="en-US" sz="1200" dirty="0"/>
          </a:p>
        </p:txBody>
      </p:sp>
      <p:sp>
        <p:nvSpPr>
          <p:cNvPr id="14" name="Shape 11"/>
          <p:cNvSpPr/>
          <p:nvPr/>
        </p:nvSpPr>
        <p:spPr>
          <a:xfrm>
            <a:off x="3479800" y="3245991"/>
            <a:ext cx="2565400" cy="1186111"/>
          </a:xfrm>
          <a:prstGeom prst="rect">
            <a:avLst/>
          </a:prstGeom>
          <a:solidFill>
            <a:srgbClr val="131518"/>
          </a:solidFill>
          <a:ln/>
        </p:spPr>
      </p:sp>
      <p:sp>
        <p:nvSpPr>
          <p:cNvPr id="15" name="Text 12"/>
          <p:cNvSpPr/>
          <p:nvPr/>
        </p:nvSpPr>
        <p:spPr>
          <a:xfrm>
            <a:off x="3632200" y="3398391"/>
            <a:ext cx="232841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6A00"/>
                </a:solidFill>
                <a:latin typeface="Inter" pitchFamily="34" charset="0"/>
                <a:ea typeface="Inter" pitchFamily="34" charset="-122"/>
                <a:cs typeface="Inter" pitchFamily="34" charset="-120"/>
              </a:rPr>
              <a:t>Accepté</a:t>
            </a:r>
            <a:endParaRPr lang="en-US" sz="1200" dirty="0"/>
          </a:p>
        </p:txBody>
      </p:sp>
      <p:sp>
        <p:nvSpPr>
          <p:cNvPr id="16" name="Text 13"/>
          <p:cNvSpPr/>
          <p:nvPr/>
        </p:nvSpPr>
        <p:spPr>
          <a:xfrm>
            <a:off x="3632200" y="3662511"/>
            <a:ext cx="2328418"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3C8CF"/>
                </a:solidFill>
                <a:latin typeface="Inter" pitchFamily="34" charset="0"/>
                <a:ea typeface="Inter" pitchFamily="34" charset="-122"/>
                <a:cs typeface="Inter" pitchFamily="34" charset="-120"/>
              </a:rPr>
              <a:t>node:24-alpine : CVE Debian éliminées, 406 → 297 Mo</a:t>
            </a:r>
            <a:endParaRPr lang="en-US" sz="1200" dirty="0"/>
          </a:p>
        </p:txBody>
      </p:sp>
      <p:sp>
        <p:nvSpPr>
          <p:cNvPr id="17" name="Shape 14"/>
          <p:cNvSpPr/>
          <p:nvPr/>
        </p:nvSpPr>
        <p:spPr>
          <a:xfrm>
            <a:off x="6146800" y="3245991"/>
            <a:ext cx="2565400" cy="1186111"/>
          </a:xfrm>
          <a:prstGeom prst="rect">
            <a:avLst/>
          </a:prstGeom>
          <a:solidFill>
            <a:srgbClr val="131518"/>
          </a:solidFill>
          <a:ln/>
        </p:spPr>
      </p:sp>
      <p:sp>
        <p:nvSpPr>
          <p:cNvPr id="18" name="Text 15"/>
          <p:cNvSpPr/>
          <p:nvPr/>
        </p:nvSpPr>
        <p:spPr>
          <a:xfrm>
            <a:off x="6299200" y="3398391"/>
            <a:ext cx="232841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6A00"/>
                </a:solidFill>
                <a:latin typeface="Inter" pitchFamily="34" charset="0"/>
                <a:ea typeface="Inter" pitchFamily="34" charset="-122"/>
                <a:cs typeface="Inter" pitchFamily="34" charset="-120"/>
              </a:rPr>
              <a:t>Accepté</a:t>
            </a:r>
            <a:endParaRPr lang="en-US" sz="1200" dirty="0"/>
          </a:p>
        </p:txBody>
      </p:sp>
      <p:sp>
        <p:nvSpPr>
          <p:cNvPr id="19" name="Text 16"/>
          <p:cNvSpPr/>
          <p:nvPr/>
        </p:nvSpPr>
        <p:spPr>
          <a:xfrm>
            <a:off x="6299200" y="3662511"/>
            <a:ext cx="2328418"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3C8CF"/>
                </a:solidFill>
                <a:latin typeface="Inter" pitchFamily="34" charset="0"/>
                <a:ea typeface="Inter" pitchFamily="34" charset="-122"/>
                <a:cs typeface="Inter" pitchFamily="34" charset="-120"/>
              </a:rPr>
              <a:t>npm, corepack, yarn retirés : les 8 hautes restantes y vivaient</a:t>
            </a:r>
            <a:endParaRPr lang="en-US" sz="1200" dirty="0"/>
          </a:p>
        </p:txBody>
      </p:sp>
      <p:sp>
        <p:nvSpPr>
          <p:cNvPr id="20" name="Shape 17"/>
          <p:cNvSpPr/>
          <p:nvPr/>
        </p:nvSpPr>
        <p:spPr>
          <a:xfrm>
            <a:off x="8816975" y="3249166"/>
            <a:ext cx="2559050" cy="1179761"/>
          </a:xfrm>
          <a:prstGeom prst="rect">
            <a:avLst/>
          </a:prstGeom>
          <a:noFill/>
          <a:ln w="6350">
            <a:solidFill>
              <a:srgbClr val="5C636C"/>
            </a:solidFill>
            <a:prstDash val="dash"/>
          </a:ln>
        </p:spPr>
      </p:sp>
      <p:sp>
        <p:nvSpPr>
          <p:cNvPr id="21" name="Text 18"/>
          <p:cNvSpPr/>
          <p:nvPr/>
        </p:nvSpPr>
        <p:spPr>
          <a:xfrm>
            <a:off x="8972550" y="3404741"/>
            <a:ext cx="23153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6F8"/>
                </a:solidFill>
                <a:latin typeface="Inter" pitchFamily="34" charset="0"/>
                <a:ea typeface="Inter" pitchFamily="34" charset="-122"/>
                <a:cs typeface="Inter" pitchFamily="34" charset="-120"/>
              </a:rPr>
              <a:t>Refusé</a:t>
            </a:r>
            <a:endParaRPr lang="en-US" sz="1200" dirty="0"/>
          </a:p>
        </p:txBody>
      </p:sp>
      <p:sp>
        <p:nvSpPr>
          <p:cNvPr id="22" name="Text 19"/>
          <p:cNvSpPr/>
          <p:nvPr/>
        </p:nvSpPr>
        <p:spPr>
          <a:xfrm>
            <a:off x="8972550" y="3668861"/>
            <a:ext cx="2315337"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3C8CF"/>
                </a:solidFill>
                <a:latin typeface="Inter" pitchFamily="34" charset="0"/>
                <a:ea typeface="Inter" pitchFamily="34" charset="-122"/>
                <a:cs typeface="Inter" pitchFamily="34" charset="-120"/>
              </a:rPr>
              <a:t>Distroless : gain nul, et plus de shell pour migrer puis semer</a:t>
            </a:r>
            <a:endParaRPr lang="en-US" sz="1200" dirty="0"/>
          </a:p>
        </p:txBody>
      </p:sp>
      <p:sp>
        <p:nvSpPr>
          <p:cNvPr id="23" name="Text 20"/>
          <p:cNvSpPr/>
          <p:nvPr/>
        </p:nvSpPr>
        <p:spPr>
          <a:xfrm>
            <a:off x="812800" y="468610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JetBrains Mono" pitchFamily="49" charset="0"/>
                <a:ea typeface="JetBrains Mono" pitchFamily="49" charset="-122"/>
                <a:cs typeface="JetBrains Mono" pitchFamily="49" charset="-120"/>
              </a:rPr>
              <a:t>docker scout quickview etabli-web · docker scout cves etabli-web</a:t>
            </a:r>
            <a:endParaRPr lang="en-US" sz="1200" dirty="0"/>
          </a:p>
        </p:txBody>
      </p:sp>
      <p:sp>
        <p:nvSpPr>
          <p:cNvPr id="24" name="Text 21"/>
          <p:cNvSpPr/>
          <p:nvPr/>
        </p:nvSpPr>
        <p:spPr>
          <a:xfrm>
            <a:off x="812800" y="6238280"/>
            <a:ext cx="296674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NOTE DOCKER /20</a:t>
            </a:r>
            <a:endParaRPr lang="en-US" sz="1200" dirty="0"/>
          </a:p>
        </p:txBody>
      </p:sp>
      <p:sp>
        <p:nvSpPr>
          <p:cNvPr id="25" name="Text 22"/>
          <p:cNvSpPr/>
          <p:nvPr/>
        </p:nvSpPr>
        <p:spPr>
          <a:xfrm>
            <a:off x="11172130" y="6238280"/>
            <a:ext cx="20707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04 · DOCKERISATION NEXT.JS — QUESTIONS</a:t>
            </a:r>
            <a:endParaRPr lang="en-US" sz="1200" dirty="0"/>
          </a:p>
        </p:txBody>
      </p:sp>
      <p:sp>
        <p:nvSpPr>
          <p:cNvPr id="3" name="Text 1"/>
          <p:cNvSpPr/>
          <p:nvPr>
            <p:ph type="title"/>
          </p:nvPr>
        </p:nvSpPr>
        <p:spPr>
          <a:xfrm>
            <a:off x="812800" y="11277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LES QUESTIONS DOCKER, RÉPONSES PRÊTES</a:t>
            </a:r>
            <a:endParaRPr lang="en-US" sz="3600" dirty="0"/>
          </a:p>
        </p:txBody>
      </p:sp>
      <p:sp>
        <p:nvSpPr>
          <p:cNvPr id="4" name="Shape 2"/>
          <p:cNvSpPr/>
          <p:nvPr/>
        </p:nvSpPr>
        <p:spPr>
          <a:xfrm>
            <a:off x="812800" y="1864916"/>
            <a:ext cx="5283200" cy="0"/>
          </a:xfrm>
          <a:prstGeom prst="line">
            <a:avLst/>
          </a:prstGeom>
          <a:noFill/>
          <a:ln w="6350">
            <a:solidFill>
              <a:srgbClr val="2A2E35"/>
            </a:solidFill>
            <a:prstDash val="solid"/>
          </a:ln>
        </p:spPr>
      </p:sp>
      <p:sp>
        <p:nvSpPr>
          <p:cNvPr id="5" name="Text 3"/>
          <p:cNvSpPr/>
          <p:nvPr/>
        </p:nvSpPr>
        <p:spPr>
          <a:xfrm>
            <a:off x="812800" y="1944291"/>
            <a:ext cx="54416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6F8"/>
                </a:solidFill>
                <a:latin typeface="Inter" pitchFamily="34" charset="0"/>
                <a:ea typeface="Inter" pitchFamily="34" charset="-122"/>
                <a:cs typeface="Inter" pitchFamily="34" charset="-120"/>
              </a:rPr>
              <a:t>Pourquoi node:24-alpine ?</a:t>
            </a:r>
            <a:endParaRPr lang="en-US" sz="1200" dirty="0"/>
          </a:p>
        </p:txBody>
      </p:sp>
      <p:sp>
        <p:nvSpPr>
          <p:cNvPr id="6" name="Text 4"/>
          <p:cNvSpPr/>
          <p:nvPr/>
        </p:nvSpPr>
        <p:spPr>
          <a:xfrm>
            <a:off x="812800" y="2183011"/>
            <a:ext cx="5441696"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3C8CF"/>
                </a:solidFill>
                <a:latin typeface="Inter" pitchFamily="34" charset="0"/>
                <a:ea typeface="Inter" pitchFamily="34" charset="-122"/>
                <a:cs typeface="Inter" pitchFamily="34" charset="-120"/>
              </a:rPr>
              <a:t>Node 24 comme le .nvmrc ; base minimale, sans les CVE Debian.</a:t>
            </a:r>
            <a:endParaRPr lang="en-US" sz="1200" dirty="0"/>
          </a:p>
        </p:txBody>
      </p:sp>
      <p:sp>
        <p:nvSpPr>
          <p:cNvPr id="7" name="Shape 5"/>
          <p:cNvSpPr/>
          <p:nvPr/>
        </p:nvSpPr>
        <p:spPr>
          <a:xfrm>
            <a:off x="6096000" y="1864916"/>
            <a:ext cx="5283200" cy="0"/>
          </a:xfrm>
          <a:prstGeom prst="line">
            <a:avLst/>
          </a:prstGeom>
          <a:noFill/>
          <a:ln w="6350">
            <a:solidFill>
              <a:srgbClr val="2A2E35"/>
            </a:solidFill>
            <a:prstDash val="solid"/>
          </a:ln>
        </p:spPr>
      </p:sp>
      <p:sp>
        <p:nvSpPr>
          <p:cNvPr id="8" name="Text 6"/>
          <p:cNvSpPr/>
          <p:nvPr/>
        </p:nvSpPr>
        <p:spPr>
          <a:xfrm>
            <a:off x="6096000" y="1944291"/>
            <a:ext cx="54416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6F8"/>
                </a:solidFill>
                <a:latin typeface="Inter" pitchFamily="34" charset="0"/>
                <a:ea typeface="Inter" pitchFamily="34" charset="-122"/>
                <a:cs typeface="Inter" pitchFamily="34" charset="-120"/>
              </a:rPr>
              <a:t>Que fait WORKDIR ?</a:t>
            </a:r>
            <a:endParaRPr lang="en-US" sz="1200" dirty="0"/>
          </a:p>
        </p:txBody>
      </p:sp>
      <p:sp>
        <p:nvSpPr>
          <p:cNvPr id="9" name="Text 7"/>
          <p:cNvSpPr/>
          <p:nvPr/>
        </p:nvSpPr>
        <p:spPr>
          <a:xfrm>
            <a:off x="6096000" y="2183011"/>
            <a:ext cx="5441696"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3C8CF"/>
                </a:solidFill>
                <a:latin typeface="Inter" pitchFamily="34" charset="0"/>
                <a:ea typeface="Inter" pitchFamily="34" charset="-122"/>
                <a:cs typeface="Inter" pitchFamily="34" charset="-120"/>
              </a:rPr>
              <a:t>Fixe /app pour les instructions suivantes et le conteneur.</a:t>
            </a:r>
            <a:endParaRPr lang="en-US" sz="1200" dirty="0"/>
          </a:p>
        </p:txBody>
      </p:sp>
      <p:sp>
        <p:nvSpPr>
          <p:cNvPr id="10" name="Shape 8"/>
          <p:cNvSpPr/>
          <p:nvPr/>
        </p:nvSpPr>
        <p:spPr>
          <a:xfrm>
            <a:off x="812800" y="2391916"/>
            <a:ext cx="5283200" cy="0"/>
          </a:xfrm>
          <a:prstGeom prst="line">
            <a:avLst/>
          </a:prstGeom>
          <a:noFill/>
          <a:ln w="6350">
            <a:solidFill>
              <a:srgbClr val="2A2E35"/>
            </a:solidFill>
            <a:prstDash val="solid"/>
          </a:ln>
        </p:spPr>
      </p:sp>
      <p:sp>
        <p:nvSpPr>
          <p:cNvPr id="11" name="Text 9"/>
          <p:cNvSpPr/>
          <p:nvPr/>
        </p:nvSpPr>
        <p:spPr>
          <a:xfrm>
            <a:off x="812800" y="2471291"/>
            <a:ext cx="54416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6F8"/>
                </a:solidFill>
                <a:latin typeface="Inter" pitchFamily="34" charset="0"/>
                <a:ea typeface="Inter" pitchFamily="34" charset="-122"/>
                <a:cs typeface="Inter" pitchFamily="34" charset="-120"/>
              </a:rPr>
              <a:t>Les manifests avant COPY . . ?</a:t>
            </a:r>
            <a:endParaRPr lang="en-US" sz="1200" dirty="0"/>
          </a:p>
        </p:txBody>
      </p:sp>
      <p:sp>
        <p:nvSpPr>
          <p:cNvPr id="12" name="Text 10"/>
          <p:cNvSpPr/>
          <p:nvPr/>
        </p:nvSpPr>
        <p:spPr>
          <a:xfrm>
            <a:off x="812800" y="2710011"/>
            <a:ext cx="5441696"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3C8CF"/>
                </a:solidFill>
                <a:latin typeface="Inter" pitchFamily="34" charset="0"/>
                <a:ea typeface="Inter" pitchFamily="34" charset="-122"/>
                <a:cs typeface="Inter" pitchFamily="34" charset="-120"/>
              </a:rPr>
              <a:t>L'install reste en cache tant que les dépendances ne changent pas.</a:t>
            </a:r>
            <a:endParaRPr lang="en-US" sz="1200" dirty="0"/>
          </a:p>
        </p:txBody>
      </p:sp>
      <p:sp>
        <p:nvSpPr>
          <p:cNvPr id="13" name="Shape 11"/>
          <p:cNvSpPr/>
          <p:nvPr/>
        </p:nvSpPr>
        <p:spPr>
          <a:xfrm>
            <a:off x="6096000" y="2391916"/>
            <a:ext cx="5283200" cy="0"/>
          </a:xfrm>
          <a:prstGeom prst="line">
            <a:avLst/>
          </a:prstGeom>
          <a:noFill/>
          <a:ln w="6350">
            <a:solidFill>
              <a:srgbClr val="2A2E35"/>
            </a:solidFill>
            <a:prstDash val="solid"/>
          </a:ln>
        </p:spPr>
      </p:sp>
      <p:sp>
        <p:nvSpPr>
          <p:cNvPr id="14" name="Text 12"/>
          <p:cNvSpPr/>
          <p:nvPr/>
        </p:nvSpPr>
        <p:spPr>
          <a:xfrm>
            <a:off x="6096000" y="2471291"/>
            <a:ext cx="54416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6F8"/>
                </a:solidFill>
                <a:latin typeface="Inter" pitchFamily="34" charset="0"/>
                <a:ea typeface="Inter" pitchFamily="34" charset="-122"/>
                <a:cs typeface="Inter" pitchFamily="34" charset="-120"/>
              </a:rPr>
              <a:t>Pourquoi .dockerignore ?</a:t>
            </a:r>
            <a:endParaRPr lang="en-US" sz="1200" dirty="0"/>
          </a:p>
        </p:txBody>
      </p:sp>
      <p:sp>
        <p:nvSpPr>
          <p:cNvPr id="15" name="Text 13"/>
          <p:cNvSpPr/>
          <p:nvPr/>
        </p:nvSpPr>
        <p:spPr>
          <a:xfrm>
            <a:off x="6096000" y="2710011"/>
            <a:ext cx="5441696"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3C8CF"/>
                </a:solidFill>
                <a:latin typeface="Inter" pitchFamily="34" charset="0"/>
                <a:ea typeface="Inter" pitchFamily="34" charset="-122"/>
                <a:cs typeface="Inter" pitchFamily="34" charset="-120"/>
              </a:rPr>
              <a:t>Contexte léger, et aucun .env ni node_modules envoyé au daemon.</a:t>
            </a:r>
            <a:endParaRPr lang="en-US" sz="1200" dirty="0"/>
          </a:p>
        </p:txBody>
      </p:sp>
      <p:sp>
        <p:nvSpPr>
          <p:cNvPr id="16" name="Shape 14"/>
          <p:cNvSpPr/>
          <p:nvPr/>
        </p:nvSpPr>
        <p:spPr>
          <a:xfrm>
            <a:off x="812800" y="2918916"/>
            <a:ext cx="5283200" cy="0"/>
          </a:xfrm>
          <a:prstGeom prst="line">
            <a:avLst/>
          </a:prstGeom>
          <a:noFill/>
          <a:ln w="6350">
            <a:solidFill>
              <a:srgbClr val="2A2E35"/>
            </a:solidFill>
            <a:prstDash val="solid"/>
          </a:ln>
        </p:spPr>
      </p:sp>
      <p:sp>
        <p:nvSpPr>
          <p:cNvPr id="17" name="Text 15"/>
          <p:cNvSpPr/>
          <p:nvPr/>
        </p:nvSpPr>
        <p:spPr>
          <a:xfrm>
            <a:off x="812800" y="2998291"/>
            <a:ext cx="54416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6F8"/>
                </a:solidFill>
                <a:latin typeface="Inter" pitchFamily="34" charset="0"/>
                <a:ea typeface="Inter" pitchFamily="34" charset="-122"/>
                <a:cs typeface="Inter" pitchFamily="34" charset="-120"/>
              </a:rPr>
              <a:t>Où sont injectées les variables ?</a:t>
            </a:r>
            <a:endParaRPr lang="en-US" sz="1200" dirty="0"/>
          </a:p>
        </p:txBody>
      </p:sp>
      <p:sp>
        <p:nvSpPr>
          <p:cNvPr id="18" name="Text 16"/>
          <p:cNvSpPr/>
          <p:nvPr/>
        </p:nvSpPr>
        <p:spPr>
          <a:xfrm>
            <a:off x="812800" y="3237012"/>
            <a:ext cx="5441696"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3C8CF"/>
                </a:solidFill>
                <a:latin typeface="Inter" pitchFamily="34" charset="0"/>
                <a:ea typeface="Inter" pitchFamily="34" charset="-122"/>
                <a:cs typeface="Inter" pitchFamily="34" charset="-120"/>
              </a:rPr>
              <a:t>Au runtime, par -e ou le compose ; seule l'URL du site est un build arg.</a:t>
            </a:r>
            <a:endParaRPr lang="en-US" sz="1200" dirty="0"/>
          </a:p>
        </p:txBody>
      </p:sp>
      <p:sp>
        <p:nvSpPr>
          <p:cNvPr id="19" name="Shape 17"/>
          <p:cNvSpPr/>
          <p:nvPr/>
        </p:nvSpPr>
        <p:spPr>
          <a:xfrm>
            <a:off x="6096000" y="2918916"/>
            <a:ext cx="5283200" cy="0"/>
          </a:xfrm>
          <a:prstGeom prst="line">
            <a:avLst/>
          </a:prstGeom>
          <a:noFill/>
          <a:ln w="6350">
            <a:solidFill>
              <a:srgbClr val="2A2E35"/>
            </a:solidFill>
            <a:prstDash val="solid"/>
          </a:ln>
        </p:spPr>
      </p:sp>
      <p:sp>
        <p:nvSpPr>
          <p:cNvPr id="20" name="Text 18"/>
          <p:cNvSpPr/>
          <p:nvPr/>
        </p:nvSpPr>
        <p:spPr>
          <a:xfrm>
            <a:off x="6096000" y="2998291"/>
            <a:ext cx="54416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6F8"/>
                </a:solidFill>
                <a:latin typeface="Inter" pitchFamily="34" charset="0"/>
                <a:ea typeface="Inter" pitchFamily="34" charset="-122"/>
                <a:cs typeface="Inter" pitchFamily="34" charset="-120"/>
              </a:rPr>
              <a:t>Pourquoi ne pas copier .env ?</a:t>
            </a:r>
            <a:endParaRPr lang="en-US" sz="1200" dirty="0"/>
          </a:p>
        </p:txBody>
      </p:sp>
      <p:sp>
        <p:nvSpPr>
          <p:cNvPr id="21" name="Text 19"/>
          <p:cNvSpPr/>
          <p:nvPr/>
        </p:nvSpPr>
        <p:spPr>
          <a:xfrm>
            <a:off x="6096000" y="3237012"/>
            <a:ext cx="5441696"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3C8CF"/>
                </a:solidFill>
                <a:latin typeface="Inter" pitchFamily="34" charset="0"/>
                <a:ea typeface="Inter" pitchFamily="34" charset="-122"/>
                <a:cs typeface="Inter" pitchFamily="34" charset="-120"/>
              </a:rPr>
              <a:t>Un secret copié reste lisible dans un layer de l'image.</a:t>
            </a:r>
            <a:endParaRPr lang="en-US" sz="1200" dirty="0"/>
          </a:p>
        </p:txBody>
      </p:sp>
      <p:sp>
        <p:nvSpPr>
          <p:cNvPr id="22" name="Shape 20"/>
          <p:cNvSpPr/>
          <p:nvPr/>
        </p:nvSpPr>
        <p:spPr>
          <a:xfrm>
            <a:off x="812800" y="3445917"/>
            <a:ext cx="5283200" cy="0"/>
          </a:xfrm>
          <a:prstGeom prst="line">
            <a:avLst/>
          </a:prstGeom>
          <a:noFill/>
          <a:ln w="6350">
            <a:solidFill>
              <a:srgbClr val="2A2E35"/>
            </a:solidFill>
            <a:prstDash val="solid"/>
          </a:ln>
        </p:spPr>
      </p:sp>
      <p:sp>
        <p:nvSpPr>
          <p:cNvPr id="23" name="Text 21"/>
          <p:cNvSpPr/>
          <p:nvPr/>
        </p:nvSpPr>
        <p:spPr>
          <a:xfrm>
            <a:off x="812800" y="3525292"/>
            <a:ext cx="54416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6F8"/>
                </a:solidFill>
                <a:latin typeface="Inter" pitchFamily="34" charset="0"/>
                <a:ea typeface="Inter" pitchFamily="34" charset="-122"/>
                <a:cs typeface="Inter" pitchFamily="34" charset="-120"/>
              </a:rPr>
              <a:t>EXPOSE ou ports ?</a:t>
            </a:r>
            <a:endParaRPr lang="en-US" sz="1200" dirty="0"/>
          </a:p>
        </p:txBody>
      </p:sp>
      <p:sp>
        <p:nvSpPr>
          <p:cNvPr id="24" name="Text 22"/>
          <p:cNvSpPr/>
          <p:nvPr/>
        </p:nvSpPr>
        <p:spPr>
          <a:xfrm>
            <a:off x="812800" y="3764012"/>
            <a:ext cx="5441696"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3C8CF"/>
                </a:solidFill>
                <a:latin typeface="Inter" pitchFamily="34" charset="0"/>
                <a:ea typeface="Inter" pitchFamily="34" charset="-122"/>
                <a:cs typeface="Inter" pitchFamily="34" charset="-120"/>
              </a:rPr>
              <a:t>EXPOSE documente le port ; ports le publie sur l'hôte, 3000:3000.</a:t>
            </a:r>
            <a:endParaRPr lang="en-US" sz="1200" dirty="0"/>
          </a:p>
        </p:txBody>
      </p:sp>
      <p:sp>
        <p:nvSpPr>
          <p:cNvPr id="25" name="Shape 23"/>
          <p:cNvSpPr/>
          <p:nvPr/>
        </p:nvSpPr>
        <p:spPr>
          <a:xfrm>
            <a:off x="6096000" y="3445917"/>
            <a:ext cx="5283200" cy="0"/>
          </a:xfrm>
          <a:prstGeom prst="line">
            <a:avLst/>
          </a:prstGeom>
          <a:noFill/>
          <a:ln w="6350">
            <a:solidFill>
              <a:srgbClr val="2A2E35"/>
            </a:solidFill>
            <a:prstDash val="solid"/>
          </a:ln>
        </p:spPr>
      </p:sp>
      <p:sp>
        <p:nvSpPr>
          <p:cNvPr id="26" name="Text 24"/>
          <p:cNvSpPr/>
          <p:nvPr/>
        </p:nvSpPr>
        <p:spPr>
          <a:xfrm>
            <a:off x="6096000" y="3525292"/>
            <a:ext cx="54416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6F8"/>
                </a:solidFill>
                <a:latin typeface="Inter" pitchFamily="34" charset="0"/>
                <a:ea typeface="Inter" pitchFamily="34" charset="-122"/>
                <a:cs typeface="Inter" pitchFamily="34" charset="-120"/>
              </a:rPr>
              <a:t>Hôte, conteneur, téléphone ?</a:t>
            </a:r>
            <a:endParaRPr lang="en-US" sz="1200" dirty="0"/>
          </a:p>
        </p:txBody>
      </p:sp>
      <p:sp>
        <p:nvSpPr>
          <p:cNvPr id="27" name="Text 25"/>
          <p:cNvSpPr/>
          <p:nvPr/>
        </p:nvSpPr>
        <p:spPr>
          <a:xfrm>
            <a:off x="6096000" y="3764012"/>
            <a:ext cx="5441696"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3C8CF"/>
                </a:solidFill>
                <a:latin typeface="Inter" pitchFamily="34" charset="0"/>
                <a:ea typeface="Inter" pitchFamily="34" charset="-122"/>
                <a:cs typeface="Inter" pitchFamily="34" charset="-120"/>
              </a:rPr>
              <a:t>Le web joint http://api:3001 ; le téléphone, l'IP de l'hôte sur 3001.</a:t>
            </a:r>
            <a:endParaRPr lang="en-US" sz="1200" dirty="0"/>
          </a:p>
        </p:txBody>
      </p:sp>
      <p:sp>
        <p:nvSpPr>
          <p:cNvPr id="28" name="Text 26"/>
          <p:cNvSpPr/>
          <p:nvPr/>
        </p:nvSpPr>
        <p:spPr>
          <a:xfrm>
            <a:off x="812800" y="6238280"/>
            <a:ext cx="296674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NOTE DOCKER /20</a:t>
            </a:r>
            <a:endParaRPr lang="en-US" sz="1200" dirty="0"/>
          </a:p>
        </p:txBody>
      </p:sp>
      <p:sp>
        <p:nvSpPr>
          <p:cNvPr id="29" name="Text 27"/>
          <p:cNvSpPr/>
          <p:nvPr/>
        </p:nvSpPr>
        <p:spPr>
          <a:xfrm>
            <a:off x="11171882" y="6238280"/>
            <a:ext cx="20731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05 · ARCHITECTURE</a:t>
            </a:r>
            <a:endParaRPr lang="en-US" sz="1200" dirty="0"/>
          </a:p>
        </p:txBody>
      </p:sp>
      <p:sp>
        <p:nvSpPr>
          <p:cNvPr id="3" name="Text 1"/>
          <p:cNvSpPr/>
          <p:nvPr>
            <p:ph type="title"/>
          </p:nvPr>
        </p:nvSpPr>
        <p:spPr>
          <a:xfrm>
            <a:off x="812800" y="11277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UN MONOREPO PNPM : TROIS APPS, TROIS PACKAGES</a:t>
            </a:r>
            <a:endParaRPr lang="en-US" sz="3600" dirty="0"/>
          </a:p>
        </p:txBody>
      </p:sp>
      <p:sp>
        <p:nvSpPr>
          <p:cNvPr id="4" name="Shape 2"/>
          <p:cNvSpPr/>
          <p:nvPr/>
        </p:nvSpPr>
        <p:spPr>
          <a:xfrm>
            <a:off x="815975" y="1915716"/>
            <a:ext cx="3079750" cy="1349871"/>
          </a:xfrm>
          <a:prstGeom prst="rect">
            <a:avLst/>
          </a:prstGeom>
          <a:noFill/>
          <a:ln w="6350">
            <a:solidFill>
              <a:srgbClr val="5C636C"/>
            </a:solidFill>
            <a:prstDash val="solid"/>
          </a:ln>
        </p:spPr>
      </p:sp>
      <p:sp>
        <p:nvSpPr>
          <p:cNvPr id="5" name="Text 3"/>
          <p:cNvSpPr/>
          <p:nvPr/>
        </p:nvSpPr>
        <p:spPr>
          <a:xfrm>
            <a:off x="1022350" y="2096691"/>
            <a:ext cx="27470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6F8"/>
                </a:solidFill>
                <a:latin typeface="JetBrains Mono" pitchFamily="49" charset="0"/>
                <a:ea typeface="JetBrains Mono" pitchFamily="49" charset="-122"/>
                <a:cs typeface="JetBrains Mono" pitchFamily="49" charset="-120"/>
              </a:rPr>
              <a:t>apps/web</a:t>
            </a:r>
            <a:endParaRPr lang="en-US" sz="1600" dirty="0"/>
          </a:p>
        </p:txBody>
      </p:sp>
      <p:sp>
        <p:nvSpPr>
          <p:cNvPr id="6" name="Text 4"/>
          <p:cNvSpPr/>
          <p:nvPr/>
        </p:nvSpPr>
        <p:spPr>
          <a:xfrm>
            <a:off x="1022350" y="2444651"/>
            <a:ext cx="274701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Next.js 16, App Router. Le serveur Next pose le cookie et passe le jeton en Bearer.</a:t>
            </a:r>
            <a:endParaRPr lang="en-US" sz="1200" dirty="0"/>
          </a:p>
        </p:txBody>
      </p:sp>
      <p:pic>
        <p:nvPicPr>
          <p:cNvPr id="7" name="Image 0" descr="arrow-right">    </p:cNvPr>
          <p:cNvPicPr>
            <a:picLocks noChangeAspect="1"/>
          </p:cNvPicPr>
          <p:nvPr/>
        </p:nvPicPr>
        <p:blipFill>
          <a:blip r:embed="rId1"/>
          <a:srcRect l="0" r="0" t="0" b="0"/>
          <a:stretch/>
        </p:blipFill>
        <p:spPr>
          <a:xfrm>
            <a:off x="4025900" y="2489051"/>
            <a:ext cx="406400" cy="203200"/>
          </a:xfrm>
          <a:prstGeom prst="rect">
            <a:avLst/>
          </a:prstGeom>
        </p:spPr>
      </p:pic>
      <p:sp>
        <p:nvSpPr>
          <p:cNvPr id="8" name="Shape 5"/>
          <p:cNvSpPr/>
          <p:nvPr/>
        </p:nvSpPr>
        <p:spPr>
          <a:xfrm>
            <a:off x="4559300" y="2025551"/>
            <a:ext cx="3073400" cy="1130201"/>
          </a:xfrm>
          <a:prstGeom prst="rect">
            <a:avLst/>
          </a:prstGeom>
          <a:solidFill>
            <a:srgbClr val="FF6A00"/>
          </a:solidFill>
          <a:ln/>
        </p:spPr>
      </p:sp>
      <p:sp>
        <p:nvSpPr>
          <p:cNvPr id="9" name="Text 6"/>
          <p:cNvSpPr/>
          <p:nvPr/>
        </p:nvSpPr>
        <p:spPr>
          <a:xfrm>
            <a:off x="4762500" y="2203351"/>
            <a:ext cx="27470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0C0E"/>
                </a:solidFill>
                <a:latin typeface="JetBrains Mono" pitchFamily="49" charset="0"/>
                <a:ea typeface="JetBrains Mono" pitchFamily="49" charset="-122"/>
                <a:cs typeface="JetBrains Mono" pitchFamily="49" charset="-120"/>
              </a:rPr>
              <a:t>apps/api</a:t>
            </a:r>
            <a:endParaRPr lang="en-US" sz="1600" dirty="0"/>
          </a:p>
        </p:txBody>
      </p:sp>
      <p:sp>
        <p:nvSpPr>
          <p:cNvPr id="10" name="Text 7"/>
          <p:cNvSpPr/>
          <p:nvPr/>
        </p:nvSpPr>
        <p:spPr>
          <a:xfrm>
            <a:off x="4762500" y="2551311"/>
            <a:ext cx="27470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0C0E"/>
                </a:solidFill>
                <a:latin typeface="Inter" pitchFamily="34" charset="0"/>
                <a:ea typeface="Inter" pitchFamily="34" charset="-122"/>
                <a:cs typeface="Inter" pitchFamily="34" charset="-120"/>
              </a:rPr>
              <a:t>NestJS, Drizzle, Zod, PostgreSQL. 39 routes, seule autorité métier.</a:t>
            </a:r>
            <a:endParaRPr lang="en-US" sz="1200" dirty="0"/>
          </a:p>
        </p:txBody>
      </p:sp>
      <p:pic>
        <p:nvPicPr>
          <p:cNvPr id="11" name="Image 1" descr="arrow-left">    </p:cNvPr>
          <p:cNvPicPr>
            <a:picLocks noChangeAspect="1"/>
          </p:cNvPicPr>
          <p:nvPr/>
        </p:nvPicPr>
        <p:blipFill>
          <a:blip r:embed="rId2"/>
          <a:srcRect l="0" r="0" t="0" b="0"/>
          <a:stretch/>
        </p:blipFill>
        <p:spPr>
          <a:xfrm>
            <a:off x="7759700" y="2489051"/>
            <a:ext cx="406400" cy="203200"/>
          </a:xfrm>
          <a:prstGeom prst="rect">
            <a:avLst/>
          </a:prstGeom>
        </p:spPr>
      </p:pic>
      <p:sp>
        <p:nvSpPr>
          <p:cNvPr id="12" name="Shape 8"/>
          <p:cNvSpPr/>
          <p:nvPr/>
        </p:nvSpPr>
        <p:spPr>
          <a:xfrm>
            <a:off x="8296275" y="2022376"/>
            <a:ext cx="3079750" cy="1136551"/>
          </a:xfrm>
          <a:prstGeom prst="rect">
            <a:avLst/>
          </a:prstGeom>
          <a:noFill/>
          <a:ln w="6350">
            <a:solidFill>
              <a:srgbClr val="5C636C"/>
            </a:solidFill>
            <a:prstDash val="solid"/>
          </a:ln>
        </p:spPr>
      </p:sp>
      <p:sp>
        <p:nvSpPr>
          <p:cNvPr id="13" name="Text 9"/>
          <p:cNvSpPr/>
          <p:nvPr/>
        </p:nvSpPr>
        <p:spPr>
          <a:xfrm>
            <a:off x="8502650" y="2203351"/>
            <a:ext cx="27470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6F8"/>
                </a:solidFill>
                <a:latin typeface="JetBrains Mono" pitchFamily="49" charset="0"/>
                <a:ea typeface="JetBrains Mono" pitchFamily="49" charset="-122"/>
                <a:cs typeface="JetBrains Mono" pitchFamily="49" charset="-120"/>
              </a:rPr>
              <a:t>apps/mobile</a:t>
            </a:r>
            <a:endParaRPr lang="en-US" sz="1600" dirty="0"/>
          </a:p>
        </p:txBody>
      </p:sp>
      <p:sp>
        <p:nvSpPr>
          <p:cNvPr id="14" name="Text 10"/>
          <p:cNvSpPr/>
          <p:nvPr/>
        </p:nvSpPr>
        <p:spPr>
          <a:xfrm>
            <a:off x="8502650" y="2551311"/>
            <a:ext cx="27470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Expo, React Native. Le jeton vit dans le trousseau, envoyé en Bearer.</a:t>
            </a:r>
            <a:endParaRPr lang="en-US" sz="1200" dirty="0"/>
          </a:p>
        </p:txBody>
      </p:sp>
      <p:sp>
        <p:nvSpPr>
          <p:cNvPr id="15" name="Text 11"/>
          <p:cNvSpPr/>
          <p:nvPr/>
        </p:nvSpPr>
        <p:spPr>
          <a:xfrm>
            <a:off x="812800" y="357356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9AA1AB"/>
                </a:solidFill>
                <a:latin typeface="Inter" pitchFamily="34" charset="0"/>
                <a:ea typeface="Inter" pitchFamily="34" charset="-122"/>
                <a:cs typeface="Inter" pitchFamily="34" charset="-120"/>
              </a:rPr>
              <a:t>LUS PAR LES TROIS</a:t>
            </a:r>
            <a:endParaRPr lang="en-US" sz="1200" dirty="0"/>
          </a:p>
        </p:txBody>
      </p:sp>
      <p:sp>
        <p:nvSpPr>
          <p:cNvPr id="16" name="Shape 12"/>
          <p:cNvSpPr/>
          <p:nvPr/>
        </p:nvSpPr>
        <p:spPr>
          <a:xfrm>
            <a:off x="812800" y="3888482"/>
            <a:ext cx="3437434" cy="782241"/>
          </a:xfrm>
          <a:prstGeom prst="rect">
            <a:avLst/>
          </a:prstGeom>
          <a:solidFill>
            <a:srgbClr val="131518"/>
          </a:solidFill>
          <a:ln/>
        </p:spPr>
      </p:sp>
      <p:sp>
        <p:nvSpPr>
          <p:cNvPr id="17" name="Text 13"/>
          <p:cNvSpPr/>
          <p:nvPr/>
        </p:nvSpPr>
        <p:spPr>
          <a:xfrm>
            <a:off x="1016000" y="4040882"/>
            <a:ext cx="312196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8534"/>
                </a:solidFill>
                <a:latin typeface="JetBrains Mono" pitchFamily="49" charset="0"/>
                <a:ea typeface="JetBrains Mono" pitchFamily="49" charset="-122"/>
                <a:cs typeface="JetBrains Mono" pitchFamily="49" charset="-120"/>
              </a:rPr>
              <a:t>packages/contract</a:t>
            </a:r>
            <a:endParaRPr lang="en-US" sz="1200" dirty="0"/>
          </a:p>
        </p:txBody>
      </p:sp>
      <p:sp>
        <p:nvSpPr>
          <p:cNvPr id="18" name="Text 14"/>
          <p:cNvSpPr/>
          <p:nvPr/>
        </p:nvSpPr>
        <p:spPr>
          <a:xfrm>
            <a:off x="1016000" y="4305002"/>
            <a:ext cx="31219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Types, table de routes, ApiErrorCode</a:t>
            </a:r>
            <a:endParaRPr lang="en-US" sz="1200" dirty="0"/>
          </a:p>
        </p:txBody>
      </p:sp>
      <p:sp>
        <p:nvSpPr>
          <p:cNvPr id="19" name="Shape 15"/>
          <p:cNvSpPr/>
          <p:nvPr/>
        </p:nvSpPr>
        <p:spPr>
          <a:xfrm>
            <a:off x="4377234" y="3888482"/>
            <a:ext cx="3437483" cy="782241"/>
          </a:xfrm>
          <a:prstGeom prst="rect">
            <a:avLst/>
          </a:prstGeom>
          <a:solidFill>
            <a:srgbClr val="131518"/>
          </a:solidFill>
          <a:ln/>
        </p:spPr>
      </p:sp>
      <p:sp>
        <p:nvSpPr>
          <p:cNvPr id="20" name="Text 16"/>
          <p:cNvSpPr/>
          <p:nvPr/>
        </p:nvSpPr>
        <p:spPr>
          <a:xfrm>
            <a:off x="4580434" y="4040882"/>
            <a:ext cx="31220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8534"/>
                </a:solidFill>
                <a:latin typeface="JetBrains Mono" pitchFamily="49" charset="0"/>
                <a:ea typeface="JetBrains Mono" pitchFamily="49" charset="-122"/>
                <a:cs typeface="JetBrains Mono" pitchFamily="49" charset="-120"/>
              </a:rPr>
              <a:t>packages/api-client</a:t>
            </a:r>
            <a:endParaRPr lang="en-US" sz="1200" dirty="0"/>
          </a:p>
        </p:txBody>
      </p:sp>
      <p:sp>
        <p:nvSpPr>
          <p:cNvPr id="21" name="Text 17"/>
          <p:cNvSpPr/>
          <p:nvPr/>
        </p:nvSpPr>
        <p:spPr>
          <a:xfrm>
            <a:off x="4580434" y="4305002"/>
            <a:ext cx="312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createApiClient, Result, errorCodeOf</a:t>
            </a:r>
            <a:endParaRPr lang="en-US" sz="1200" dirty="0"/>
          </a:p>
        </p:txBody>
      </p:sp>
      <p:sp>
        <p:nvSpPr>
          <p:cNvPr id="22" name="Shape 18"/>
          <p:cNvSpPr/>
          <p:nvPr/>
        </p:nvSpPr>
        <p:spPr>
          <a:xfrm>
            <a:off x="7941717" y="3888482"/>
            <a:ext cx="3437483" cy="782241"/>
          </a:xfrm>
          <a:prstGeom prst="rect">
            <a:avLst/>
          </a:prstGeom>
          <a:solidFill>
            <a:srgbClr val="131518"/>
          </a:solidFill>
          <a:ln/>
        </p:spPr>
      </p:sp>
      <p:sp>
        <p:nvSpPr>
          <p:cNvPr id="23" name="Text 19"/>
          <p:cNvSpPr/>
          <p:nvPr/>
        </p:nvSpPr>
        <p:spPr>
          <a:xfrm>
            <a:off x="8144917" y="4040882"/>
            <a:ext cx="31220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8534"/>
                </a:solidFill>
                <a:latin typeface="JetBrains Mono" pitchFamily="49" charset="0"/>
                <a:ea typeface="JetBrains Mono" pitchFamily="49" charset="-122"/>
                <a:cs typeface="JetBrains Mono" pitchFamily="49" charset="-120"/>
              </a:rPr>
              <a:t>packages/ui</a:t>
            </a:r>
            <a:endParaRPr lang="en-US" sz="1200" dirty="0"/>
          </a:p>
        </p:txBody>
      </p:sp>
      <p:sp>
        <p:nvSpPr>
          <p:cNvPr id="24" name="Text 20"/>
          <p:cNvSpPr/>
          <p:nvPr/>
        </p:nvSpPr>
        <p:spPr>
          <a:xfrm>
            <a:off x="8144917" y="4305002"/>
            <a:ext cx="31220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Design system web et natif</a:t>
            </a:r>
            <a:endParaRPr lang="en-US" sz="1200" dirty="0"/>
          </a:p>
        </p:txBody>
      </p:sp>
      <p:sp>
        <p:nvSpPr>
          <p:cNvPr id="25" name="Text 21"/>
          <p:cNvSpPr/>
          <p:nvPr/>
        </p:nvSpPr>
        <p:spPr>
          <a:xfrm>
            <a:off x="812800" y="6238280"/>
            <a:ext cx="2652236"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ARCHITECTURE</a:t>
            </a:r>
            <a:endParaRPr lang="en-US" sz="1200" dirty="0"/>
          </a:p>
        </p:txBody>
      </p:sp>
      <p:sp>
        <p:nvSpPr>
          <p:cNvPr id="26" name="Text 22"/>
          <p:cNvSpPr/>
          <p:nvPr/>
        </p:nvSpPr>
        <p:spPr>
          <a:xfrm>
            <a:off x="11139289" y="6238280"/>
            <a:ext cx="23991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05 · ARCHITECTURE — L'API</a:t>
            </a:r>
            <a:endParaRPr lang="en-US" sz="1200" dirty="0"/>
          </a:p>
        </p:txBody>
      </p:sp>
      <p:sp>
        <p:nvSpPr>
          <p:cNvPr id="3" name="Text 1"/>
          <p:cNvSpPr/>
          <p:nvPr>
            <p:ph type="title"/>
          </p:nvPr>
        </p:nvSpPr>
        <p:spPr>
          <a:xfrm>
            <a:off x="812800" y="11277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SEPT MODULES, QUATRE COUCHES CHACUN</a:t>
            </a:r>
            <a:endParaRPr lang="en-US" sz="3600" dirty="0"/>
          </a:p>
        </p:txBody>
      </p:sp>
      <p:sp>
        <p:nvSpPr>
          <p:cNvPr id="4" name="Shape 2"/>
          <p:cNvSpPr/>
          <p:nvPr/>
        </p:nvSpPr>
        <p:spPr>
          <a:xfrm>
            <a:off x="812800" y="1912541"/>
            <a:ext cx="5105400" cy="492720"/>
          </a:xfrm>
          <a:prstGeom prst="rect">
            <a:avLst/>
          </a:prstGeom>
          <a:solidFill>
            <a:srgbClr val="1C1F24"/>
          </a:solidFill>
          <a:ln/>
        </p:spPr>
      </p:sp>
      <p:sp>
        <p:nvSpPr>
          <p:cNvPr id="5" name="Text 3"/>
          <p:cNvSpPr/>
          <p:nvPr/>
        </p:nvSpPr>
        <p:spPr>
          <a:xfrm>
            <a:off x="990600" y="2052241"/>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8534"/>
                </a:solidFill>
                <a:latin typeface="JetBrains Mono" pitchFamily="49" charset="0"/>
                <a:ea typeface="JetBrains Mono" pitchFamily="49" charset="-122"/>
                <a:cs typeface="JetBrains Mono" pitchFamily="49" charset="-120"/>
              </a:rPr>
              <a:t>presentation/</a:t>
            </a:r>
            <a:endParaRPr lang="en-US" sz="1200" dirty="0"/>
          </a:p>
        </p:txBody>
      </p:sp>
      <p:sp>
        <p:nvSpPr>
          <p:cNvPr id="6" name="Text 4"/>
          <p:cNvSpPr/>
          <p:nvPr/>
        </p:nvSpPr>
        <p:spPr>
          <a:xfrm>
            <a:off x="2794000" y="2052241"/>
            <a:ext cx="30347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Contrôleur, DTO Zod</a:t>
            </a:r>
            <a:endParaRPr lang="en-US" sz="1200" dirty="0"/>
          </a:p>
        </p:txBody>
      </p:sp>
      <p:sp>
        <p:nvSpPr>
          <p:cNvPr id="7" name="Shape 5"/>
          <p:cNvSpPr/>
          <p:nvPr/>
        </p:nvSpPr>
        <p:spPr>
          <a:xfrm>
            <a:off x="812800" y="2481461"/>
            <a:ext cx="5105400" cy="492720"/>
          </a:xfrm>
          <a:prstGeom prst="rect">
            <a:avLst/>
          </a:prstGeom>
          <a:solidFill>
            <a:srgbClr val="1C1F24"/>
          </a:solidFill>
          <a:ln/>
        </p:spPr>
      </p:sp>
      <p:sp>
        <p:nvSpPr>
          <p:cNvPr id="8" name="Text 6"/>
          <p:cNvSpPr/>
          <p:nvPr/>
        </p:nvSpPr>
        <p:spPr>
          <a:xfrm>
            <a:off x="990600" y="2621161"/>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8534"/>
                </a:solidFill>
                <a:latin typeface="JetBrains Mono" pitchFamily="49" charset="0"/>
                <a:ea typeface="JetBrains Mono" pitchFamily="49" charset="-122"/>
                <a:cs typeface="JetBrains Mono" pitchFamily="49" charset="-120"/>
              </a:rPr>
              <a:t>application/</a:t>
            </a:r>
            <a:endParaRPr lang="en-US" sz="1200" dirty="0"/>
          </a:p>
        </p:txBody>
      </p:sp>
      <p:sp>
        <p:nvSpPr>
          <p:cNvPr id="9" name="Text 7"/>
          <p:cNvSpPr/>
          <p:nvPr/>
        </p:nvSpPr>
        <p:spPr>
          <a:xfrm>
            <a:off x="2794000" y="2621161"/>
            <a:ext cx="30347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Un use-case par opération</a:t>
            </a:r>
            <a:endParaRPr lang="en-US" sz="1200" dirty="0"/>
          </a:p>
        </p:txBody>
      </p:sp>
      <p:sp>
        <p:nvSpPr>
          <p:cNvPr id="10" name="Shape 8"/>
          <p:cNvSpPr/>
          <p:nvPr/>
        </p:nvSpPr>
        <p:spPr>
          <a:xfrm>
            <a:off x="812800" y="3050381"/>
            <a:ext cx="5105400" cy="492720"/>
          </a:xfrm>
          <a:prstGeom prst="rect">
            <a:avLst/>
          </a:prstGeom>
          <a:solidFill>
            <a:srgbClr val="FF6A00"/>
          </a:solidFill>
          <a:ln/>
        </p:spPr>
      </p:sp>
      <p:sp>
        <p:nvSpPr>
          <p:cNvPr id="11" name="Text 9"/>
          <p:cNvSpPr/>
          <p:nvPr/>
        </p:nvSpPr>
        <p:spPr>
          <a:xfrm>
            <a:off x="990600" y="3190081"/>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C0E"/>
                </a:solidFill>
                <a:latin typeface="JetBrains Mono" pitchFamily="49" charset="0"/>
                <a:ea typeface="JetBrains Mono" pitchFamily="49" charset="-122"/>
                <a:cs typeface="JetBrains Mono" pitchFamily="49" charset="-120"/>
              </a:rPr>
              <a:t>domain/</a:t>
            </a:r>
            <a:endParaRPr lang="en-US" sz="1200" dirty="0"/>
          </a:p>
        </p:txBody>
      </p:sp>
      <p:sp>
        <p:nvSpPr>
          <p:cNvPr id="12" name="Text 10"/>
          <p:cNvSpPr/>
          <p:nvPr/>
        </p:nvSpPr>
        <p:spPr>
          <a:xfrm>
            <a:off x="2794000" y="3190081"/>
            <a:ext cx="30347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0C0E"/>
                </a:solidFill>
                <a:latin typeface="Inter" pitchFamily="34" charset="0"/>
                <a:ea typeface="Inter" pitchFamily="34" charset="-122"/>
                <a:cs typeface="Inter" pitchFamily="34" charset="-120"/>
              </a:rPr>
              <a:t>Entités, erreurs, interface du repository</a:t>
            </a:r>
            <a:endParaRPr lang="en-US" sz="1200" dirty="0"/>
          </a:p>
        </p:txBody>
      </p:sp>
      <p:sp>
        <p:nvSpPr>
          <p:cNvPr id="13" name="Shape 11"/>
          <p:cNvSpPr/>
          <p:nvPr/>
        </p:nvSpPr>
        <p:spPr>
          <a:xfrm>
            <a:off x="812800" y="3619302"/>
            <a:ext cx="5105400" cy="492720"/>
          </a:xfrm>
          <a:prstGeom prst="rect">
            <a:avLst/>
          </a:prstGeom>
          <a:solidFill>
            <a:srgbClr val="1C1F24"/>
          </a:solidFill>
          <a:ln/>
        </p:spPr>
      </p:sp>
      <p:sp>
        <p:nvSpPr>
          <p:cNvPr id="14" name="Text 12"/>
          <p:cNvSpPr/>
          <p:nvPr/>
        </p:nvSpPr>
        <p:spPr>
          <a:xfrm>
            <a:off x="990600" y="3759002"/>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8534"/>
                </a:solidFill>
                <a:latin typeface="JetBrains Mono" pitchFamily="49" charset="0"/>
                <a:ea typeface="JetBrains Mono" pitchFamily="49" charset="-122"/>
                <a:cs typeface="JetBrains Mono" pitchFamily="49" charset="-120"/>
              </a:rPr>
              <a:t>infrastructure/</a:t>
            </a:r>
            <a:endParaRPr lang="en-US" sz="1200" dirty="0"/>
          </a:p>
        </p:txBody>
      </p:sp>
      <p:sp>
        <p:nvSpPr>
          <p:cNvPr id="15" name="Text 13"/>
          <p:cNvSpPr/>
          <p:nvPr/>
        </p:nvSpPr>
        <p:spPr>
          <a:xfrm>
            <a:off x="2794000" y="3759002"/>
            <a:ext cx="30347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Implémentation Drizzle</a:t>
            </a:r>
            <a:endParaRPr lang="en-US" sz="1200" dirty="0"/>
          </a:p>
        </p:txBody>
      </p:sp>
      <p:sp>
        <p:nvSpPr>
          <p:cNvPr id="16" name="Text 14"/>
          <p:cNvSpPr/>
          <p:nvPr/>
        </p:nvSpPr>
        <p:spPr>
          <a:xfrm>
            <a:off x="812800" y="4188222"/>
            <a:ext cx="525856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3C8CF"/>
                </a:solidFill>
                <a:latin typeface="Inter" pitchFamily="34" charset="0"/>
                <a:ea typeface="Inter" pitchFamily="34" charset="-122"/>
                <a:cs typeface="Inter" pitchFamily="34" charset="-120"/>
              </a:rPr>
              <a:t>auth · user · atelier · membership · machine · certification · booking — plus health.</a:t>
            </a:r>
            <a:endParaRPr lang="en-US" sz="1200" dirty="0"/>
          </a:p>
        </p:txBody>
      </p:sp>
      <p:sp>
        <p:nvSpPr>
          <p:cNvPr id="17" name="Shape 15"/>
          <p:cNvSpPr/>
          <p:nvPr/>
        </p:nvSpPr>
        <p:spPr>
          <a:xfrm>
            <a:off x="6273800" y="1918891"/>
            <a:ext cx="5105400" cy="0"/>
          </a:xfrm>
          <a:prstGeom prst="line">
            <a:avLst/>
          </a:prstGeom>
          <a:noFill/>
          <a:ln w="12700">
            <a:solidFill>
              <a:srgbClr val="5C636C"/>
            </a:solidFill>
            <a:prstDash val="solid"/>
          </a:ln>
        </p:spPr>
      </p:sp>
      <p:sp>
        <p:nvSpPr>
          <p:cNvPr id="18" name="Text 16"/>
          <p:cNvSpPr/>
          <p:nvPr/>
        </p:nvSpPr>
        <p:spPr>
          <a:xfrm>
            <a:off x="6273800" y="2026841"/>
            <a:ext cx="525856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6F8"/>
                </a:solidFill>
                <a:latin typeface="Barlow Condensed" pitchFamily="34" charset="0"/>
                <a:ea typeface="Barlow Condensed" pitchFamily="34" charset="-122"/>
                <a:cs typeface="Barlow Condensed" pitchFamily="34" charset="-120"/>
              </a:rPr>
              <a:t>ZOD, SEUL LANGAGE DE SCHÉMA</a:t>
            </a:r>
            <a:endParaRPr lang="en-US" sz="2200" dirty="0"/>
          </a:p>
        </p:txBody>
      </p:sp>
      <p:sp>
        <p:nvSpPr>
          <p:cNvPr id="19" name="Text 17"/>
          <p:cNvSpPr/>
          <p:nvPr/>
        </p:nvSpPr>
        <p:spPr>
          <a:xfrm>
            <a:off x="6273800" y="2412901"/>
            <a:ext cx="525856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3C8CF"/>
                </a:solidFill>
                <a:latin typeface="Inter" pitchFamily="34" charset="0"/>
                <a:ea typeface="Inter" pitchFamily="34" charset="-122"/>
                <a:cs typeface="Inter" pitchFamily="34" charset="-120"/>
              </a:rPr>
              <a:t>Entrée comme sortie. Un test parse chaque réponse contre son schéma, clés en trop comprises : une fuite de champ fait rougir la CI.</a:t>
            </a:r>
            <a:endParaRPr lang="en-US" sz="1200" dirty="0"/>
          </a:p>
        </p:txBody>
      </p:sp>
      <p:sp>
        <p:nvSpPr>
          <p:cNvPr id="20" name="Shape 18"/>
          <p:cNvSpPr/>
          <p:nvPr/>
        </p:nvSpPr>
        <p:spPr>
          <a:xfrm>
            <a:off x="6273800" y="3013571"/>
            <a:ext cx="5105400" cy="0"/>
          </a:xfrm>
          <a:prstGeom prst="line">
            <a:avLst/>
          </a:prstGeom>
          <a:noFill/>
          <a:ln w="12700">
            <a:solidFill>
              <a:srgbClr val="5C636C"/>
            </a:solidFill>
            <a:prstDash val="solid"/>
          </a:ln>
        </p:spPr>
      </p:sp>
      <p:sp>
        <p:nvSpPr>
          <p:cNvPr id="21" name="Text 19"/>
          <p:cNvSpPr/>
          <p:nvPr/>
        </p:nvSpPr>
        <p:spPr>
          <a:xfrm>
            <a:off x="6273800" y="3121521"/>
            <a:ext cx="525856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6F8"/>
                </a:solidFill>
                <a:latin typeface="Barlow Condensed" pitchFamily="34" charset="0"/>
                <a:ea typeface="Barlow Condensed" pitchFamily="34" charset="-122"/>
                <a:cs typeface="Barlow Condensed" pitchFamily="34" charset="-120"/>
              </a:rPr>
              <a:t>UN CODE D'ERREUR, TROIS CÔTÉS</a:t>
            </a:r>
            <a:endParaRPr lang="en-US" sz="2200" dirty="0"/>
          </a:p>
        </p:txBody>
      </p:sp>
      <p:sp>
        <p:nvSpPr>
          <p:cNvPr id="22" name="Text 20"/>
          <p:cNvSpPr/>
          <p:nvPr/>
        </p:nvSpPr>
        <p:spPr>
          <a:xfrm>
            <a:off x="6273800" y="3507581"/>
            <a:ext cx="525856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3C8CF"/>
                </a:solidFill>
                <a:latin typeface="Inter" pitchFamily="34" charset="0"/>
                <a:ea typeface="Inter" pitchFamily="34" charset="-122"/>
                <a:cs typeface="Inter" pitchFamily="34" charset="-120"/>
              </a:rPr>
              <a:t>L'API émet ApiErrorCode, le web et le mobile le traduisent en français. Le code du corps prime sur le statut : cinq règles partagent le 409.</a:t>
            </a:r>
            <a:endParaRPr lang="en-US" sz="1200" dirty="0"/>
          </a:p>
        </p:txBody>
      </p:sp>
      <p:sp>
        <p:nvSpPr>
          <p:cNvPr id="23" name="Text 21"/>
          <p:cNvSpPr/>
          <p:nvPr/>
        </p:nvSpPr>
        <p:spPr>
          <a:xfrm>
            <a:off x="812800" y="6238280"/>
            <a:ext cx="2652236"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ARCHITECTURE</a:t>
            </a:r>
            <a:endParaRPr lang="en-US" sz="1200" dirty="0"/>
          </a:p>
        </p:txBody>
      </p:sp>
      <p:sp>
        <p:nvSpPr>
          <p:cNvPr id="24" name="Text 22"/>
          <p:cNvSpPr/>
          <p:nvPr/>
        </p:nvSpPr>
        <p:spPr>
          <a:xfrm>
            <a:off x="11173470" y="6238280"/>
            <a:ext cx="20573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05 · ARCHITECTURE — LA PARTIE QUE J'EXPLIQUE EN ENTIER</a:t>
            </a:r>
            <a:endParaRPr lang="en-US" sz="1200" dirty="0"/>
          </a:p>
        </p:txBody>
      </p:sp>
      <p:sp>
        <p:nvSpPr>
          <p:cNvPr id="3" name="Text 1"/>
          <p:cNvSpPr/>
          <p:nvPr>
            <p:ph type="title"/>
          </p:nvPr>
        </p:nvSpPr>
        <p:spPr>
          <a:xfrm>
            <a:off x="812800" y="11277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LE CRÉNEAU EXCLUSIF EST GARANTI DEUX FOIS</a:t>
            </a:r>
            <a:endParaRPr lang="en-US" sz="3600" dirty="0"/>
          </a:p>
        </p:txBody>
      </p:sp>
      <p:sp>
        <p:nvSpPr>
          <p:cNvPr id="4" name="Shape 2"/>
          <p:cNvSpPr/>
          <p:nvPr/>
        </p:nvSpPr>
        <p:spPr>
          <a:xfrm>
            <a:off x="812800" y="1912541"/>
            <a:ext cx="10566400" cy="1549400"/>
          </a:xfrm>
          <a:prstGeom prst="rect">
            <a:avLst/>
          </a:prstGeom>
          <a:solidFill>
            <a:srgbClr val="131518"/>
          </a:solidFill>
          <a:ln/>
        </p:spPr>
      </p:sp>
      <p:sp>
        <p:nvSpPr>
          <p:cNvPr id="5" name="Shape 3"/>
          <p:cNvSpPr/>
          <p:nvPr/>
        </p:nvSpPr>
        <p:spPr>
          <a:xfrm>
            <a:off x="825500" y="1912541"/>
            <a:ext cx="0" cy="1549400"/>
          </a:xfrm>
          <a:prstGeom prst="line">
            <a:avLst/>
          </a:prstGeom>
          <a:noFill/>
          <a:ln w="25400">
            <a:solidFill>
              <a:srgbClr val="FF6A00"/>
            </a:solidFill>
            <a:prstDash val="solid"/>
          </a:ln>
        </p:spPr>
      </p:sp>
      <p:sp>
        <p:nvSpPr>
          <p:cNvPr id="6" name="Text 4"/>
          <p:cNvSpPr/>
          <p:nvPr/>
        </p:nvSpPr>
        <p:spPr>
          <a:xfrm>
            <a:off x="1092200" y="2115741"/>
            <a:ext cx="1033399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F8534"/>
                </a:solidFill>
                <a:latin typeface="JetBrains Mono" pitchFamily="49" charset="0"/>
                <a:ea typeface="JetBrains Mono" pitchFamily="49" charset="-122"/>
                <a:cs typeface="JetBrains Mono" pitchFamily="49" charset="-120"/>
              </a:rPr>
              <a:t>CONSTRAINT</a:t>
            </a:r>
            <a:r>
              <a:rPr lang="en-US" sz="1400" dirty="0">
                <a:solidFill>
                  <a:srgbClr val="F4F6F8"/>
                </a:solidFill>
                <a:latin typeface="JetBrains Mono" pitchFamily="49" charset="0"/>
                <a:ea typeface="JetBrains Mono" pitchFamily="49" charset="-122"/>
                <a:cs typeface="JetBrains Mono" pitchFamily="49" charset="-120"/>
              </a:rPr>
              <a:t> bookings_no_overlap </a:t>
            </a:r>
            <a:r>
              <a:rPr lang="en-US" sz="1400" dirty="0">
                <a:solidFill>
                  <a:srgbClr val="FF8534"/>
                </a:solidFill>
                <a:latin typeface="JetBrains Mono" pitchFamily="49" charset="0"/>
                <a:ea typeface="JetBrains Mono" pitchFamily="49" charset="-122"/>
                <a:cs typeface="JetBrains Mono" pitchFamily="49" charset="-120"/>
              </a:rPr>
              <a:t>EXCLUDE USING</a:t>
            </a:r>
            <a:r>
              <a:rPr lang="en-US" sz="1400" dirty="0">
                <a:solidFill>
                  <a:srgbClr val="F4F6F8"/>
                </a:solidFill>
                <a:latin typeface="JetBrains Mono" pitchFamily="49" charset="0"/>
                <a:ea typeface="JetBrains Mono" pitchFamily="49" charset="-122"/>
                <a:cs typeface="JetBrains Mono" pitchFamily="49" charset="-120"/>
              </a:rPr>
              <a:t> gist (</a:t>
            </a:r>
            <a:endParaRPr lang="en-US" sz="1400" dirty="0"/>
          </a:p>
        </p:txBody>
      </p:sp>
      <p:sp>
        <p:nvSpPr>
          <p:cNvPr id="7" name="Text 5"/>
          <p:cNvSpPr/>
          <p:nvPr/>
        </p:nvSpPr>
        <p:spPr>
          <a:xfrm>
            <a:off x="1092200" y="2407841"/>
            <a:ext cx="1033399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4F6F8"/>
                </a:solidFill>
                <a:latin typeface="JetBrains Mono" pitchFamily="49" charset="0"/>
                <a:ea typeface="JetBrains Mono" pitchFamily="49" charset="-122"/>
                <a:cs typeface="JetBrains Mono" pitchFamily="49" charset="-120"/>
              </a:rPr>
              <a:t>machine_id </a:t>
            </a:r>
            <a:r>
              <a:rPr lang="en-US" sz="1400" dirty="0">
                <a:solidFill>
                  <a:srgbClr val="FF8534"/>
                </a:solidFill>
                <a:latin typeface="JetBrains Mono" pitchFamily="49" charset="0"/>
                <a:ea typeface="JetBrains Mono" pitchFamily="49" charset="-122"/>
                <a:cs typeface="JetBrains Mono" pitchFamily="49" charset="-120"/>
              </a:rPr>
              <a:t>WITH</a:t>
            </a:r>
            <a:r>
              <a:rPr lang="en-US" sz="1400" dirty="0">
                <a:solidFill>
                  <a:srgbClr val="F4F6F8"/>
                </a:solidFill>
                <a:latin typeface="JetBrains Mono" pitchFamily="49" charset="0"/>
                <a:ea typeface="JetBrains Mono" pitchFamily="49" charset="-122"/>
                <a:cs typeface="JetBrains Mono" pitchFamily="49" charset="-120"/>
              </a:rPr>
              <a:t> =,</a:t>
            </a:r>
            <a:endParaRPr lang="en-US" sz="1400" dirty="0"/>
          </a:p>
        </p:txBody>
      </p:sp>
      <p:sp>
        <p:nvSpPr>
          <p:cNvPr id="8" name="Text 6"/>
          <p:cNvSpPr/>
          <p:nvPr/>
        </p:nvSpPr>
        <p:spPr>
          <a:xfrm>
            <a:off x="1092200" y="2699941"/>
            <a:ext cx="1033399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4F6F8"/>
                </a:solidFill>
                <a:latin typeface="JetBrains Mono" pitchFamily="49" charset="0"/>
                <a:ea typeface="JetBrains Mono" pitchFamily="49" charset="-122"/>
                <a:cs typeface="JetBrains Mono" pitchFamily="49" charset="-120"/>
              </a:rPr>
              <a:t>tstzrange(start_at, end_at) </a:t>
            </a:r>
            <a:r>
              <a:rPr lang="en-US" sz="1400" dirty="0">
                <a:solidFill>
                  <a:srgbClr val="FF8534"/>
                </a:solidFill>
                <a:latin typeface="JetBrains Mono" pitchFamily="49" charset="0"/>
                <a:ea typeface="JetBrains Mono" pitchFamily="49" charset="-122"/>
                <a:cs typeface="JetBrains Mono" pitchFamily="49" charset="-120"/>
              </a:rPr>
              <a:t>WITH</a:t>
            </a:r>
            <a:r>
              <a:rPr lang="en-US" sz="1400" dirty="0">
                <a:solidFill>
                  <a:srgbClr val="F4F6F8"/>
                </a:solidFill>
                <a:latin typeface="JetBrains Mono" pitchFamily="49" charset="0"/>
                <a:ea typeface="JetBrains Mono" pitchFamily="49" charset="-122"/>
                <a:cs typeface="JetBrains Mono" pitchFamily="49" charset="-120"/>
              </a:rPr>
              <a:t> &amp;&amp;</a:t>
            </a:r>
            <a:endParaRPr lang="en-US" sz="1400" dirty="0"/>
          </a:p>
        </p:txBody>
      </p:sp>
      <p:sp>
        <p:nvSpPr>
          <p:cNvPr id="9" name="Text 7"/>
          <p:cNvSpPr/>
          <p:nvPr/>
        </p:nvSpPr>
        <p:spPr>
          <a:xfrm>
            <a:off x="1092200" y="2992041"/>
            <a:ext cx="1033399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4F6F8"/>
                </a:solidFill>
                <a:latin typeface="JetBrains Mono" pitchFamily="49" charset="0"/>
                <a:ea typeface="JetBrains Mono" pitchFamily="49" charset="-122"/>
                <a:cs typeface="JetBrains Mono" pitchFamily="49" charset="-120"/>
              </a:rPr>
              <a:t>) </a:t>
            </a:r>
            <a:r>
              <a:rPr lang="en-US" sz="1400" dirty="0">
                <a:solidFill>
                  <a:srgbClr val="FF8534"/>
                </a:solidFill>
                <a:latin typeface="JetBrains Mono" pitchFamily="49" charset="0"/>
                <a:ea typeface="JetBrains Mono" pitchFamily="49" charset="-122"/>
                <a:cs typeface="JetBrains Mono" pitchFamily="49" charset="-120"/>
              </a:rPr>
              <a:t>WHERE</a:t>
            </a:r>
            <a:r>
              <a:rPr lang="en-US" sz="1400" dirty="0">
                <a:solidFill>
                  <a:srgbClr val="F4F6F8"/>
                </a:solidFill>
                <a:latin typeface="JetBrains Mono" pitchFamily="49" charset="0"/>
                <a:ea typeface="JetBrains Mono" pitchFamily="49" charset="-122"/>
                <a:cs typeface="JetBrains Mono" pitchFamily="49" charset="-120"/>
              </a:rPr>
              <a:t> (status </a:t>
            </a:r>
            <a:r>
              <a:rPr lang="en-US" sz="1400" dirty="0">
                <a:solidFill>
                  <a:srgbClr val="FF8534"/>
                </a:solidFill>
                <a:latin typeface="JetBrains Mono" pitchFamily="49" charset="0"/>
                <a:ea typeface="JetBrains Mono" pitchFamily="49" charset="-122"/>
                <a:cs typeface="JetBrains Mono" pitchFamily="49" charset="-120"/>
              </a:rPr>
              <a:t>IN</a:t>
            </a:r>
            <a:r>
              <a:rPr lang="en-US" sz="1400" dirty="0">
                <a:solidFill>
                  <a:srgbClr val="F4F6F8"/>
                </a:solidFill>
                <a:latin typeface="JetBrains Mono" pitchFamily="49" charset="0"/>
                <a:ea typeface="JetBrains Mono" pitchFamily="49" charset="-122"/>
                <a:cs typeface="JetBrains Mono" pitchFamily="49" charset="-120"/>
              </a:rPr>
              <a:t> ('CONFIRMED', 'CHECKED_IN'))</a:t>
            </a:r>
            <a:endParaRPr lang="en-US" sz="1400" dirty="0"/>
          </a:p>
        </p:txBody>
      </p:sp>
      <p:sp>
        <p:nvSpPr>
          <p:cNvPr id="10" name="Shape 8"/>
          <p:cNvSpPr/>
          <p:nvPr/>
        </p:nvSpPr>
        <p:spPr>
          <a:xfrm>
            <a:off x="815975" y="3769916"/>
            <a:ext cx="3113584" cy="1001911"/>
          </a:xfrm>
          <a:prstGeom prst="rect">
            <a:avLst/>
          </a:prstGeom>
          <a:noFill/>
          <a:ln w="6350">
            <a:solidFill>
              <a:srgbClr val="5C636C"/>
            </a:solidFill>
            <a:prstDash val="solid"/>
          </a:ln>
        </p:spPr>
      </p:sp>
      <p:sp>
        <p:nvSpPr>
          <p:cNvPr id="11" name="Text 9"/>
          <p:cNvSpPr/>
          <p:nvPr/>
        </p:nvSpPr>
        <p:spPr>
          <a:xfrm>
            <a:off x="996950" y="3925491"/>
            <a:ext cx="28341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6A00"/>
                </a:solidFill>
                <a:latin typeface="Inter" pitchFamily="34" charset="0"/>
                <a:ea typeface="Inter" pitchFamily="34" charset="-122"/>
                <a:cs typeface="Inter" pitchFamily="34" charset="-120"/>
              </a:rPr>
              <a:t>Le code</a:t>
            </a:r>
            <a:endParaRPr lang="en-US" sz="1200" dirty="0"/>
          </a:p>
        </p:txBody>
      </p:sp>
      <p:sp>
        <p:nvSpPr>
          <p:cNvPr id="12" name="Text 10"/>
          <p:cNvSpPr/>
          <p:nvPr/>
        </p:nvSpPr>
        <p:spPr>
          <a:xfrm>
            <a:off x="996950" y="4189611"/>
            <a:ext cx="28341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Deux réservations simultanées passent la vérification applicative</a:t>
            </a:r>
            <a:endParaRPr lang="en-US" sz="1200" dirty="0"/>
          </a:p>
        </p:txBody>
      </p:sp>
      <p:pic>
        <p:nvPicPr>
          <p:cNvPr id="13" name="Image 0" descr="arrow-right">    </p:cNvPr>
          <p:cNvPicPr>
            <a:picLocks noChangeAspect="1"/>
          </p:cNvPicPr>
          <p:nvPr/>
        </p:nvPicPr>
        <p:blipFill>
          <a:blip r:embed="rId1"/>
          <a:srcRect l="0" r="0" t="0" b="0"/>
          <a:stretch/>
        </p:blipFill>
        <p:spPr>
          <a:xfrm>
            <a:off x="4059734" y="4181971"/>
            <a:ext cx="355600" cy="177800"/>
          </a:xfrm>
          <a:prstGeom prst="rect">
            <a:avLst/>
          </a:prstGeom>
        </p:spPr>
      </p:pic>
      <p:sp>
        <p:nvSpPr>
          <p:cNvPr id="14" name="Shape 11"/>
          <p:cNvSpPr/>
          <p:nvPr/>
        </p:nvSpPr>
        <p:spPr>
          <a:xfrm>
            <a:off x="4545509" y="3769916"/>
            <a:ext cx="3113633" cy="1001911"/>
          </a:xfrm>
          <a:prstGeom prst="rect">
            <a:avLst/>
          </a:prstGeom>
          <a:noFill/>
          <a:ln w="6350">
            <a:solidFill>
              <a:srgbClr val="5C636C"/>
            </a:solidFill>
            <a:prstDash val="solid"/>
          </a:ln>
        </p:spPr>
      </p:sp>
      <p:sp>
        <p:nvSpPr>
          <p:cNvPr id="15" name="Text 12"/>
          <p:cNvSpPr/>
          <p:nvPr/>
        </p:nvSpPr>
        <p:spPr>
          <a:xfrm>
            <a:off x="4726484" y="3925491"/>
            <a:ext cx="283423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6A00"/>
                </a:solidFill>
                <a:latin typeface="Inter" pitchFamily="34" charset="0"/>
                <a:ea typeface="Inter" pitchFamily="34" charset="-122"/>
                <a:cs typeface="Inter" pitchFamily="34" charset="-120"/>
              </a:rPr>
              <a:t>La base</a:t>
            </a:r>
            <a:endParaRPr lang="en-US" sz="1200" dirty="0"/>
          </a:p>
        </p:txBody>
      </p:sp>
      <p:sp>
        <p:nvSpPr>
          <p:cNvPr id="16" name="Text 13"/>
          <p:cNvSpPr/>
          <p:nvPr/>
        </p:nvSpPr>
        <p:spPr>
          <a:xfrm>
            <a:off x="4726484" y="4189611"/>
            <a:ext cx="28342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PostgreSQL refuse la seconde : violation 23P01</a:t>
            </a:r>
            <a:endParaRPr lang="en-US" sz="1200" dirty="0"/>
          </a:p>
        </p:txBody>
      </p:sp>
      <p:pic>
        <p:nvPicPr>
          <p:cNvPr id="17" name="Image 1" descr="arrow-right">    </p:cNvPr>
          <p:cNvPicPr>
            <a:picLocks noChangeAspect="1"/>
          </p:cNvPicPr>
          <p:nvPr/>
        </p:nvPicPr>
        <p:blipFill>
          <a:blip r:embed="rId2"/>
          <a:srcRect l="0" r="0" t="0" b="0"/>
          <a:stretch/>
        </p:blipFill>
        <p:spPr>
          <a:xfrm>
            <a:off x="7789317" y="4181971"/>
            <a:ext cx="355600" cy="177800"/>
          </a:xfrm>
          <a:prstGeom prst="rect">
            <a:avLst/>
          </a:prstGeom>
        </p:spPr>
      </p:pic>
      <p:sp>
        <p:nvSpPr>
          <p:cNvPr id="18" name="Shape 14"/>
          <p:cNvSpPr/>
          <p:nvPr/>
        </p:nvSpPr>
        <p:spPr>
          <a:xfrm>
            <a:off x="8271917" y="3773091"/>
            <a:ext cx="3107283" cy="995561"/>
          </a:xfrm>
          <a:prstGeom prst="rect">
            <a:avLst/>
          </a:prstGeom>
          <a:solidFill>
            <a:srgbClr val="FF6A00"/>
          </a:solidFill>
          <a:ln/>
        </p:spPr>
      </p:sp>
      <p:sp>
        <p:nvSpPr>
          <p:cNvPr id="19" name="Text 15"/>
          <p:cNvSpPr/>
          <p:nvPr/>
        </p:nvSpPr>
        <p:spPr>
          <a:xfrm>
            <a:off x="8449717" y="3925491"/>
            <a:ext cx="283423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0C0E"/>
                </a:solidFill>
                <a:latin typeface="Inter" pitchFamily="34" charset="0"/>
                <a:ea typeface="Inter" pitchFamily="34" charset="-122"/>
                <a:cs typeface="Inter" pitchFamily="34" charset="-120"/>
              </a:rPr>
              <a:t>Le repository</a:t>
            </a:r>
            <a:endParaRPr lang="en-US" sz="1200" dirty="0"/>
          </a:p>
        </p:txBody>
      </p:sp>
      <p:sp>
        <p:nvSpPr>
          <p:cNvPr id="20" name="Text 16"/>
          <p:cNvSpPr/>
          <p:nvPr/>
        </p:nvSpPr>
        <p:spPr>
          <a:xfrm>
            <a:off x="8449717" y="4189611"/>
            <a:ext cx="28342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0C0E"/>
                </a:solidFill>
                <a:latin typeface="Inter" pitchFamily="34" charset="0"/>
                <a:ea typeface="Inter" pitchFamily="34" charset="-122"/>
                <a:cs typeface="Inter" pitchFamily="34" charset="-120"/>
              </a:rPr>
              <a:t>Traduit en BookingOverlapError : 409, et une phrase en français</a:t>
            </a:r>
            <a:endParaRPr lang="en-US" sz="1200" dirty="0"/>
          </a:p>
        </p:txBody>
      </p:sp>
      <p:sp>
        <p:nvSpPr>
          <p:cNvPr id="21" name="Text 17"/>
          <p:cNvSpPr/>
          <p:nvPr/>
        </p:nvSpPr>
        <p:spPr>
          <a:xfrm>
            <a:off x="812800" y="6238280"/>
            <a:ext cx="2652236"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ARCHITECTURE</a:t>
            </a:r>
            <a:endParaRPr lang="en-US" sz="1200" dirty="0"/>
          </a:p>
        </p:txBody>
      </p:sp>
      <p:sp>
        <p:nvSpPr>
          <p:cNvPr id="22" name="Text 18"/>
          <p:cNvSpPr/>
          <p:nvPr/>
        </p:nvSpPr>
        <p:spPr>
          <a:xfrm>
            <a:off x="11142514" y="6238280"/>
            <a:ext cx="23668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05 · ARCHITECTURE — SÉCURITÉ</a:t>
            </a:r>
            <a:endParaRPr lang="en-US" sz="1200" dirty="0"/>
          </a:p>
        </p:txBody>
      </p:sp>
      <p:sp>
        <p:nvSpPr>
          <p:cNvPr id="3" name="Text 1"/>
          <p:cNvSpPr/>
          <p:nvPr>
            <p:ph type="title"/>
          </p:nvPr>
        </p:nvSpPr>
        <p:spPr>
          <a:xfrm>
            <a:off x="812800" y="11277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L'AUTORISATION EST SERVEUR, JAMAIS UN BOUTON MASQUÉ</a:t>
            </a:r>
            <a:endParaRPr lang="en-US" sz="3600" dirty="0"/>
          </a:p>
        </p:txBody>
      </p:sp>
      <p:sp>
        <p:nvSpPr>
          <p:cNvPr id="4" name="Shape 2"/>
          <p:cNvSpPr/>
          <p:nvPr/>
        </p:nvSpPr>
        <p:spPr>
          <a:xfrm>
            <a:off x="812800" y="1915716"/>
            <a:ext cx="6126460" cy="0"/>
          </a:xfrm>
          <a:prstGeom prst="line">
            <a:avLst/>
          </a:prstGeom>
          <a:noFill/>
          <a:ln w="6350">
            <a:solidFill>
              <a:srgbClr val="2A2E35"/>
            </a:solidFill>
            <a:prstDash val="solid"/>
          </a:ln>
        </p:spPr>
      </p:sp>
      <p:sp>
        <p:nvSpPr>
          <p:cNvPr id="5" name="Text 3"/>
          <p:cNvSpPr/>
          <p:nvPr/>
        </p:nvSpPr>
        <p:spPr>
          <a:xfrm>
            <a:off x="812800" y="2045891"/>
            <a:ext cx="196215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6A00"/>
                </a:solidFill>
                <a:latin typeface="Inter" pitchFamily="34" charset="0"/>
                <a:ea typeface="Inter" pitchFamily="34" charset="-122"/>
                <a:cs typeface="Inter" pitchFamily="34" charset="-120"/>
              </a:rPr>
              <a:t>proxy.ts</a:t>
            </a:r>
            <a:endParaRPr lang="en-US" sz="1200" dirty="0"/>
          </a:p>
        </p:txBody>
      </p:sp>
      <p:sp>
        <p:nvSpPr>
          <p:cNvPr id="6" name="Text 4"/>
          <p:cNvSpPr/>
          <p:nvPr/>
        </p:nvSpPr>
        <p:spPr>
          <a:xfrm>
            <a:off x="2870200" y="2045891"/>
            <a:ext cx="419113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Redirige les préfixes privés sans cookie. Du confort, pas de la sécurité.</a:t>
            </a:r>
            <a:endParaRPr lang="en-US" sz="1200" dirty="0"/>
          </a:p>
        </p:txBody>
      </p:sp>
      <p:sp>
        <p:nvSpPr>
          <p:cNvPr id="7" name="Shape 5"/>
          <p:cNvSpPr/>
          <p:nvPr/>
        </p:nvSpPr>
        <p:spPr>
          <a:xfrm>
            <a:off x="812800" y="2602706"/>
            <a:ext cx="6126460" cy="0"/>
          </a:xfrm>
          <a:prstGeom prst="line">
            <a:avLst/>
          </a:prstGeom>
          <a:noFill/>
          <a:ln w="6350">
            <a:solidFill>
              <a:srgbClr val="2A2E35"/>
            </a:solidFill>
            <a:prstDash val="solid"/>
          </a:ln>
        </p:spPr>
      </p:sp>
      <p:sp>
        <p:nvSpPr>
          <p:cNvPr id="8" name="Text 6"/>
          <p:cNvSpPr/>
          <p:nvPr/>
        </p:nvSpPr>
        <p:spPr>
          <a:xfrm>
            <a:off x="812800" y="2732881"/>
            <a:ext cx="196215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6A00"/>
                </a:solidFill>
                <a:latin typeface="Inter" pitchFamily="34" charset="0"/>
                <a:ea typeface="Inter" pitchFamily="34" charset="-122"/>
                <a:cs typeface="Inter" pitchFamily="34" charset="-120"/>
              </a:rPr>
              <a:t>Cookie httpOnly</a:t>
            </a:r>
            <a:endParaRPr lang="en-US" sz="1200" dirty="0"/>
          </a:p>
        </p:txBody>
      </p:sp>
      <p:sp>
        <p:nvSpPr>
          <p:cNvPr id="9" name="Text 7"/>
          <p:cNvSpPr/>
          <p:nvPr/>
        </p:nvSpPr>
        <p:spPr>
          <a:xfrm>
            <a:off x="2870200" y="2732881"/>
            <a:ext cx="419113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Le jeton n'est jamais lisible en JavaScript ; Next le relaie en Bearer.</a:t>
            </a:r>
            <a:endParaRPr lang="en-US" sz="1200" dirty="0"/>
          </a:p>
        </p:txBody>
      </p:sp>
      <p:sp>
        <p:nvSpPr>
          <p:cNvPr id="10" name="Shape 8"/>
          <p:cNvSpPr/>
          <p:nvPr/>
        </p:nvSpPr>
        <p:spPr>
          <a:xfrm>
            <a:off x="812800" y="3289697"/>
            <a:ext cx="6126460" cy="0"/>
          </a:xfrm>
          <a:prstGeom prst="line">
            <a:avLst/>
          </a:prstGeom>
          <a:noFill/>
          <a:ln w="6350">
            <a:solidFill>
              <a:srgbClr val="2A2E35"/>
            </a:solidFill>
            <a:prstDash val="solid"/>
          </a:ln>
        </p:spPr>
      </p:sp>
      <p:sp>
        <p:nvSpPr>
          <p:cNvPr id="11" name="Text 9"/>
          <p:cNvSpPr/>
          <p:nvPr/>
        </p:nvSpPr>
        <p:spPr>
          <a:xfrm>
            <a:off x="812800" y="3419872"/>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6A00"/>
                </a:solidFill>
                <a:latin typeface="Inter" pitchFamily="34" charset="0"/>
                <a:ea typeface="Inter" pitchFamily="34" charset="-122"/>
                <a:cs typeface="Inter" pitchFamily="34" charset="-120"/>
              </a:rPr>
              <a:t>Guards de l'API</a:t>
            </a:r>
            <a:endParaRPr lang="en-US" sz="1200" dirty="0"/>
          </a:p>
        </p:txBody>
      </p:sp>
      <p:sp>
        <p:nvSpPr>
          <p:cNvPr id="12" name="Text 10"/>
          <p:cNvSpPr/>
          <p:nvPr/>
        </p:nvSpPr>
        <p:spPr>
          <a:xfrm>
            <a:off x="2870200" y="3419872"/>
            <a:ext cx="4191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JwtAuthGuard et RolesGuard devant les routes.</a:t>
            </a:r>
            <a:endParaRPr lang="en-US" sz="1200" dirty="0"/>
          </a:p>
        </p:txBody>
      </p:sp>
      <p:sp>
        <p:nvSpPr>
          <p:cNvPr id="13" name="Shape 11"/>
          <p:cNvSpPr/>
          <p:nvPr/>
        </p:nvSpPr>
        <p:spPr>
          <a:xfrm>
            <a:off x="812800" y="3763367"/>
            <a:ext cx="6126460" cy="0"/>
          </a:xfrm>
          <a:prstGeom prst="line">
            <a:avLst/>
          </a:prstGeom>
          <a:noFill/>
          <a:ln w="6350">
            <a:solidFill>
              <a:srgbClr val="2A2E35"/>
            </a:solidFill>
            <a:prstDash val="solid"/>
          </a:ln>
        </p:spPr>
      </p:sp>
      <p:sp>
        <p:nvSpPr>
          <p:cNvPr id="14" name="Shape 12"/>
          <p:cNvSpPr/>
          <p:nvPr/>
        </p:nvSpPr>
        <p:spPr>
          <a:xfrm>
            <a:off x="812800" y="4237038"/>
            <a:ext cx="6126460" cy="0"/>
          </a:xfrm>
          <a:prstGeom prst="line">
            <a:avLst/>
          </a:prstGeom>
          <a:noFill/>
          <a:ln w="6350">
            <a:solidFill>
              <a:srgbClr val="2A2E35"/>
            </a:solidFill>
            <a:prstDash val="solid"/>
          </a:ln>
        </p:spPr>
      </p:sp>
      <p:sp>
        <p:nvSpPr>
          <p:cNvPr id="15" name="Text 13"/>
          <p:cNvSpPr/>
          <p:nvPr/>
        </p:nvSpPr>
        <p:spPr>
          <a:xfrm>
            <a:off x="812800" y="3893542"/>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6A00"/>
                </a:solidFill>
                <a:latin typeface="Inter" pitchFamily="34" charset="0"/>
                <a:ea typeface="Inter" pitchFamily="34" charset="-122"/>
                <a:cs typeface="Inter" pitchFamily="34" charset="-120"/>
              </a:rPr>
              <a:t>Use-case</a:t>
            </a:r>
            <a:endParaRPr lang="en-US" sz="1200" dirty="0"/>
          </a:p>
        </p:txBody>
      </p:sp>
      <p:sp>
        <p:nvSpPr>
          <p:cNvPr id="16" name="Text 14"/>
          <p:cNvSpPr/>
          <p:nvPr/>
        </p:nvSpPr>
        <p:spPr>
          <a:xfrm>
            <a:off x="2870200" y="3893542"/>
            <a:ext cx="4191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Le cloisonnement par atelier, vérifié à chaque opération.</a:t>
            </a:r>
            <a:endParaRPr lang="en-US" sz="1200" dirty="0"/>
          </a:p>
        </p:txBody>
      </p:sp>
      <p:sp>
        <p:nvSpPr>
          <p:cNvPr id="17" name="Shape 15"/>
          <p:cNvSpPr/>
          <p:nvPr/>
        </p:nvSpPr>
        <p:spPr>
          <a:xfrm>
            <a:off x="7294860" y="1912541"/>
            <a:ext cx="4084340" cy="1264841"/>
          </a:xfrm>
          <a:prstGeom prst="rect">
            <a:avLst/>
          </a:prstGeom>
          <a:solidFill>
            <a:srgbClr val="1C1F24"/>
          </a:solidFill>
          <a:ln/>
        </p:spPr>
      </p:sp>
      <p:sp>
        <p:nvSpPr>
          <p:cNvPr id="18" name="Text 16"/>
          <p:cNvSpPr/>
          <p:nvPr/>
        </p:nvSpPr>
        <p:spPr>
          <a:xfrm>
            <a:off x="7498060" y="2090341"/>
            <a:ext cx="3788278"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F6A00"/>
                </a:solidFill>
                <a:latin typeface="Barlow Condensed" pitchFamily="34" charset="0"/>
                <a:ea typeface="Barlow Condensed" pitchFamily="34" charset="-122"/>
                <a:cs typeface="Barlow Condensed" pitchFamily="34" charset="-120"/>
              </a:rPr>
              <a:t>404</a:t>
            </a:r>
            <a:endParaRPr lang="en-US" sz="3600" dirty="0"/>
          </a:p>
        </p:txBody>
      </p:sp>
      <p:sp>
        <p:nvSpPr>
          <p:cNvPr id="19" name="Text 17"/>
          <p:cNvSpPr/>
          <p:nvPr/>
        </p:nvSpPr>
        <p:spPr>
          <a:xfrm>
            <a:off x="7498060" y="2572941"/>
            <a:ext cx="378827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Sur la ressource d'un autre atelier : un 403 avouerait qu'elle existe.</a:t>
            </a:r>
            <a:endParaRPr lang="en-US" sz="1200" dirty="0"/>
          </a:p>
        </p:txBody>
      </p:sp>
      <p:sp>
        <p:nvSpPr>
          <p:cNvPr id="20" name="Shape 18"/>
          <p:cNvSpPr/>
          <p:nvPr/>
        </p:nvSpPr>
        <p:spPr>
          <a:xfrm>
            <a:off x="7294860" y="3329781"/>
            <a:ext cx="4084340" cy="1051520"/>
          </a:xfrm>
          <a:prstGeom prst="rect">
            <a:avLst/>
          </a:prstGeom>
          <a:solidFill>
            <a:srgbClr val="1C1F24"/>
          </a:solidFill>
          <a:ln/>
        </p:spPr>
      </p:sp>
      <p:sp>
        <p:nvSpPr>
          <p:cNvPr id="21" name="Text 19"/>
          <p:cNvSpPr/>
          <p:nvPr/>
        </p:nvSpPr>
        <p:spPr>
          <a:xfrm>
            <a:off x="7498060" y="3507581"/>
            <a:ext cx="3788278"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F6A00"/>
                </a:solidFill>
                <a:latin typeface="Barlow Condensed" pitchFamily="34" charset="0"/>
                <a:ea typeface="Barlow Condensed" pitchFamily="34" charset="-122"/>
                <a:cs typeface="Barlow Condensed" pitchFamily="34" charset="-120"/>
              </a:rPr>
              <a:t>403</a:t>
            </a:r>
            <a:endParaRPr lang="en-US" sz="3600" dirty="0"/>
          </a:p>
        </p:txBody>
      </p:sp>
      <p:sp>
        <p:nvSpPr>
          <p:cNvPr id="22" name="Text 20"/>
          <p:cNvSpPr/>
          <p:nvPr/>
        </p:nvSpPr>
        <p:spPr>
          <a:xfrm>
            <a:off x="7498060" y="3990181"/>
            <a:ext cx="37882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F"/>
                </a:solidFill>
                <a:latin typeface="Inter" pitchFamily="34" charset="0"/>
                <a:ea typeface="Inter" pitchFamily="34" charset="-122"/>
                <a:cs typeface="Inter" pitchFamily="34" charset="-120"/>
              </a:rPr>
              <a:t>Sur /admin/* pour qui n'est pas administrateur.</a:t>
            </a:r>
            <a:endParaRPr lang="en-US" sz="1200" dirty="0"/>
          </a:p>
        </p:txBody>
      </p:sp>
      <p:sp>
        <p:nvSpPr>
          <p:cNvPr id="23" name="Text 21"/>
          <p:cNvSpPr/>
          <p:nvPr/>
        </p:nvSpPr>
        <p:spPr>
          <a:xfrm>
            <a:off x="812800" y="6238280"/>
            <a:ext cx="2652236"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ARCHITECTURE</a:t>
            </a:r>
            <a:endParaRPr lang="en-US" sz="1200" dirty="0"/>
          </a:p>
        </p:txBody>
      </p:sp>
      <p:sp>
        <p:nvSpPr>
          <p:cNvPr id="24" name="Text 22"/>
          <p:cNvSpPr/>
          <p:nvPr/>
        </p:nvSpPr>
        <p:spPr>
          <a:xfrm>
            <a:off x="11141323" y="6238280"/>
            <a:ext cx="23787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06 · IA, SÉCURITÉ ET LIMITES</a:t>
            </a:r>
            <a:endParaRPr lang="en-US" sz="1200" dirty="0"/>
          </a:p>
        </p:txBody>
      </p:sp>
      <p:sp>
        <p:nvSpPr>
          <p:cNvPr id="3" name="Text 1"/>
          <p:cNvSpPr/>
          <p:nvPr>
            <p:ph type="title"/>
          </p:nvPr>
        </p:nvSpPr>
        <p:spPr>
          <a:xfrm>
            <a:off x="812800" y="11277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L'IA ÉCRIT, JE DÉCIDE</a:t>
            </a:r>
            <a:endParaRPr lang="en-US" sz="3600" dirty="0"/>
          </a:p>
        </p:txBody>
      </p:sp>
      <p:sp>
        <p:nvSpPr>
          <p:cNvPr id="4" name="Text 2"/>
          <p:cNvSpPr/>
          <p:nvPr/>
        </p:nvSpPr>
        <p:spPr>
          <a:xfrm>
            <a:off x="812800" y="1912541"/>
            <a:ext cx="420687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A1AB"/>
                </a:solidFill>
                <a:latin typeface="Inter" pitchFamily="34" charset="0"/>
                <a:ea typeface="Inter" pitchFamily="34" charset="-122"/>
                <a:cs typeface="Inter" pitchFamily="34" charset="-120"/>
              </a:rPr>
              <a:t>OUTIL</a:t>
            </a:r>
            <a:endParaRPr lang="en-US" sz="1200" dirty="0"/>
          </a:p>
        </p:txBody>
      </p:sp>
      <p:sp>
        <p:nvSpPr>
          <p:cNvPr id="5" name="Text 3"/>
          <p:cNvSpPr/>
          <p:nvPr/>
        </p:nvSpPr>
        <p:spPr>
          <a:xfrm>
            <a:off x="812800" y="2176661"/>
            <a:ext cx="420687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3C8CF"/>
                </a:solidFill>
                <a:latin typeface="Inter" pitchFamily="34" charset="0"/>
                <a:ea typeface="Inter" pitchFamily="34" charset="-122"/>
                <a:cs typeface="Inter" pitchFamily="34" charset="-120"/>
              </a:rPr>
              <a:t>Claude Code, en agent de développement, sur toute la durée du projet.</a:t>
            </a:r>
            <a:endParaRPr lang="en-US" sz="1200" dirty="0"/>
          </a:p>
        </p:txBody>
      </p:sp>
      <p:sp>
        <p:nvSpPr>
          <p:cNvPr id="6" name="Text 4"/>
          <p:cNvSpPr/>
          <p:nvPr/>
        </p:nvSpPr>
        <p:spPr>
          <a:xfrm>
            <a:off x="812800" y="2796381"/>
            <a:ext cx="420687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A1AB"/>
                </a:solidFill>
                <a:latin typeface="Inter" pitchFamily="34" charset="0"/>
                <a:ea typeface="Inter" pitchFamily="34" charset="-122"/>
                <a:cs typeface="Inter" pitchFamily="34" charset="-120"/>
              </a:rPr>
              <a:t>CONFIÉ</a:t>
            </a:r>
            <a:endParaRPr lang="en-US" sz="1200" dirty="0"/>
          </a:p>
        </p:txBody>
      </p:sp>
      <p:sp>
        <p:nvSpPr>
          <p:cNvPr id="7" name="Text 5"/>
          <p:cNvSpPr/>
          <p:nvPr/>
        </p:nvSpPr>
        <p:spPr>
          <a:xfrm>
            <a:off x="812800" y="3060502"/>
            <a:ext cx="4206870"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3C8CF"/>
                </a:solidFill>
                <a:latin typeface="Inter" pitchFamily="34" charset="0"/>
                <a:ea typeface="Inter" pitchFamily="34" charset="-122"/>
                <a:cs typeface="Inter" pitchFamily="34" charset="-120"/>
              </a:rPr>
              <a:t>Spec et modèle de données, modules de l'API, migrations, composants, tests, Dockerfiles, revue de conformité au sujet.</a:t>
            </a:r>
            <a:endParaRPr lang="en-US" sz="1200" dirty="0"/>
          </a:p>
        </p:txBody>
      </p:sp>
      <p:sp>
        <p:nvSpPr>
          <p:cNvPr id="8" name="Text 6"/>
          <p:cNvSpPr/>
          <p:nvPr/>
        </p:nvSpPr>
        <p:spPr>
          <a:xfrm>
            <a:off x="812800" y="3901182"/>
            <a:ext cx="420687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A1AB"/>
                </a:solidFill>
                <a:latin typeface="Inter" pitchFamily="34" charset="0"/>
                <a:ea typeface="Inter" pitchFamily="34" charset="-122"/>
                <a:cs typeface="Inter" pitchFamily="34" charset="-120"/>
              </a:rPr>
              <a:t>GARDÉ</a:t>
            </a:r>
            <a:endParaRPr lang="en-US" sz="1200" dirty="0"/>
          </a:p>
        </p:txBody>
      </p:sp>
      <p:sp>
        <p:nvSpPr>
          <p:cNvPr id="9" name="Text 7"/>
          <p:cNvSpPr/>
          <p:nvPr/>
        </p:nvSpPr>
        <p:spPr>
          <a:xfrm>
            <a:off x="812800" y="4165302"/>
            <a:ext cx="443994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3C8CF"/>
                </a:solidFill>
                <a:latin typeface="Inter" pitchFamily="34" charset="0"/>
                <a:ea typeface="Inter" pitchFamily="34" charset="-122"/>
                <a:cs typeface="Inter" pitchFamily="34" charset="-120"/>
              </a:rPr>
              <a:t>Quoi construire, dans quel ordre, avec quels arbitrages.</a:t>
            </a:r>
            <a:endParaRPr lang="en-US" sz="1200" dirty="0"/>
          </a:p>
        </p:txBody>
      </p:sp>
      <p:sp>
        <p:nvSpPr>
          <p:cNvPr id="10" name="Text 8"/>
          <p:cNvSpPr/>
          <p:nvPr/>
        </p:nvSpPr>
        <p:spPr>
          <a:xfrm>
            <a:off x="812800" y="4564063"/>
            <a:ext cx="4084340" cy="416520"/>
          </a:xfrm>
          <a:prstGeom prst="rect">
            <a:avLst/>
          </a:prstGeom>
          <a:solidFill>
            <a:srgbClr val="FF6A00"/>
          </a:solidFill>
          <a:ln/>
        </p:spPr>
        <p:txBody>
          <a:bodyPr wrap="square" lIns="152400" tIns="101600" rIns="39014" bIns="76200" rtlCol="0" anchor="t">
            <a:normAutofit/>
          </a:bodyPr>
          <a:lstStyle/>
          <a:p>
            <a:pPr algn="l" indent="0" marL="0">
              <a:lnSpc>
                <a:spcPts val="1680"/>
              </a:lnSpc>
              <a:buNone/>
            </a:pPr>
            <a:r>
              <a:rPr lang="en-US" sz="1200" b="1" dirty="0">
                <a:solidFill>
                  <a:srgbClr val="0B0C0E"/>
                </a:solidFill>
                <a:latin typeface="Inter" pitchFamily="34" charset="0"/>
                <a:ea typeface="Inter" pitchFamily="34" charset="-122"/>
                <a:cs typeface="Inter" pitchFamily="34" charset="-120"/>
              </a:rPr>
              <a:t>Aucun agent pendant le live coding.</a:t>
            </a:r>
            <a:endParaRPr lang="en-US" sz="1200" dirty="0"/>
          </a:p>
        </p:txBody>
      </p:sp>
      <p:sp>
        <p:nvSpPr>
          <p:cNvPr id="11" name="Text 9"/>
          <p:cNvSpPr/>
          <p:nvPr/>
        </p:nvSpPr>
        <p:spPr>
          <a:xfrm>
            <a:off x="5252740" y="1912541"/>
            <a:ext cx="631025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A1AB"/>
                </a:solidFill>
                <a:latin typeface="Inter" pitchFamily="34" charset="0"/>
                <a:ea typeface="Inter" pitchFamily="34" charset="-122"/>
                <a:cs typeface="Inter" pitchFamily="34" charset="-120"/>
              </a:rPr>
              <a:t>PROPOSÉ PAR L'IA, CORRIGÉ OU REFUSÉ</a:t>
            </a:r>
            <a:endParaRPr lang="en-US" sz="1200" dirty="0"/>
          </a:p>
        </p:txBody>
      </p:sp>
      <p:sp>
        <p:nvSpPr>
          <p:cNvPr id="12" name="Shape 10"/>
          <p:cNvSpPr/>
          <p:nvPr/>
        </p:nvSpPr>
        <p:spPr>
          <a:xfrm>
            <a:off x="5252740" y="2202061"/>
            <a:ext cx="6126460" cy="718741"/>
          </a:xfrm>
          <a:prstGeom prst="rect">
            <a:avLst/>
          </a:prstGeom>
          <a:solidFill>
            <a:srgbClr val="131518"/>
          </a:solidFill>
          <a:ln/>
        </p:spPr>
      </p:sp>
      <p:sp>
        <p:nvSpPr>
          <p:cNvPr id="13" name="Text 11"/>
          <p:cNvSpPr/>
          <p:nvPr/>
        </p:nvSpPr>
        <p:spPr>
          <a:xfrm>
            <a:off x="5430540" y="2329061"/>
            <a:ext cx="59439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6F8"/>
                </a:solidFill>
                <a:latin typeface="Inter" pitchFamily="34" charset="0"/>
                <a:ea typeface="Inter" pitchFamily="34" charset="-122"/>
                <a:cs typeface="Inter" pitchFamily="34" charset="-120"/>
              </a:rPr>
              <a:t>403 sur la ressource d'un autre atelier</a:t>
            </a:r>
            <a:endParaRPr lang="en-US" sz="1200" dirty="0"/>
          </a:p>
        </p:txBody>
      </p:sp>
      <p:sp>
        <p:nvSpPr>
          <p:cNvPr id="14" name="Text 12"/>
          <p:cNvSpPr/>
          <p:nvPr/>
        </p:nvSpPr>
        <p:spPr>
          <a:xfrm>
            <a:off x="5430540" y="2580481"/>
            <a:ext cx="59439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Corrigé en 404 : un 403 avoue que la ressource existe.</a:t>
            </a:r>
            <a:endParaRPr lang="en-US" sz="1200" dirty="0"/>
          </a:p>
        </p:txBody>
      </p:sp>
      <p:sp>
        <p:nvSpPr>
          <p:cNvPr id="15" name="Shape 13"/>
          <p:cNvSpPr/>
          <p:nvPr/>
        </p:nvSpPr>
        <p:spPr>
          <a:xfrm>
            <a:off x="5252740" y="2997002"/>
            <a:ext cx="6126460" cy="718741"/>
          </a:xfrm>
          <a:prstGeom prst="rect">
            <a:avLst/>
          </a:prstGeom>
          <a:solidFill>
            <a:srgbClr val="131518"/>
          </a:solidFill>
          <a:ln/>
        </p:spPr>
      </p:sp>
      <p:sp>
        <p:nvSpPr>
          <p:cNvPr id="16" name="Text 14"/>
          <p:cNvSpPr/>
          <p:nvPr/>
        </p:nvSpPr>
        <p:spPr>
          <a:xfrm>
            <a:off x="5430540" y="3124002"/>
            <a:ext cx="59439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6F8"/>
                </a:solidFill>
                <a:latin typeface="Inter" pitchFamily="34" charset="0"/>
                <a:ea typeface="Inter" pitchFamily="34" charset="-122"/>
                <a:cs typeface="Inter" pitchFamily="34" charset="-120"/>
              </a:rPr>
              <a:t>Une préférence de notifications e-mail</a:t>
            </a:r>
            <a:endParaRPr lang="en-US" sz="1200" dirty="0"/>
          </a:p>
        </p:txBody>
      </p:sp>
      <p:sp>
        <p:nvSpPr>
          <p:cNvPr id="17" name="Text 15"/>
          <p:cNvSpPr/>
          <p:nvPr/>
        </p:nvSpPr>
        <p:spPr>
          <a:xfrm>
            <a:off x="5430540" y="3375422"/>
            <a:ext cx="59439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Refusée : rien n'envoie d'e-mail, le réglage serait vide.</a:t>
            </a:r>
            <a:endParaRPr lang="en-US" sz="1200" dirty="0"/>
          </a:p>
        </p:txBody>
      </p:sp>
      <p:sp>
        <p:nvSpPr>
          <p:cNvPr id="18" name="Shape 16"/>
          <p:cNvSpPr/>
          <p:nvPr/>
        </p:nvSpPr>
        <p:spPr>
          <a:xfrm>
            <a:off x="5252740" y="3791942"/>
            <a:ext cx="6126460" cy="718741"/>
          </a:xfrm>
          <a:prstGeom prst="rect">
            <a:avLst/>
          </a:prstGeom>
          <a:solidFill>
            <a:srgbClr val="131518"/>
          </a:solidFill>
          <a:ln/>
        </p:spPr>
      </p:sp>
      <p:sp>
        <p:nvSpPr>
          <p:cNvPr id="19" name="Text 17"/>
          <p:cNvSpPr/>
          <p:nvPr/>
        </p:nvSpPr>
        <p:spPr>
          <a:xfrm>
            <a:off x="5430540" y="3918942"/>
            <a:ext cx="59439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6F8"/>
                </a:solidFill>
                <a:latin typeface="Inter" pitchFamily="34" charset="0"/>
                <a:ea typeface="Inter" pitchFamily="34" charset="-122"/>
                <a:cs typeface="Inter" pitchFamily="34" charset="-120"/>
              </a:rPr>
              <a:t>Un conteneur de dépendances React</a:t>
            </a:r>
            <a:endParaRPr lang="en-US" sz="1200" dirty="0"/>
          </a:p>
        </p:txBody>
      </p:sp>
      <p:sp>
        <p:nvSpPr>
          <p:cNvPr id="20" name="Text 18"/>
          <p:cNvSpPr/>
          <p:nvPr/>
        </p:nvSpPr>
        <p:spPr>
          <a:xfrm>
            <a:off x="5430540" y="4170363"/>
            <a:ext cx="59439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Refusé : les adapters ne tournent que côté serveur.</a:t>
            </a:r>
            <a:endParaRPr lang="en-US" sz="1200" dirty="0"/>
          </a:p>
        </p:txBody>
      </p:sp>
      <p:sp>
        <p:nvSpPr>
          <p:cNvPr id="21" name="Shape 19"/>
          <p:cNvSpPr/>
          <p:nvPr/>
        </p:nvSpPr>
        <p:spPr>
          <a:xfrm>
            <a:off x="5252740" y="4586883"/>
            <a:ext cx="6126460" cy="718741"/>
          </a:xfrm>
          <a:prstGeom prst="rect">
            <a:avLst/>
          </a:prstGeom>
          <a:solidFill>
            <a:srgbClr val="131518"/>
          </a:solidFill>
          <a:ln/>
        </p:spPr>
      </p:sp>
      <p:sp>
        <p:nvSpPr>
          <p:cNvPr id="22" name="Text 20"/>
          <p:cNvSpPr/>
          <p:nvPr/>
        </p:nvSpPr>
        <p:spPr>
          <a:xfrm>
            <a:off x="5430540" y="4713883"/>
            <a:ext cx="59439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6F8"/>
                </a:solidFill>
                <a:latin typeface="Inter" pitchFamily="34" charset="0"/>
                <a:ea typeface="Inter" pitchFamily="34" charset="-122"/>
                <a:cs typeface="Inter" pitchFamily="34" charset="-120"/>
              </a:rPr>
              <a:t>Une image Docker distroless</a:t>
            </a:r>
            <a:endParaRPr lang="en-US" sz="1200" dirty="0"/>
          </a:p>
        </p:txBody>
      </p:sp>
      <p:sp>
        <p:nvSpPr>
          <p:cNvPr id="23" name="Text 21"/>
          <p:cNvSpPr/>
          <p:nvPr/>
        </p:nvSpPr>
        <p:spPr>
          <a:xfrm>
            <a:off x="5430540" y="4965303"/>
            <a:ext cx="59439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Refusée : scan déjà à zéro, et plus de shell pour le compose.</a:t>
            </a:r>
            <a:endParaRPr lang="en-US" sz="1200" dirty="0"/>
          </a:p>
        </p:txBody>
      </p:sp>
      <p:sp>
        <p:nvSpPr>
          <p:cNvPr id="24" name="Text 22"/>
          <p:cNvSpPr/>
          <p:nvPr/>
        </p:nvSpPr>
        <p:spPr>
          <a:xfrm>
            <a:off x="812800" y="6238280"/>
            <a:ext cx="404997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COMMUN AUX TROIS NOTES</a:t>
            </a:r>
            <a:endParaRPr lang="en-US" sz="1200" dirty="0"/>
          </a:p>
        </p:txBody>
      </p:sp>
      <p:sp>
        <p:nvSpPr>
          <p:cNvPr id="25" name="Text 23"/>
          <p:cNvSpPr/>
          <p:nvPr/>
        </p:nvSpPr>
        <p:spPr>
          <a:xfrm>
            <a:off x="11139388" y="6238280"/>
            <a:ext cx="23981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06 · IA, SÉCURITÉ ET LIMITES</a:t>
            </a:r>
            <a:endParaRPr lang="en-US" sz="1200" dirty="0"/>
          </a:p>
        </p:txBody>
      </p:sp>
      <p:sp>
        <p:nvSpPr>
          <p:cNvPr id="3" name="Text 1"/>
          <p:cNvSpPr/>
          <p:nvPr>
            <p:ph type="title"/>
          </p:nvPr>
        </p:nvSpPr>
        <p:spPr>
          <a:xfrm>
            <a:off x="812800" y="11277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LES LIMITES CONNUES, ET CE QUI LES BORNE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25241"/>
          <a:ext cx="10553700" cy="3230563"/>
        </p:xfrm>
        <a:graphic>
          <a:graphicData uri="http://schemas.openxmlformats.org/drawingml/2006/table">
            <a:tbl>
              <a:tblPr/>
              <a:tblGrid>
                <a:gridCol w="3588258"/>
                <a:gridCol w="6965442"/>
              </a:tblGrid>
              <a:tr h="403820">
                <a:tc>
                  <a:txBody>
                    <a:bodyPr/>
                    <a:lstStyle/>
                    <a:p>
                      <a:pPr indent="0" marL="0">
                        <a:lnSpc>
                          <a:spcPts val="1680"/>
                        </a:lnSpc>
                        <a:buNone/>
                      </a:pPr>
                      <a:r>
                        <a:rPr lang="en-US" sz="1200" b="1" dirty="0">
                          <a:solidFill>
                            <a:srgbClr val="F4F6F8"/>
                          </a:solidFill>
                          <a:latin typeface="Inter" pitchFamily="34" charset="0"/>
                          <a:ea typeface="Inter" pitchFamily="34" charset="-122"/>
                          <a:cs typeface="Inter" pitchFamily="34" charset="-120"/>
                        </a:rPr>
                        <a:t>Limite</a:t>
                      </a:r>
                      <a:endParaRPr lang="en-US" sz="1200" dirty="0">
                        <a:latin typeface="Inter" charset="0"/>
                        <a:ea typeface="Inter" charset="0"/>
                        <a:cs typeface="Inter" charset="0"/>
                      </a:endParaRPr>
                    </a:p>
                  </a:txBody>
                  <a:tcPr marL="152400" marR="152400" marT="88900" marB="88900" anchor="t">
                    <a:lnL w="12700" cap="flat" cmpd="sng" algn="ctr">
                      <a:solidFill>
                        <a:srgbClr val="404041"/>
                      </a:solidFill>
                      <a:prstDash val="solid"/>
                      <a:round/>
                      <a:headEnd type="none" w="med" len="med"/>
                      <a:tailEnd type="none" w="med" len="med"/>
                    </a:lnL>
                    <a:lnR w="12700" cap="flat" cmpd="sng" algn="ctr">
                      <a:solidFill>
                        <a:srgbClr val="4D4F52"/>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D4F52"/>
                      </a:solidFill>
                      <a:prstDash val="solid"/>
                      <a:round/>
                      <a:headEnd type="none" w="med" len="med"/>
                      <a:tailEnd type="none" w="med" len="med"/>
                    </a:lnB>
                    <a:solidFill>
                      <a:srgbClr val="1C1F24"/>
                    </a:solidFill>
                  </a:tcPr>
                </a:tc>
                <a:tc>
                  <a:txBody>
                    <a:bodyPr/>
                    <a:lstStyle/>
                    <a:p>
                      <a:pPr indent="0" marL="0">
                        <a:lnSpc>
                          <a:spcPts val="1680"/>
                        </a:lnSpc>
                        <a:buNone/>
                      </a:pPr>
                      <a:r>
                        <a:rPr lang="en-US" sz="1200" b="1" dirty="0">
                          <a:solidFill>
                            <a:srgbClr val="F4F6F8"/>
                          </a:solidFill>
                          <a:latin typeface="Inter" pitchFamily="34" charset="0"/>
                          <a:ea typeface="Inter" pitchFamily="34" charset="-122"/>
                          <a:cs typeface="Inter" pitchFamily="34" charset="-120"/>
                        </a:rPr>
                        <a:t>Ce qui la borne</a:t>
                      </a:r>
                      <a:endParaRPr lang="en-US" sz="1200" dirty="0">
                        <a:latin typeface="Inter" charset="0"/>
                        <a:ea typeface="Inter" charset="0"/>
                        <a:cs typeface="Inter" charset="0"/>
                      </a:endParaRPr>
                    </a:p>
                  </a:txBody>
                  <a:tcPr marL="152400" marR="152400" marT="88900" marB="88900" anchor="t">
                    <a:lnL w="12700" cap="flat" cmpd="sng" algn="ctr">
                      <a:solidFill>
                        <a:srgbClr val="4D4F52"/>
                      </a:solidFill>
                      <a:prstDash val="solid"/>
                      <a:round/>
                      <a:headEnd type="none" w="med" len="med"/>
                      <a:tailEnd type="none" w="med" len="med"/>
                    </a:lnL>
                    <a:lnR w="12700" cap="flat" cmpd="sng" algn="ctr">
                      <a:solidFill>
                        <a:srgbClr val="4D4F52"/>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D4F52"/>
                      </a:solidFill>
                      <a:prstDash val="solid"/>
                      <a:round/>
                      <a:headEnd type="none" w="med" len="med"/>
                      <a:tailEnd type="none" w="med" len="med"/>
                    </a:lnB>
                    <a:solidFill>
                      <a:srgbClr val="1C1F24"/>
                    </a:solidFill>
                  </a:tcPr>
                </a:tc>
              </a:tr>
              <a:tr h="4038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Un QR se photographie</a:t>
                      </a:r>
                      <a:endParaRPr lang="en-US" sz="1200" dirty="0">
                        <a:latin typeface="Inter" charset="0"/>
                        <a:ea typeface="Inter" charset="0"/>
                        <a:cs typeface="Inter" charset="0"/>
                      </a:endParaRPr>
                    </a:p>
                  </a:txBody>
                  <a:tcPr marL="152400" marR="152400" marT="88900" marB="889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D4F52"/>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Fenêtre de 45 min, réservation sur cette machine, jeton régénérable</a:t>
                      </a:r>
                      <a:endParaRPr lang="en-US" sz="1200" dirty="0">
                        <a:latin typeface="Inter" charset="0"/>
                        <a:ea typeface="Inter" charset="0"/>
                        <a:cs typeface="Inter" charset="0"/>
                      </a:endParaRPr>
                    </a:p>
                  </a:txBody>
                  <a:tcPr marL="152400" marR="152400" marT="88900" marB="889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D4F52"/>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r h="4038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Pas de révocation de session</a:t>
                      </a:r>
                      <a:endParaRPr lang="en-US" sz="1200" dirty="0">
                        <a:latin typeface="Inter" charset="0"/>
                        <a:ea typeface="Inter" charset="0"/>
                        <a:cs typeface="Inter" charset="0"/>
                      </a:endParaRPr>
                    </a:p>
                  </a:txBody>
                  <a:tcPr marL="152400" marR="152400" marT="88900" marB="889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Dit à l'écran au changement de mot de passe, figé par un test</a:t>
                      </a:r>
                      <a:endParaRPr lang="en-US" sz="1200" dirty="0">
                        <a:latin typeface="Inter" charset="0"/>
                        <a:ea typeface="Inter" charset="0"/>
                        <a:cs typeface="Inter" charset="0"/>
                      </a:endParaRPr>
                    </a:p>
                  </a:txBody>
                  <a:tcPr marL="152400" marR="152400" marT="88900" marB="889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r>
              <a:tr h="4038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Pas de pointage membre web</a:t>
                      </a:r>
                      <a:endParaRPr lang="en-US" sz="1200" dirty="0">
                        <a:latin typeface="Inter" charset="0"/>
                        <a:ea typeface="Inter" charset="0"/>
                        <a:cs typeface="Inter" charset="0"/>
                      </a:endParaRPr>
                    </a:p>
                  </a:txBody>
                  <a:tcPr marL="152400" marR="152400" marT="88900" marB="889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Le fabmanager pointe à sa place ; le téléphone scanne</a:t>
                      </a:r>
                      <a:endParaRPr lang="en-US" sz="1200" dirty="0">
                        <a:latin typeface="Inter" charset="0"/>
                        <a:ea typeface="Inter" charset="0"/>
                        <a:cs typeface="Inter" charset="0"/>
                      </a:endParaRPr>
                    </a:p>
                  </a:txBody>
                  <a:tcPr marL="152400" marR="152400" marT="88900" marB="889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r h="4038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Horaires constants, 8 h – 22 h</a:t>
                      </a:r>
                      <a:endParaRPr lang="en-US" sz="1200" dirty="0">
                        <a:latin typeface="Inter" charset="0"/>
                        <a:ea typeface="Inter" charset="0"/>
                        <a:cs typeface="Inter" charset="0"/>
                      </a:endParaRPr>
                    </a:p>
                  </a:txBody>
                  <a:tcPr marL="152400" marR="152400" marT="88900" marB="889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Par atelier en v1.1</a:t>
                      </a:r>
                      <a:endParaRPr lang="en-US" sz="1200" dirty="0">
                        <a:latin typeface="Inter" charset="0"/>
                        <a:ea typeface="Inter" charset="0"/>
                        <a:cs typeface="Inter" charset="0"/>
                      </a:endParaRPr>
                    </a:p>
                  </a:txBody>
                  <a:tcPr marL="152400" marR="152400" marT="88900" marB="889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r>
              <a:tr h="4038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Aucun e-mail</a:t>
                      </a:r>
                      <a:endParaRPr lang="en-US" sz="1200" dirty="0">
                        <a:latin typeface="Inter" charset="0"/>
                        <a:ea typeface="Inter" charset="0"/>
                        <a:cs typeface="Inter" charset="0"/>
                      </a:endParaRPr>
                    </a:p>
                  </a:txBody>
                  <a:tcPr marL="152400" marR="152400" marT="88900" marB="889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Donc aucune préférence de notification qui ne ferait rien</a:t>
                      </a:r>
                      <a:endParaRPr lang="en-US" sz="1200" dirty="0">
                        <a:latin typeface="Inter" charset="0"/>
                        <a:ea typeface="Inter" charset="0"/>
                        <a:cs typeface="Inter" charset="0"/>
                      </a:endParaRPr>
                    </a:p>
                  </a:txBody>
                  <a:tcPr marL="152400" marR="152400" marT="88900" marB="889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r h="4038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Écrans mobiles non testés</a:t>
                      </a:r>
                      <a:endParaRPr lang="en-US" sz="1200" dirty="0">
                        <a:latin typeface="Inter" charset="0"/>
                        <a:ea typeface="Inter" charset="0"/>
                        <a:cs typeface="Inter" charset="0"/>
                      </a:endParaRPr>
                    </a:p>
                  </a:txBody>
                  <a:tcPr marL="152400" marR="152400" marT="88900" marB="889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Modèles et calcul des créneaux testés ; parcours rejoué à la main</a:t>
                      </a:r>
                      <a:endParaRPr lang="en-US" sz="1200" dirty="0">
                        <a:latin typeface="Inter" charset="0"/>
                        <a:ea typeface="Inter" charset="0"/>
                        <a:cs typeface="Inter" charset="0"/>
                      </a:endParaRPr>
                    </a:p>
                  </a:txBody>
                  <a:tcPr marL="152400" marR="152400" marT="88900" marB="889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r>
              <a:tr h="4038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Pas de pagination</a:t>
                      </a:r>
                      <a:endParaRPr lang="en-US" sz="1200" dirty="0">
                        <a:latin typeface="Inter" charset="0"/>
                        <a:ea typeface="Inter" charset="0"/>
                        <a:cs typeface="Inter" charset="0"/>
                      </a:endParaRPr>
                    </a:p>
                  </a:txBody>
                  <a:tcPr marL="152400" marR="152400" marT="88900" marB="889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Filtres et plafond, suffisants à l'échelle de la démo</a:t>
                      </a:r>
                      <a:endParaRPr lang="en-US" sz="1200" dirty="0">
                        <a:latin typeface="Inter" charset="0"/>
                        <a:ea typeface="Inter" charset="0"/>
                        <a:cs typeface="Inter" charset="0"/>
                      </a:endParaRPr>
                    </a:p>
                  </a:txBody>
                  <a:tcPr marL="152400" marR="152400" marT="88900" marB="889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bl>
          </a:graphicData>
        </a:graphic>
      </p:graphicFrame>
      <p:sp>
        <p:nvSpPr>
          <p:cNvPr id="5" name="Text 2"/>
          <p:cNvSpPr/>
          <p:nvPr/>
        </p:nvSpPr>
        <p:spPr>
          <a:xfrm>
            <a:off x="812800" y="6238280"/>
            <a:ext cx="404997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COMMUN AUX TROIS NOTES</a:t>
            </a:r>
            <a:endParaRPr lang="en-US" sz="1200" dirty="0"/>
          </a:p>
        </p:txBody>
      </p:sp>
      <p:sp>
        <p:nvSpPr>
          <p:cNvPr id="6" name="Text 3"/>
          <p:cNvSpPr/>
          <p:nvPr/>
        </p:nvSpPr>
        <p:spPr>
          <a:xfrm>
            <a:off x="11145044" y="6238280"/>
            <a:ext cx="23415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06 · QUALITÉ</a:t>
            </a:r>
            <a:endParaRPr lang="en-US" sz="1200" dirty="0"/>
          </a:p>
        </p:txBody>
      </p:sp>
      <p:sp>
        <p:nvSpPr>
          <p:cNvPr id="3" name="Text 1"/>
          <p:cNvSpPr/>
          <p:nvPr>
            <p:ph type="title"/>
          </p:nvPr>
        </p:nvSpPr>
        <p:spPr>
          <a:xfrm>
            <a:off x="812800" y="11277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CE QUI TIENT LE PRODUIT DEBOUT</a:t>
            </a:r>
            <a:endParaRPr lang="en-US" sz="3600" dirty="0"/>
          </a:p>
        </p:txBody>
      </p:sp>
      <p:sp>
        <p:nvSpPr>
          <p:cNvPr id="4" name="Shape 2"/>
          <p:cNvSpPr/>
          <p:nvPr/>
        </p:nvSpPr>
        <p:spPr>
          <a:xfrm>
            <a:off x="812800" y="2026841"/>
            <a:ext cx="2527300" cy="0"/>
          </a:xfrm>
          <a:prstGeom prst="line">
            <a:avLst/>
          </a:prstGeom>
          <a:noFill/>
          <a:ln w="25400">
            <a:solidFill>
              <a:srgbClr val="FF6A00"/>
            </a:solidFill>
            <a:prstDash val="solid"/>
          </a:ln>
        </p:spPr>
      </p:sp>
      <p:sp>
        <p:nvSpPr>
          <p:cNvPr id="5" name="Text 3"/>
          <p:cNvSpPr/>
          <p:nvPr/>
        </p:nvSpPr>
        <p:spPr>
          <a:xfrm>
            <a:off x="812800" y="2191941"/>
            <a:ext cx="2603119"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4F6F8"/>
                </a:solidFill>
                <a:latin typeface="Barlow Condensed" pitchFamily="34" charset="0"/>
                <a:ea typeface="Barlow Condensed" pitchFamily="34" charset="-122"/>
                <a:cs typeface="Barlow Condensed" pitchFamily="34" charset="-120"/>
              </a:rPr>
              <a:t>785</a:t>
            </a:r>
            <a:endParaRPr lang="en-US" sz="8000" dirty="0"/>
          </a:p>
        </p:txBody>
      </p:sp>
      <p:sp>
        <p:nvSpPr>
          <p:cNvPr id="6" name="Text 4"/>
          <p:cNvSpPr/>
          <p:nvPr/>
        </p:nvSpPr>
        <p:spPr>
          <a:xfrm>
            <a:off x="812800" y="3284141"/>
            <a:ext cx="26031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tests unitaires et d'intégration dans pnpm check</a:t>
            </a:r>
            <a:endParaRPr lang="en-US" sz="1200" dirty="0"/>
          </a:p>
        </p:txBody>
      </p:sp>
      <p:sp>
        <p:nvSpPr>
          <p:cNvPr id="7" name="Shape 5"/>
          <p:cNvSpPr/>
          <p:nvPr/>
        </p:nvSpPr>
        <p:spPr>
          <a:xfrm>
            <a:off x="3492500" y="2026841"/>
            <a:ext cx="2527300" cy="0"/>
          </a:xfrm>
          <a:prstGeom prst="line">
            <a:avLst/>
          </a:prstGeom>
          <a:noFill/>
          <a:ln w="25400">
            <a:solidFill>
              <a:srgbClr val="FF6A00"/>
            </a:solidFill>
            <a:prstDash val="solid"/>
          </a:ln>
        </p:spPr>
      </p:sp>
      <p:sp>
        <p:nvSpPr>
          <p:cNvPr id="8" name="Text 6"/>
          <p:cNvSpPr/>
          <p:nvPr/>
        </p:nvSpPr>
        <p:spPr>
          <a:xfrm>
            <a:off x="3492500" y="2191941"/>
            <a:ext cx="2603119"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4F6F8"/>
                </a:solidFill>
                <a:latin typeface="Barlow Condensed" pitchFamily="34" charset="0"/>
                <a:ea typeface="Barlow Condensed" pitchFamily="34" charset="-122"/>
                <a:cs typeface="Barlow Condensed" pitchFamily="34" charset="-120"/>
              </a:rPr>
              <a:t>104</a:t>
            </a:r>
            <a:endParaRPr lang="en-US" sz="8000" dirty="0"/>
          </a:p>
        </p:txBody>
      </p:sp>
      <p:sp>
        <p:nvSpPr>
          <p:cNvPr id="9" name="Text 7"/>
          <p:cNvSpPr/>
          <p:nvPr/>
        </p:nvSpPr>
        <p:spPr>
          <a:xfrm>
            <a:off x="3492500" y="3284141"/>
            <a:ext cx="26031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E2E Playwright, base vidée puis semée à chaque campagne</a:t>
            </a:r>
            <a:endParaRPr lang="en-US" sz="1200" dirty="0"/>
          </a:p>
        </p:txBody>
      </p:sp>
      <p:sp>
        <p:nvSpPr>
          <p:cNvPr id="10" name="Shape 8"/>
          <p:cNvSpPr/>
          <p:nvPr/>
        </p:nvSpPr>
        <p:spPr>
          <a:xfrm>
            <a:off x="6172200" y="2026841"/>
            <a:ext cx="2527300" cy="0"/>
          </a:xfrm>
          <a:prstGeom prst="line">
            <a:avLst/>
          </a:prstGeom>
          <a:noFill/>
          <a:ln w="25400">
            <a:solidFill>
              <a:srgbClr val="FF6A00"/>
            </a:solidFill>
            <a:prstDash val="solid"/>
          </a:ln>
        </p:spPr>
      </p:sp>
      <p:sp>
        <p:nvSpPr>
          <p:cNvPr id="11" name="Text 9"/>
          <p:cNvSpPr/>
          <p:nvPr/>
        </p:nvSpPr>
        <p:spPr>
          <a:xfrm>
            <a:off x="6172200" y="2191941"/>
            <a:ext cx="2603119"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4F6F8"/>
                </a:solidFill>
                <a:latin typeface="Barlow Condensed" pitchFamily="34" charset="0"/>
                <a:ea typeface="Barlow Condensed" pitchFamily="34" charset="-122"/>
                <a:cs typeface="Barlow Condensed" pitchFamily="34" charset="-120"/>
              </a:rPr>
              <a:t>39</a:t>
            </a:r>
            <a:endParaRPr lang="en-US" sz="8000" dirty="0"/>
          </a:p>
        </p:txBody>
      </p:sp>
      <p:sp>
        <p:nvSpPr>
          <p:cNvPr id="12" name="Text 10"/>
          <p:cNvSpPr/>
          <p:nvPr/>
        </p:nvSpPr>
        <p:spPr>
          <a:xfrm>
            <a:off x="6172200" y="3284141"/>
            <a:ext cx="26031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routes d'API, chaque réponse parsée contre son schéma</a:t>
            </a:r>
            <a:endParaRPr lang="en-US" sz="1200" dirty="0"/>
          </a:p>
        </p:txBody>
      </p:sp>
      <p:sp>
        <p:nvSpPr>
          <p:cNvPr id="13" name="Shape 11"/>
          <p:cNvSpPr/>
          <p:nvPr/>
        </p:nvSpPr>
        <p:spPr>
          <a:xfrm>
            <a:off x="8851900" y="2026841"/>
            <a:ext cx="2527300" cy="0"/>
          </a:xfrm>
          <a:prstGeom prst="line">
            <a:avLst/>
          </a:prstGeom>
          <a:noFill/>
          <a:ln w="25400">
            <a:solidFill>
              <a:srgbClr val="FF6A00"/>
            </a:solidFill>
            <a:prstDash val="solid"/>
          </a:ln>
        </p:spPr>
      </p:sp>
      <p:sp>
        <p:nvSpPr>
          <p:cNvPr id="14" name="Text 12"/>
          <p:cNvSpPr/>
          <p:nvPr/>
        </p:nvSpPr>
        <p:spPr>
          <a:xfrm>
            <a:off x="8851900" y="2191941"/>
            <a:ext cx="2603119"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F6A00"/>
                </a:solidFill>
                <a:latin typeface="Barlow Condensed" pitchFamily="34" charset="0"/>
                <a:ea typeface="Barlow Condensed" pitchFamily="34" charset="-122"/>
                <a:cs typeface="Barlow Condensed" pitchFamily="34" charset="-120"/>
              </a:rPr>
              <a:t>0</a:t>
            </a:r>
            <a:endParaRPr lang="en-US" sz="8000" dirty="0"/>
          </a:p>
        </p:txBody>
      </p:sp>
      <p:sp>
        <p:nvSpPr>
          <p:cNvPr id="15" name="Text 13"/>
          <p:cNvSpPr/>
          <p:nvPr/>
        </p:nvSpPr>
        <p:spPr>
          <a:xfrm>
            <a:off x="8851900" y="3284141"/>
            <a:ext cx="26031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B"/>
                </a:solidFill>
                <a:latin typeface="Inter" pitchFamily="34" charset="0"/>
                <a:ea typeface="Inter" pitchFamily="34" charset="-122"/>
                <a:cs typeface="Inter" pitchFamily="34" charset="-120"/>
              </a:rPr>
              <a:t>CVE sur les deux images après rescan Docker Scout</a:t>
            </a:r>
            <a:endParaRPr lang="en-US" sz="1200" dirty="0"/>
          </a:p>
        </p:txBody>
      </p:sp>
      <p:sp>
        <p:nvSpPr>
          <p:cNvPr id="16" name="Text 14"/>
          <p:cNvSpPr/>
          <p:nvPr/>
        </p:nvSpPr>
        <p:spPr>
          <a:xfrm>
            <a:off x="812800" y="6238280"/>
            <a:ext cx="404997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COMMUN AUX TROIS NOTES</a:t>
            </a:r>
            <a:endParaRPr lang="en-US" sz="1200" dirty="0"/>
          </a:p>
        </p:txBody>
      </p:sp>
      <p:sp>
        <p:nvSpPr>
          <p:cNvPr id="17" name="Text 15"/>
          <p:cNvSpPr/>
          <p:nvPr/>
        </p:nvSpPr>
        <p:spPr>
          <a:xfrm>
            <a:off x="11140926" y="6238280"/>
            <a:ext cx="23827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0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07 · LIVE CODING — SANS AGENT IA</a:t>
            </a:r>
            <a:endParaRPr lang="en-US" sz="1200" dirty="0"/>
          </a:p>
        </p:txBody>
      </p:sp>
      <p:sp>
        <p:nvSpPr>
          <p:cNvPr id="3" name="Text 1"/>
          <p:cNvSpPr/>
          <p:nvPr>
            <p:ph type="title"/>
          </p:nvPr>
        </p:nvSpPr>
        <p:spPr>
          <a:xfrm>
            <a:off x="812800" y="11277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4F6F8"/>
                </a:solidFill>
                <a:latin typeface="Barlow Condensed" pitchFamily="34" charset="0"/>
                <a:ea typeface="Barlow Condensed" pitchFamily="34" charset="-122"/>
                <a:cs typeface="Barlow Condensed" pitchFamily="34" charset="-120"/>
              </a:rPr>
              <a:t>OÙ INTERVENIR DANS LE REPO</a:t>
            </a:r>
            <a:endParaRPr lang="en-US" sz="3600" dirty="0"/>
          </a:p>
        </p:txBody>
      </p:sp>
      <p:sp>
        <p:nvSpPr>
          <p:cNvPr id="4" name="Text 2"/>
          <p:cNvSpPr/>
          <p:nvPr/>
        </p:nvSpPr>
        <p:spPr>
          <a:xfrm>
            <a:off x="812800" y="1912541"/>
            <a:ext cx="528472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6A00"/>
                </a:solidFill>
                <a:latin typeface="Inter" pitchFamily="34" charset="0"/>
                <a:ea typeface="Inter" pitchFamily="34" charset="-122"/>
                <a:cs typeface="Inter" pitchFamily="34" charset="-120"/>
              </a:rPr>
              <a:t>NEXT.JS · APPS/WEB/SRC</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214761"/>
          <a:ext cx="5118100" cy="2648942"/>
        </p:xfrm>
        <a:graphic>
          <a:graphicData uri="http://schemas.openxmlformats.org/drawingml/2006/table">
            <a:tbl>
              <a:tblPr/>
              <a:tblGrid>
                <a:gridCol w="2251964"/>
                <a:gridCol w="2866136"/>
              </a:tblGrid>
              <a:tr h="378420">
                <a:tc>
                  <a:txBody>
                    <a:bodyPr/>
                    <a:lstStyle/>
                    <a:p>
                      <a:pPr indent="0" marL="0">
                        <a:lnSpc>
                          <a:spcPts val="1680"/>
                        </a:lnSpc>
                        <a:buNone/>
                      </a:pPr>
                      <a:r>
                        <a:rPr lang="en-US" sz="1200" b="1" dirty="0">
                          <a:solidFill>
                            <a:srgbClr val="F4F6F8"/>
                          </a:solidFill>
                          <a:latin typeface="Inter" pitchFamily="34" charset="0"/>
                          <a:ea typeface="Inter" pitchFamily="34" charset="-122"/>
                          <a:cs typeface="Inter" pitchFamily="34" charset="-120"/>
                        </a:rPr>
                        <a:t>Demande</a:t>
                      </a:r>
                      <a:endParaRPr lang="en-US" sz="1200" dirty="0">
                        <a:latin typeface="Inter" charset="0"/>
                        <a:ea typeface="Inter" charset="0"/>
                        <a:cs typeface="Inter" charset="0"/>
                      </a:endParaRPr>
                    </a:p>
                  </a:txBody>
                  <a:tcPr marL="127000" marR="127000" marT="76200" marB="76200" anchor="t">
                    <a:lnL w="12700" cap="flat" cmpd="sng" algn="ctr">
                      <a:solidFill>
                        <a:srgbClr val="404041"/>
                      </a:solidFill>
                      <a:prstDash val="solid"/>
                      <a:round/>
                      <a:headEnd type="none" w="med" len="med"/>
                      <a:tailEnd type="none" w="med" len="med"/>
                    </a:lnL>
                    <a:lnR w="12700" cap="flat" cmpd="sng" algn="ctr">
                      <a:solidFill>
                        <a:srgbClr val="4D4F52"/>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D4F52"/>
                      </a:solidFill>
                      <a:prstDash val="solid"/>
                      <a:round/>
                      <a:headEnd type="none" w="med" len="med"/>
                      <a:tailEnd type="none" w="med" len="med"/>
                    </a:lnB>
                    <a:solidFill>
                      <a:srgbClr val="1C1F24"/>
                    </a:solidFill>
                  </a:tcPr>
                </a:tc>
                <a:tc>
                  <a:txBody>
                    <a:bodyPr/>
                    <a:lstStyle/>
                    <a:p>
                      <a:pPr indent="0" marL="0">
                        <a:lnSpc>
                          <a:spcPts val="1680"/>
                        </a:lnSpc>
                        <a:buNone/>
                      </a:pPr>
                      <a:r>
                        <a:rPr lang="en-US" sz="1200" b="1" dirty="0">
                          <a:solidFill>
                            <a:srgbClr val="F4F6F8"/>
                          </a:solidFill>
                          <a:latin typeface="Inter" pitchFamily="34" charset="0"/>
                          <a:ea typeface="Inter" pitchFamily="34" charset="-122"/>
                          <a:cs typeface="Inter" pitchFamily="34" charset="-120"/>
                        </a:rPr>
                        <a:t>Zone</a:t>
                      </a:r>
                      <a:endParaRPr lang="en-US" sz="1200" dirty="0">
                        <a:latin typeface="Inter" charset="0"/>
                        <a:ea typeface="Inter" charset="0"/>
                        <a:cs typeface="Inter" charset="0"/>
                      </a:endParaRPr>
                    </a:p>
                  </a:txBody>
                  <a:tcPr marL="127000" marR="127000" marT="76200" marB="76200" anchor="t">
                    <a:lnL w="12700" cap="flat" cmpd="sng" algn="ctr">
                      <a:solidFill>
                        <a:srgbClr val="4D4F52"/>
                      </a:solidFill>
                      <a:prstDash val="solid"/>
                      <a:round/>
                      <a:headEnd type="none" w="med" len="med"/>
                      <a:tailEnd type="none" w="med" len="med"/>
                    </a:lnL>
                    <a:lnR w="12700" cap="flat" cmpd="sng" algn="ctr">
                      <a:solidFill>
                        <a:srgbClr val="4D4F52"/>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D4F52"/>
                      </a:solidFill>
                      <a:prstDash val="solid"/>
                      <a:round/>
                      <a:headEnd type="none" w="med" len="med"/>
                      <a:tailEnd type="none" w="med" len="med"/>
                    </a:lnB>
                    <a:solidFill>
                      <a:srgbClr val="1C1F24"/>
                    </a:solidFill>
                  </a:tcPr>
                </a:tc>
              </a:tr>
              <a:tr h="3784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Protéger une route</a:t>
                      </a:r>
                      <a:endParaRPr lang="en-US" sz="1200" dirty="0">
                        <a:latin typeface="Inter" charset="0"/>
                        <a:ea typeface="Inter" charset="0"/>
                        <a:cs typeface="Inter" charset="0"/>
                      </a:endParaRPr>
                    </a:p>
                  </a:txBody>
                  <a:tcPr marL="127000" marR="127000" marT="76200" marB="762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D4F52"/>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proxy.ts, requireSession</a:t>
                      </a:r>
                      <a:endParaRPr lang="en-US" sz="1200" dirty="0">
                        <a:latin typeface="Inter" charset="0"/>
                        <a:ea typeface="Inter" charset="0"/>
                        <a:cs typeface="Inter" charset="0"/>
                      </a:endParaRPr>
                    </a:p>
                  </a:txBody>
                  <a:tcPr marL="127000" marR="127000" marT="76200" marB="762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D4F52"/>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r h="3784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Server Action</a:t>
                      </a:r>
                      <a:endParaRPr lang="en-US" sz="1200" dirty="0">
                        <a:latin typeface="Inter" charset="0"/>
                        <a:ea typeface="Inter" charset="0"/>
                        <a:cs typeface="Inter" charset="0"/>
                      </a:endParaRPr>
                    </a:p>
                  </a:txBody>
                  <a:tcPr marL="127000" marR="127000" marT="76200" marB="762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server/*.actions.ts</a:t>
                      </a:r>
                      <a:endParaRPr lang="en-US" sz="1200" dirty="0">
                        <a:latin typeface="Inter" charset="0"/>
                        <a:ea typeface="Inter" charset="0"/>
                        <a:cs typeface="Inter" charset="0"/>
                      </a:endParaRPr>
                    </a:p>
                  </a:txBody>
                  <a:tcPr marL="127000" marR="127000" marT="76200" marB="762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r>
              <a:tr h="3784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Validation</a:t>
                      </a:r>
                      <a:endParaRPr lang="en-US" sz="1200" dirty="0">
                        <a:latin typeface="Inter" charset="0"/>
                        <a:ea typeface="Inter" charset="0"/>
                        <a:cs typeface="Inter" charset="0"/>
                      </a:endParaRPr>
                    </a:p>
                  </a:txBody>
                  <a:tcPr marL="127000" marR="127000" marT="76200" marB="762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Schéma Zod de l'API + action</a:t>
                      </a:r>
                      <a:endParaRPr lang="en-US" sz="1200" dirty="0">
                        <a:latin typeface="Inter" charset="0"/>
                        <a:ea typeface="Inter" charset="0"/>
                        <a:cs typeface="Inter" charset="0"/>
                      </a:endParaRPr>
                    </a:p>
                  </a:txBody>
                  <a:tcPr marL="127000" marR="127000" marT="76200" marB="762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r h="3784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Loading, error</a:t>
                      </a:r>
                      <a:endParaRPr lang="en-US" sz="1200" dirty="0">
                        <a:latin typeface="Inter" charset="0"/>
                        <a:ea typeface="Inter" charset="0"/>
                        <a:cs typeface="Inter" charset="0"/>
                      </a:endParaRPr>
                    </a:p>
                  </a:txBody>
                  <a:tcPr marL="127000" marR="127000" marT="76200" marB="762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Suspense, error.tsx du groupe</a:t>
                      </a:r>
                      <a:endParaRPr lang="en-US" sz="1200" dirty="0">
                        <a:latin typeface="Inter" charset="0"/>
                        <a:ea typeface="Inter" charset="0"/>
                        <a:cs typeface="Inter" charset="0"/>
                      </a:endParaRPr>
                    </a:p>
                  </a:txBody>
                  <a:tcPr marL="127000" marR="127000" marT="76200" marB="762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r>
              <a:tr h="3784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Filtre searchParams</a:t>
                      </a:r>
                      <a:endParaRPr lang="en-US" sz="1200" dirty="0">
                        <a:latin typeface="Inter" charset="0"/>
                        <a:ea typeface="Inter" charset="0"/>
                        <a:cs typeface="Inter" charset="0"/>
                      </a:endParaRPr>
                    </a:p>
                  </a:txBody>
                  <a:tcPr marL="127000" marR="127000" marT="76200" marB="762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/manage/bookings, jour et état</a:t>
                      </a:r>
                      <a:endParaRPr lang="en-US" sz="1200" dirty="0">
                        <a:latin typeface="Inter" charset="0"/>
                        <a:ea typeface="Inter" charset="0"/>
                        <a:cs typeface="Inter" charset="0"/>
                      </a:endParaRPr>
                    </a:p>
                  </a:txBody>
                  <a:tcPr marL="127000" marR="127000" marT="76200" marB="762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r h="3784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Invalidation</a:t>
                      </a:r>
                      <a:endParaRPr lang="en-US" sz="1200" dirty="0">
                        <a:latin typeface="Inter" charset="0"/>
                        <a:ea typeface="Inter" charset="0"/>
                        <a:cs typeface="Inter" charset="0"/>
                      </a:endParaRPr>
                    </a:p>
                  </a:txBody>
                  <a:tcPr marL="127000" marR="127000" marT="76200" marB="762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cacheTag, updateTag</a:t>
                      </a:r>
                      <a:endParaRPr lang="en-US" sz="1200" dirty="0">
                        <a:latin typeface="Inter" charset="0"/>
                        <a:ea typeface="Inter" charset="0"/>
                        <a:cs typeface="Inter" charset="0"/>
                      </a:endParaRPr>
                    </a:p>
                  </a:txBody>
                  <a:tcPr marL="127000" marR="127000" marT="76200" marB="762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r>
            </a:tbl>
          </a:graphicData>
        </a:graphic>
      </p:graphicFrame>
      <p:sp>
        <p:nvSpPr>
          <p:cNvPr id="6" name="Text 3"/>
          <p:cNvSpPr/>
          <p:nvPr/>
        </p:nvSpPr>
        <p:spPr>
          <a:xfrm>
            <a:off x="6248400" y="1912541"/>
            <a:ext cx="528472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6A00"/>
                </a:solidFill>
                <a:latin typeface="Inter" pitchFamily="34" charset="0"/>
                <a:ea typeface="Inter" pitchFamily="34" charset="-122"/>
                <a:cs typeface="Inter" pitchFamily="34" charset="-120"/>
              </a:rPr>
              <a:t>REACT NATIVE · APPS/MOBILE/SRC</a:t>
            </a:r>
            <a:endParaRPr lang="en-US" sz="12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261100" y="2214761"/>
          <a:ext cx="5118100" cy="2648942"/>
        </p:xfrm>
        <a:graphic>
          <a:graphicData uri="http://schemas.openxmlformats.org/drawingml/2006/table">
            <a:tbl>
              <a:tblPr/>
              <a:tblGrid>
                <a:gridCol w="2251964"/>
                <a:gridCol w="2866136"/>
              </a:tblGrid>
              <a:tr h="378420">
                <a:tc>
                  <a:txBody>
                    <a:bodyPr/>
                    <a:lstStyle/>
                    <a:p>
                      <a:pPr indent="0" marL="0">
                        <a:lnSpc>
                          <a:spcPts val="1680"/>
                        </a:lnSpc>
                        <a:buNone/>
                      </a:pPr>
                      <a:r>
                        <a:rPr lang="en-US" sz="1200" b="1" dirty="0">
                          <a:solidFill>
                            <a:srgbClr val="F4F6F8"/>
                          </a:solidFill>
                          <a:latin typeface="Inter" pitchFamily="34" charset="0"/>
                          <a:ea typeface="Inter" pitchFamily="34" charset="-122"/>
                          <a:cs typeface="Inter" pitchFamily="34" charset="-120"/>
                        </a:rPr>
                        <a:t>Demande</a:t>
                      </a:r>
                      <a:endParaRPr lang="en-US" sz="1200" dirty="0">
                        <a:latin typeface="Inter" charset="0"/>
                        <a:ea typeface="Inter" charset="0"/>
                        <a:cs typeface="Inter" charset="0"/>
                      </a:endParaRPr>
                    </a:p>
                  </a:txBody>
                  <a:tcPr marL="127000" marR="127000" marT="76200" marB="76200" anchor="t">
                    <a:lnL w="12700" cap="flat" cmpd="sng" algn="ctr">
                      <a:solidFill>
                        <a:srgbClr val="404041"/>
                      </a:solidFill>
                      <a:prstDash val="solid"/>
                      <a:round/>
                      <a:headEnd type="none" w="med" len="med"/>
                      <a:tailEnd type="none" w="med" len="med"/>
                    </a:lnL>
                    <a:lnR w="12700" cap="flat" cmpd="sng" algn="ctr">
                      <a:solidFill>
                        <a:srgbClr val="4D4F52"/>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D4F52"/>
                      </a:solidFill>
                      <a:prstDash val="solid"/>
                      <a:round/>
                      <a:headEnd type="none" w="med" len="med"/>
                      <a:tailEnd type="none" w="med" len="med"/>
                    </a:lnB>
                    <a:solidFill>
                      <a:srgbClr val="1C1F24"/>
                    </a:solidFill>
                  </a:tcPr>
                </a:tc>
                <a:tc>
                  <a:txBody>
                    <a:bodyPr/>
                    <a:lstStyle/>
                    <a:p>
                      <a:pPr indent="0" marL="0">
                        <a:lnSpc>
                          <a:spcPts val="1680"/>
                        </a:lnSpc>
                        <a:buNone/>
                      </a:pPr>
                      <a:r>
                        <a:rPr lang="en-US" sz="1200" b="1" dirty="0">
                          <a:solidFill>
                            <a:srgbClr val="F4F6F8"/>
                          </a:solidFill>
                          <a:latin typeface="Inter" pitchFamily="34" charset="0"/>
                          <a:ea typeface="Inter" pitchFamily="34" charset="-122"/>
                          <a:cs typeface="Inter" pitchFamily="34" charset="-120"/>
                        </a:rPr>
                        <a:t>Zone</a:t>
                      </a:r>
                      <a:endParaRPr lang="en-US" sz="1200" dirty="0">
                        <a:latin typeface="Inter" charset="0"/>
                        <a:ea typeface="Inter" charset="0"/>
                        <a:cs typeface="Inter" charset="0"/>
                      </a:endParaRPr>
                    </a:p>
                  </a:txBody>
                  <a:tcPr marL="127000" marR="127000" marT="76200" marB="76200" anchor="t">
                    <a:lnL w="12700" cap="flat" cmpd="sng" algn="ctr">
                      <a:solidFill>
                        <a:srgbClr val="4D4F52"/>
                      </a:solidFill>
                      <a:prstDash val="solid"/>
                      <a:round/>
                      <a:headEnd type="none" w="med" len="med"/>
                      <a:tailEnd type="none" w="med" len="med"/>
                    </a:lnL>
                    <a:lnR w="12700" cap="flat" cmpd="sng" algn="ctr">
                      <a:solidFill>
                        <a:srgbClr val="4D4F52"/>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D4F52"/>
                      </a:solidFill>
                      <a:prstDash val="solid"/>
                      <a:round/>
                      <a:headEnd type="none" w="med" len="med"/>
                      <a:tailEnd type="none" w="med" len="med"/>
                    </a:lnB>
                    <a:solidFill>
                      <a:srgbClr val="1C1F24"/>
                    </a:solidFill>
                  </a:tcPr>
                </a:tc>
              </a:tr>
              <a:tr h="3784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Permission caméra</a:t>
                      </a:r>
                      <a:endParaRPr lang="en-US" sz="1200" dirty="0">
                        <a:latin typeface="Inter" charset="0"/>
                        <a:ea typeface="Inter" charset="0"/>
                        <a:cs typeface="Inter" charset="0"/>
                      </a:endParaRPr>
                    </a:p>
                  </a:txBody>
                  <a:tcPr marL="127000" marR="127000" marT="76200" marB="762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D4F52"/>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modules/check-in, adapters</a:t>
                      </a:r>
                      <a:endParaRPr lang="en-US" sz="1200" dirty="0">
                        <a:latin typeface="Inter" charset="0"/>
                        <a:ea typeface="Inter" charset="0"/>
                        <a:cs typeface="Inter" charset="0"/>
                      </a:endParaRPr>
                    </a:p>
                  </a:txBody>
                  <a:tcPr marL="127000" marR="127000" marT="76200" marB="762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D4F52"/>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r h="3784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QR inconnu</a:t>
                      </a:r>
                      <a:endParaRPr lang="en-US" sz="1200" dirty="0">
                        <a:latin typeface="Inter" charset="0"/>
                        <a:ea typeface="Inter" charset="0"/>
                        <a:cs typeface="Inter" charset="0"/>
                      </a:endParaRPr>
                    </a:p>
                  </a:txBody>
                  <a:tcPr marL="127000" marR="127000" marT="76200" marB="762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booking-failure.ts, BY_CODE</a:t>
                      </a:r>
                      <a:endParaRPr lang="en-US" sz="1200" dirty="0">
                        <a:latin typeface="Inter" charset="0"/>
                        <a:ea typeface="Inter" charset="0"/>
                        <a:cs typeface="Inter" charset="0"/>
                      </a:endParaRPr>
                    </a:p>
                  </a:txBody>
                  <a:tcPr marL="127000" marR="127000" marT="76200" marB="762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r>
              <a:tr h="3784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Feedback après scan</a:t>
                      </a:r>
                      <a:endParaRPr lang="en-US" sz="1200" dirty="0">
                        <a:latin typeface="Inter" charset="0"/>
                        <a:ea typeface="Inter" charset="0"/>
                        <a:cs typeface="Inter" charset="0"/>
                      </a:endParaRPr>
                    </a:p>
                  </a:txBody>
                  <a:tcPr marL="127000" marR="127000" marT="76200" marB="762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QrScannerSheet.tsx</a:t>
                      </a:r>
                      <a:endParaRPr lang="en-US" sz="1200" dirty="0">
                        <a:latin typeface="Inter" charset="0"/>
                        <a:ea typeface="Inter" charset="0"/>
                        <a:cs typeface="Inter" charset="0"/>
                      </a:endParaRPr>
                    </a:p>
                  </a:txBody>
                  <a:tcPr marL="127000" marR="127000" marT="76200" marB="762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r h="3784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Distance</a:t>
                      </a:r>
                      <a:endParaRPr lang="en-US" sz="1200" dirty="0">
                        <a:latin typeface="Inter" charset="0"/>
                        <a:ea typeface="Inter" charset="0"/>
                        <a:cs typeface="Inter" charset="0"/>
                      </a:endParaRPr>
                    </a:p>
                  </a:txBody>
                  <a:tcPr marL="127000" marR="127000" marT="76200" marB="762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atelier/core/lib/distance.ts</a:t>
                      </a:r>
                      <a:endParaRPr lang="en-US" sz="1200" dirty="0">
                        <a:latin typeface="Inter" charset="0"/>
                        <a:ea typeface="Inter" charset="0"/>
                        <a:cs typeface="Inter" charset="0"/>
                      </a:endParaRPr>
                    </a:p>
                  </a:txBody>
                  <a:tcPr marL="127000" marR="127000" marT="76200" marB="762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r>
              <a:tr h="3784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Refus GPS</a:t>
                      </a:r>
                      <a:endParaRPr lang="en-US" sz="1200" dirty="0">
                        <a:latin typeface="Inter" charset="0"/>
                        <a:ea typeface="Inter" charset="0"/>
                        <a:cs typeface="Inter" charset="0"/>
                      </a:endParaRPr>
                    </a:p>
                  </a:txBody>
                  <a:tcPr marL="127000" marR="127000" marT="76200" marB="76200" anchor="t">
                    <a:lnL w="12700" cap="flat" cmpd="sng" algn="ctr">
                      <a:solidFill>
                        <a:srgbClr val="404041"/>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modules/geo, directory-query.ts</a:t>
                      </a:r>
                      <a:endParaRPr lang="en-US" sz="1200" dirty="0">
                        <a:latin typeface="Inter" charset="0"/>
                        <a:ea typeface="Inter" charset="0"/>
                        <a:cs typeface="Inter" charset="0"/>
                      </a:endParaRPr>
                    </a:p>
                  </a:txBody>
                  <a:tcPr marL="127000" marR="127000" marT="76200" marB="76200" anchor="t">
                    <a:lnL w="12700" cap="flat" cmpd="sng" algn="ctr">
                      <a:solidFill>
                        <a:srgbClr val="464749"/>
                      </a:solidFill>
                      <a:prstDash val="solid"/>
                      <a:round/>
                      <a:headEnd type="none" w="med" len="med"/>
                      <a:tailEnd type="none" w="med" len="med"/>
                    </a:lnL>
                    <a:lnR w="12700" cap="flat" cmpd="sng" algn="ctr">
                      <a:solidFill>
                        <a:srgbClr val="464749"/>
                      </a:solidFill>
                      <a:prstDash val="solid"/>
                      <a:round/>
                      <a:headEnd type="none" w="med" len="med"/>
                      <a:tailEnd type="none" w="med" len="med"/>
                    </a:lnR>
                    <a:lnT w="12700" cap="flat" cmpd="sng" algn="ctr">
                      <a:solidFill>
                        <a:srgbClr val="404041"/>
                      </a:solidFill>
                      <a:prstDash val="solid"/>
                      <a:round/>
                      <a:headEnd type="none" w="med" len="med"/>
                      <a:tailEnd type="none" w="med" len="med"/>
                    </a:lnT>
                    <a:lnB w="12700" cap="flat" cmpd="sng" algn="ctr">
                      <a:solidFill>
                        <a:srgbClr val="464749"/>
                      </a:solidFill>
                      <a:prstDash val="solid"/>
                      <a:round/>
                      <a:headEnd type="none" w="med" len="med"/>
                      <a:tailEnd type="none" w="med" len="med"/>
                    </a:lnB>
                    <a:solidFill>
                      <a:srgbClr val="131518"/>
                    </a:solidFill>
                  </a:tcPr>
                </a:tc>
              </a:tr>
              <a:tr h="3784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Navigation</a:t>
                      </a:r>
                      <a:endParaRPr lang="en-US" sz="1200" dirty="0">
                        <a:latin typeface="Inter" charset="0"/>
                        <a:ea typeface="Inter" charset="0"/>
                        <a:cs typeface="Inter" charset="0"/>
                      </a:endParaRPr>
                    </a:p>
                  </a:txBody>
                  <a:tcPr marL="127000" marR="127000" marT="76200" marB="762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app/, Stack.Protected</a:t>
                      </a:r>
                      <a:endParaRPr lang="en-US" sz="1200" dirty="0">
                        <a:latin typeface="Inter" charset="0"/>
                        <a:ea typeface="Inter" charset="0"/>
                        <a:cs typeface="Inter" charset="0"/>
                      </a:endParaRPr>
                    </a:p>
                  </a:txBody>
                  <a:tcPr marL="127000" marR="127000" marT="76200" marB="76200" anchor="t">
                    <a:lnL w="12700" cap="flat" cmpd="sng" algn="ctr">
                      <a:solidFill>
                        <a:srgbClr val="404041"/>
                      </a:solidFill>
                      <a:prstDash val="solid"/>
                      <a:round/>
                      <a:headEnd type="none" w="med" len="med"/>
                      <a:tailEnd type="none" w="med" len="med"/>
                    </a:lnL>
                    <a:lnR w="12700" cap="flat" cmpd="sng" algn="ctr">
                      <a:solidFill>
                        <a:srgbClr val="404041"/>
                      </a:solidFill>
                      <a:prstDash val="solid"/>
                      <a:round/>
                      <a:headEnd type="none" w="med" len="med"/>
                      <a:tailEnd type="none" w="med" len="med"/>
                    </a:lnR>
                    <a:lnT w="12700" cap="flat" cmpd="sng" algn="ctr">
                      <a:solidFill>
                        <a:srgbClr val="464749"/>
                      </a:solidFill>
                      <a:prstDash val="solid"/>
                      <a:round/>
                      <a:headEnd type="none" w="med" len="med"/>
                      <a:tailEnd type="none" w="med" len="med"/>
                    </a:lnT>
                    <a:lnB w="12700" cap="flat" cmpd="sng" algn="ctr">
                      <a:solidFill>
                        <a:srgbClr val="404041"/>
                      </a:solidFill>
                      <a:prstDash val="solid"/>
                      <a:round/>
                      <a:headEnd type="none" w="med" len="med"/>
                      <a:tailEnd type="none" w="med" len="med"/>
                    </a:lnB>
                    <a:solidFill>
                      <a:srgbClr val="0B0C0E"/>
                    </a:solidFill>
                  </a:tcPr>
                </a:tc>
              </a:tr>
            </a:tbl>
          </a:graphicData>
        </a:graphic>
      </p:graphicFrame>
      <p:sp>
        <p:nvSpPr>
          <p:cNvPr id="8" name="Text 4"/>
          <p:cNvSpPr/>
          <p:nvPr/>
        </p:nvSpPr>
        <p:spPr>
          <a:xfrm>
            <a:off x="812800" y="6238280"/>
            <a:ext cx="468862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ÉTABLI · NOTES NEXT.JS ET REACT NATIVE</a:t>
            </a:r>
            <a:endParaRPr lang="en-US" sz="1200" dirty="0"/>
          </a:p>
        </p:txBody>
      </p:sp>
      <p:sp>
        <p:nvSpPr>
          <p:cNvPr id="9" name="Text 5"/>
          <p:cNvSpPr/>
          <p:nvPr/>
        </p:nvSpPr>
        <p:spPr>
          <a:xfrm>
            <a:off x="11149211" y="6238280"/>
            <a:ext cx="22998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B828D"/>
                </a:solidFill>
                <a:latin typeface="Inter" pitchFamily="34" charset="0"/>
                <a:ea typeface="Inter" pitchFamily="34" charset="-122"/>
                <a:cs typeface="Inter"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0C0E"/>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F6A00"/>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6A00"/>
                </a:solidFill>
                <a:latin typeface="Inter" pitchFamily="34" charset="0"/>
                <a:ea typeface="Inter" pitchFamily="34" charset="-122"/>
                <a:cs typeface="Inter" pitchFamily="34" charset="-120"/>
              </a:rPr>
              <a:t>SI VOUS CLONEZ LE REPO</a:t>
            </a:r>
            <a:endParaRPr lang="en-US" sz="1200" dirty="0"/>
          </a:p>
        </p:txBody>
      </p:sp>
      <p:sp>
        <p:nvSpPr>
          <p:cNvPr id="4" name="Text 2"/>
          <p:cNvSpPr/>
          <p:nvPr>
            <p:ph type="title"/>
          </p:nvPr>
        </p:nvSpPr>
        <p:spPr>
          <a:xfrm>
            <a:off x="812800" y="1891655"/>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4F6F8"/>
                </a:solidFill>
                <a:latin typeface="Barlow Condensed" pitchFamily="34" charset="0"/>
                <a:ea typeface="Barlow Condensed" pitchFamily="34" charset="-122"/>
                <a:cs typeface="Barlow Condensed" pitchFamily="34" charset="-120"/>
              </a:rPr>
              <a:t>COMPRENDRE, LANCER, TESTER</a:t>
            </a:r>
            <a:endParaRPr lang="en-US" sz="6000" dirty="0"/>
          </a:p>
        </p:txBody>
      </p:sp>
      <p:sp>
        <p:nvSpPr>
          <p:cNvPr id="5" name="Shape 3"/>
          <p:cNvSpPr/>
          <p:nvPr/>
        </p:nvSpPr>
        <p:spPr>
          <a:xfrm>
            <a:off x="812800" y="2958455"/>
            <a:ext cx="7620000" cy="1371600"/>
          </a:xfrm>
          <a:prstGeom prst="rect">
            <a:avLst/>
          </a:prstGeom>
          <a:solidFill>
            <a:srgbClr val="131518"/>
          </a:solidFill>
          <a:ln/>
        </p:spPr>
      </p:sp>
      <p:sp>
        <p:nvSpPr>
          <p:cNvPr id="6" name="Shape 4"/>
          <p:cNvSpPr/>
          <p:nvPr/>
        </p:nvSpPr>
        <p:spPr>
          <a:xfrm>
            <a:off x="825500" y="2958455"/>
            <a:ext cx="0" cy="1371600"/>
          </a:xfrm>
          <a:prstGeom prst="line">
            <a:avLst/>
          </a:prstGeom>
          <a:noFill/>
          <a:ln w="25400">
            <a:solidFill>
              <a:srgbClr val="FF6A00"/>
            </a:solidFill>
            <a:prstDash val="solid"/>
          </a:ln>
        </p:spPr>
      </p:sp>
      <p:sp>
        <p:nvSpPr>
          <p:cNvPr id="7" name="Text 5"/>
          <p:cNvSpPr/>
          <p:nvPr/>
        </p:nvSpPr>
        <p:spPr>
          <a:xfrm>
            <a:off x="1092200" y="3136255"/>
            <a:ext cx="7299198"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4F6F8"/>
                </a:solidFill>
                <a:latin typeface="JetBrains Mono" pitchFamily="49" charset="0"/>
                <a:ea typeface="JetBrains Mono" pitchFamily="49" charset="-122"/>
                <a:cs typeface="JetBrains Mono" pitchFamily="49" charset="-120"/>
              </a:rPr>
              <a:t>git clone github.com/grintzdel/etabli</a:t>
            </a:r>
            <a:endParaRPr lang="en-US" sz="1600" dirty="0"/>
          </a:p>
        </p:txBody>
      </p:sp>
      <p:sp>
        <p:nvSpPr>
          <p:cNvPr id="8" name="Text 6"/>
          <p:cNvSpPr/>
          <p:nvPr/>
        </p:nvSpPr>
        <p:spPr>
          <a:xfrm>
            <a:off x="1092200" y="3491855"/>
            <a:ext cx="7299198"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4F6F8"/>
                </a:solidFill>
                <a:latin typeface="JetBrains Mono" pitchFamily="49" charset="0"/>
                <a:ea typeface="JetBrains Mono" pitchFamily="49" charset="-122"/>
                <a:cs typeface="JetBrains Mono" pitchFamily="49" charset="-120"/>
              </a:rPr>
              <a:t>docker compose up --build</a:t>
            </a:r>
            <a:endParaRPr lang="en-US" sz="1600" dirty="0"/>
          </a:p>
        </p:txBody>
      </p:sp>
      <p:sp>
        <p:nvSpPr>
          <p:cNvPr id="9" name="Text 7"/>
          <p:cNvSpPr/>
          <p:nvPr/>
        </p:nvSpPr>
        <p:spPr>
          <a:xfrm>
            <a:off x="1092200" y="3847455"/>
            <a:ext cx="7299198"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9AA1AB"/>
                </a:solidFill>
                <a:latin typeface="JetBrains Mono" pitchFamily="49" charset="0"/>
                <a:ea typeface="JetBrains Mono" pitchFamily="49" charset="-122"/>
                <a:cs typeface="JetBrains Mono" pitchFamily="49" charset="-120"/>
              </a:rPr>
              <a:t>localhost:3000 · etabli-2026</a:t>
            </a:r>
            <a:endParaRPr lang="en-US" sz="1600" dirty="0"/>
          </a:p>
        </p:txBody>
      </p:sp>
      <p:sp>
        <p:nvSpPr>
          <p:cNvPr id="10" name="Shape 8"/>
          <p:cNvSpPr/>
          <p:nvPr/>
        </p:nvSpPr>
        <p:spPr>
          <a:xfrm>
            <a:off x="812800" y="5198765"/>
            <a:ext cx="10566400" cy="0"/>
          </a:xfrm>
          <a:prstGeom prst="line">
            <a:avLst/>
          </a:prstGeom>
          <a:noFill/>
          <a:ln w="6350">
            <a:solidFill>
              <a:srgbClr val="2A2E35"/>
            </a:solidFill>
            <a:prstDash val="solid"/>
          </a:ln>
        </p:spPr>
      </p:sp>
      <p:sp>
        <p:nvSpPr>
          <p:cNvPr id="11" name="Text 9"/>
          <p:cNvSpPr/>
          <p:nvPr/>
        </p:nvSpPr>
        <p:spPr>
          <a:xfrm>
            <a:off x="812800" y="5405140"/>
            <a:ext cx="3922812"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F6A00"/>
                </a:solidFill>
                <a:latin typeface="Barlow Condensed" pitchFamily="34" charset="0"/>
                <a:ea typeface="Barlow Condensed" pitchFamily="34" charset="-122"/>
                <a:cs typeface="Barlow Condensed" pitchFamily="34" charset="-120"/>
              </a:rPr>
              <a:t>MERCI. QUESTIONS ?</a:t>
            </a:r>
            <a:endParaRPr lang="en-US" sz="3600" dirty="0"/>
          </a:p>
        </p:txBody>
      </p:sp>
      <p:sp>
        <p:nvSpPr>
          <p:cNvPr id="12" name="Text 10"/>
          <p:cNvSpPr/>
          <p:nvPr/>
        </p:nvSpPr>
        <p:spPr>
          <a:xfrm>
            <a:off x="6242665" y="5831880"/>
            <a:ext cx="5136535" cy="238720"/>
          </a:xfrm>
          <a:prstGeom prst="rect">
            <a:avLst/>
          </a:prstGeom>
          <a:noFill/>
          <a:ln/>
        </p:spPr>
        <p:txBody>
          <a:bodyPr wrap="square" lIns="0" tIns="0" rIns="0" bIns="0" rtlCol="0" anchor="t">
            <a:normAutofit/>
          </a:bodyPr>
          <a:lstStyle/>
          <a:p>
            <a:pPr algn="r" indent="0" marL="0">
              <a:lnSpc>
                <a:spcPts val="1680"/>
              </a:lnSpc>
              <a:buNone/>
            </a:pPr>
            <a:r>
              <a:rPr lang="en-US" sz="1200" spc="150" kern="0" dirty="0">
                <a:solidFill>
                  <a:srgbClr val="7B828D"/>
                </a:solidFill>
                <a:latin typeface="Inter" pitchFamily="34" charset="0"/>
                <a:ea typeface="Inter" pitchFamily="34" charset="-122"/>
                <a:cs typeface="Inter" pitchFamily="34" charset="-120"/>
              </a:rPr>
              <a:t>NEXT.JS /20 · REACT NATIVE /20 · DOCKER /20</a:t>
            </a:r>
            <a:endParaRPr lang="en-US" sz="1200" dirty="0"/>
          </a:p>
        </p:txBody>
      </p:sp>
    </p:spTree>
  </p:cSld>
  <p:clrMapOvr>
    <a:masterClrMapping/>
  </p:clrMapOvr>
</p:sld>
</file>

<file path=ppt/theme/theme1.xml><?xml version="1.0" encoding="utf-8"?>
<a:theme xmlns:a="http://schemas.openxmlformats.org/drawingml/2006/main" name="Établi — Soutenance finale">
  <a:themeElements>
    <a:clrScheme name="Établi — Soutenance finale">
      <a:dk1>
        <a:srgbClr val="0B0C0E"/>
      </a:dk1>
      <a:lt1>
        <a:srgbClr val="F4F6F8"/>
      </a:lt1>
      <a:dk2>
        <a:srgbClr val="222325"/>
      </a:dk2>
      <a:lt2>
        <a:srgbClr val="BABCBE"/>
      </a:lt2>
      <a:accent1>
        <a:srgbClr val="FF6A00"/>
      </a:accent1>
      <a:accent2>
        <a:srgbClr val="FF8534"/>
      </a:accent2>
      <a:accent3>
        <a:srgbClr val="C3C8CF"/>
      </a:accent3>
      <a:accent4>
        <a:srgbClr val="7B828D"/>
      </a:accent4>
      <a:accent5>
        <a:srgbClr val="9AA1AB"/>
      </a:accent5>
      <a:accent6>
        <a:srgbClr val="9AA0A6"/>
      </a:accent6>
      <a:hlink>
        <a:srgbClr val="0563C1"/>
      </a:hlink>
      <a:folHlink>
        <a:srgbClr val="954F72"/>
      </a:folHlink>
    </a:clrScheme>
    <a:fontScheme name="Établi — Soutenance finale">
      <a:majorFont>
        <a:latin typeface="Barlow Condense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Établi — Soutenance finale</dc:title>
  <dc:subject/>
  <dc:creator/>
  <cp:lastModifiedBy/>
  <cp:revision>1</cp:revision>
  <dcterms:created xsi:type="dcterms:W3CDTF">2026-10-07T12:01:30Z</dcterms:created>
  <dcterms:modified xsi:type="dcterms:W3CDTF">2026-10-07T12:01:30Z</dcterms:modified>
</cp:coreProperties>
</file>